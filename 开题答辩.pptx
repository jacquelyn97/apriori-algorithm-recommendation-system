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95" r:id="rId6"/>
    <p:sldId id="262" r:id="rId7"/>
    <p:sldId id="296" r:id="rId8"/>
    <p:sldId id="269" r:id="rId9"/>
    <p:sldId id="297" r:id="rId10"/>
    <p:sldId id="263" r:id="rId11"/>
    <p:sldId id="299" r:id="rId12"/>
    <p:sldId id="303" r:id="rId13"/>
    <p:sldId id="304" r:id="rId14"/>
    <p:sldId id="301" r:id="rId15"/>
    <p:sldId id="300" r:id="rId16"/>
    <p:sldId id="275" r:id="rId17"/>
  </p:sldIdLst>
  <p:sldSz cx="9144000" cy="5143500" type="screen16x9"/>
  <p:notesSz cx="6858000" cy="9144000"/>
  <p:embeddedFontLst>
    <p:embeddedFont>
      <p:font typeface="Albert Sans" panose="020B0604020202020204" charset="0"/>
      <p:regular r:id="rId19"/>
      <p:bold r:id="rId20"/>
      <p:italic r:id="rId21"/>
      <p:boldItalic r:id="rId22"/>
    </p:embeddedFont>
    <p:embeddedFont>
      <p:font typeface="Anaheim" panose="020B0604020202020204" charset="0"/>
      <p:regular r:id="rId23"/>
      <p:bold r:id="rId24"/>
    </p:embeddedFont>
    <p:embeddedFont>
      <p:font typeface="Archivo" panose="020B060402020202020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Raleway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4EA"/>
    <a:srgbClr val="F79F87"/>
    <a:srgbClr val="EDEDE9"/>
    <a:srgbClr val="F0EDE6"/>
    <a:srgbClr val="C1E5DA"/>
    <a:srgbClr val="E3F3EE"/>
    <a:srgbClr val="E4E1F4"/>
    <a:srgbClr val="FBCFC4"/>
    <a:srgbClr val="D6C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C43B08-5B26-49A1-A803-68A964EC7EE1}">
  <a:tblStyle styleId="{C4C43B08-5B26-49A1-A803-68A964EC7E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B614EA5-6D69-4981-B8B6-22065E25D7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3F483-DBCF-4C1F-A090-CD005303F86D}" type="doc">
      <dgm:prSet loTypeId="urn:microsoft.com/office/officeart/2011/layout/CircleProcess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ACF3F53B-7973-4CDF-BBAE-197944DA5D85}">
      <dgm:prSet phldrT="[Text]" custT="1"/>
      <dgm:spPr/>
      <dgm:t>
        <a:bodyPr/>
        <a:lstStyle/>
        <a:p>
          <a:r>
            <a:rPr lang="zh-CN" altLang="en-US" sz="2800" dirty="0">
              <a:latin typeface="Archivo" panose="020B0604020202020204" charset="0"/>
              <a:cs typeface="Archivo" panose="020B0604020202020204" charset="0"/>
            </a:rPr>
            <a:t>输入层</a:t>
          </a:r>
          <a:endParaRPr lang="en-US" sz="2800" dirty="0">
            <a:latin typeface="Archivo" panose="020B0604020202020204" charset="0"/>
            <a:cs typeface="Archivo" panose="020B0604020202020204" charset="0"/>
          </a:endParaRPr>
        </a:p>
      </dgm:t>
    </dgm:pt>
    <dgm:pt modelId="{F3C71A07-0B15-428F-8D99-FBD857C7EECF}" type="parTrans" cxnId="{26A1ACEA-A242-40C0-A6A1-D3BE8E8ABBBB}">
      <dgm:prSet/>
      <dgm:spPr/>
      <dgm:t>
        <a:bodyPr/>
        <a:lstStyle/>
        <a:p>
          <a:endParaRPr lang="en-US"/>
        </a:p>
      </dgm:t>
    </dgm:pt>
    <dgm:pt modelId="{2A1F1F71-5CC3-42B1-9E2A-8B14C91AA5F0}" type="sibTrans" cxnId="{26A1ACEA-A242-40C0-A6A1-D3BE8E8ABBBB}">
      <dgm:prSet/>
      <dgm:spPr/>
      <dgm:t>
        <a:bodyPr/>
        <a:lstStyle/>
        <a:p>
          <a:endParaRPr lang="en-US"/>
        </a:p>
      </dgm:t>
    </dgm:pt>
    <dgm:pt modelId="{AF3D556E-19F5-499B-A2D5-FABD26CBB39E}">
      <dgm:prSet phldrT="[Text]" custT="1"/>
      <dgm:spPr/>
      <dgm:t>
        <a:bodyPr/>
        <a:lstStyle/>
        <a:p>
          <a:r>
            <a:rPr lang="zh-CN" altLang="en-US" sz="2800" dirty="0">
              <a:latin typeface="Archivo" panose="020B0604020202020204" charset="0"/>
              <a:cs typeface="Archivo" panose="020B0604020202020204" charset="0"/>
            </a:rPr>
            <a:t>计算层</a:t>
          </a:r>
          <a:endParaRPr lang="en-US" sz="2800" dirty="0">
            <a:latin typeface="Archivo" panose="020B0604020202020204" charset="0"/>
            <a:cs typeface="Archivo" panose="020B0604020202020204" charset="0"/>
          </a:endParaRPr>
        </a:p>
      </dgm:t>
    </dgm:pt>
    <dgm:pt modelId="{681277E8-7857-4C47-81D7-CD4DE326CFBC}" type="parTrans" cxnId="{5103DA88-8B01-436B-9D9B-868D69C71B73}">
      <dgm:prSet/>
      <dgm:spPr/>
      <dgm:t>
        <a:bodyPr/>
        <a:lstStyle/>
        <a:p>
          <a:endParaRPr lang="en-US"/>
        </a:p>
      </dgm:t>
    </dgm:pt>
    <dgm:pt modelId="{9A7EA8B1-47AB-4A79-934F-1E23ED2AD1A9}" type="sibTrans" cxnId="{5103DA88-8B01-436B-9D9B-868D69C71B73}">
      <dgm:prSet/>
      <dgm:spPr/>
      <dgm:t>
        <a:bodyPr/>
        <a:lstStyle/>
        <a:p>
          <a:endParaRPr lang="en-US"/>
        </a:p>
      </dgm:t>
    </dgm:pt>
    <dgm:pt modelId="{6764DA0D-CBFE-46EB-B933-3C8523359E39}">
      <dgm:prSet phldrT="[Text]" custT="1"/>
      <dgm:spPr/>
      <dgm:t>
        <a:bodyPr/>
        <a:lstStyle/>
        <a:p>
          <a:r>
            <a:rPr lang="zh-CN" altLang="en-US" sz="2800" dirty="0">
              <a:latin typeface="Archivo" panose="020B0604020202020204" charset="0"/>
              <a:cs typeface="Archivo" panose="020B0604020202020204" charset="0"/>
            </a:rPr>
            <a:t>输出层</a:t>
          </a:r>
          <a:endParaRPr lang="en-US" sz="2800" dirty="0">
            <a:latin typeface="Archivo" panose="020B0604020202020204" charset="0"/>
            <a:cs typeface="Archivo" panose="020B0604020202020204" charset="0"/>
          </a:endParaRPr>
        </a:p>
      </dgm:t>
    </dgm:pt>
    <dgm:pt modelId="{F1CEC947-57A8-4EEF-9627-78806A2C8B93}" type="parTrans" cxnId="{4A464D58-1C80-4F4B-81A4-46A8462E904F}">
      <dgm:prSet/>
      <dgm:spPr/>
      <dgm:t>
        <a:bodyPr/>
        <a:lstStyle/>
        <a:p>
          <a:endParaRPr lang="en-US"/>
        </a:p>
      </dgm:t>
    </dgm:pt>
    <dgm:pt modelId="{2AD9C8C8-DEB2-4B48-A27A-8DECB2F9FEF8}" type="sibTrans" cxnId="{4A464D58-1C80-4F4B-81A4-46A8462E904F}">
      <dgm:prSet/>
      <dgm:spPr/>
      <dgm:t>
        <a:bodyPr/>
        <a:lstStyle/>
        <a:p>
          <a:endParaRPr lang="en-US"/>
        </a:p>
      </dgm:t>
    </dgm:pt>
    <dgm:pt modelId="{2D779F21-485E-4609-9650-D711A03A2822}" type="pres">
      <dgm:prSet presAssocID="{5373F483-DBCF-4C1F-A090-CD005303F86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1991951-B9AB-4060-AEF6-DFACBD7473B5}" type="pres">
      <dgm:prSet presAssocID="{6764DA0D-CBFE-46EB-B933-3C8523359E39}" presName="Accent3" presStyleCnt="0"/>
      <dgm:spPr/>
    </dgm:pt>
    <dgm:pt modelId="{4BCD1CF3-76D6-476F-BA29-CA9F74B036B4}" type="pres">
      <dgm:prSet presAssocID="{6764DA0D-CBFE-46EB-B933-3C8523359E39}" presName="Accent" presStyleLbl="node1" presStyleIdx="0" presStyleCnt="3"/>
      <dgm:spPr/>
    </dgm:pt>
    <dgm:pt modelId="{16128C66-96B6-4F34-A492-4D3C4732CCA8}" type="pres">
      <dgm:prSet presAssocID="{6764DA0D-CBFE-46EB-B933-3C8523359E39}" presName="ParentBackground3" presStyleCnt="0"/>
      <dgm:spPr/>
    </dgm:pt>
    <dgm:pt modelId="{1AB4CA66-D24A-48DE-9633-7C2623AFAEE5}" type="pres">
      <dgm:prSet presAssocID="{6764DA0D-CBFE-46EB-B933-3C8523359E39}" presName="ParentBackground" presStyleLbl="fgAcc1" presStyleIdx="0" presStyleCnt="3"/>
      <dgm:spPr/>
    </dgm:pt>
    <dgm:pt modelId="{E36CA5C5-A086-4D72-99AA-77600E827D94}" type="pres">
      <dgm:prSet presAssocID="{6764DA0D-CBFE-46EB-B933-3C8523359E3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1B6DF44-31E8-4870-B32E-AF40AC666AFA}" type="pres">
      <dgm:prSet presAssocID="{AF3D556E-19F5-499B-A2D5-FABD26CBB39E}" presName="Accent2" presStyleCnt="0"/>
      <dgm:spPr/>
    </dgm:pt>
    <dgm:pt modelId="{0B184F5B-4393-4DBA-B939-E3410293D87B}" type="pres">
      <dgm:prSet presAssocID="{AF3D556E-19F5-499B-A2D5-FABD26CBB39E}" presName="Accent" presStyleLbl="node1" presStyleIdx="1" presStyleCnt="3"/>
      <dgm:spPr/>
    </dgm:pt>
    <dgm:pt modelId="{7CA7DC0C-5A45-4F62-88D3-232820C20245}" type="pres">
      <dgm:prSet presAssocID="{AF3D556E-19F5-499B-A2D5-FABD26CBB39E}" presName="ParentBackground2" presStyleCnt="0"/>
      <dgm:spPr/>
    </dgm:pt>
    <dgm:pt modelId="{0F63B6E4-A714-43F0-8D11-4D46C16199B2}" type="pres">
      <dgm:prSet presAssocID="{AF3D556E-19F5-499B-A2D5-FABD26CBB39E}" presName="ParentBackground" presStyleLbl="fgAcc1" presStyleIdx="1" presStyleCnt="3"/>
      <dgm:spPr/>
    </dgm:pt>
    <dgm:pt modelId="{A122F3CD-F53B-48A3-A3C6-FEEC7246FB86}" type="pres">
      <dgm:prSet presAssocID="{AF3D556E-19F5-499B-A2D5-FABD26CBB39E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E57680-59BB-4EF3-8B64-7C57613ED16E}" type="pres">
      <dgm:prSet presAssocID="{ACF3F53B-7973-4CDF-BBAE-197944DA5D85}" presName="Accent1" presStyleCnt="0"/>
      <dgm:spPr/>
    </dgm:pt>
    <dgm:pt modelId="{AD73B6F3-001F-41A5-A6C6-3DBF59BB5D42}" type="pres">
      <dgm:prSet presAssocID="{ACF3F53B-7973-4CDF-BBAE-197944DA5D85}" presName="Accent" presStyleLbl="node1" presStyleIdx="2" presStyleCnt="3"/>
      <dgm:spPr/>
    </dgm:pt>
    <dgm:pt modelId="{84EF41D0-EBDA-42C2-833A-18631EA41711}" type="pres">
      <dgm:prSet presAssocID="{ACF3F53B-7973-4CDF-BBAE-197944DA5D85}" presName="ParentBackground1" presStyleCnt="0"/>
      <dgm:spPr/>
    </dgm:pt>
    <dgm:pt modelId="{BB124B9E-69C3-4A24-8060-169D73F9FA71}" type="pres">
      <dgm:prSet presAssocID="{ACF3F53B-7973-4CDF-BBAE-197944DA5D85}" presName="ParentBackground" presStyleLbl="fgAcc1" presStyleIdx="2" presStyleCnt="3"/>
      <dgm:spPr/>
    </dgm:pt>
    <dgm:pt modelId="{4C714E33-0875-4F1B-9921-EB6DF0327FB0}" type="pres">
      <dgm:prSet presAssocID="{ACF3F53B-7973-4CDF-BBAE-197944DA5D8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9789102-4B99-404F-B7FE-22AC7C75BB6D}" type="presOf" srcId="{AF3D556E-19F5-499B-A2D5-FABD26CBB39E}" destId="{A122F3CD-F53B-48A3-A3C6-FEEC7246FB86}" srcOrd="1" destOrd="0" presId="urn:microsoft.com/office/officeart/2011/layout/CircleProcess"/>
    <dgm:cxn modelId="{056CD80D-912D-47CF-A0F7-DABFBC8B5B75}" type="presOf" srcId="{AF3D556E-19F5-499B-A2D5-FABD26CBB39E}" destId="{0F63B6E4-A714-43F0-8D11-4D46C16199B2}" srcOrd="0" destOrd="0" presId="urn:microsoft.com/office/officeart/2011/layout/CircleProcess"/>
    <dgm:cxn modelId="{0822D064-8E12-4F9F-B05A-E7DD4FA7BB92}" type="presOf" srcId="{5373F483-DBCF-4C1F-A090-CD005303F86D}" destId="{2D779F21-485E-4609-9650-D711A03A2822}" srcOrd="0" destOrd="0" presId="urn:microsoft.com/office/officeart/2011/layout/CircleProcess"/>
    <dgm:cxn modelId="{4A464D58-1C80-4F4B-81A4-46A8462E904F}" srcId="{5373F483-DBCF-4C1F-A090-CD005303F86D}" destId="{6764DA0D-CBFE-46EB-B933-3C8523359E39}" srcOrd="2" destOrd="0" parTransId="{F1CEC947-57A8-4EEF-9627-78806A2C8B93}" sibTransId="{2AD9C8C8-DEB2-4B48-A27A-8DECB2F9FEF8}"/>
    <dgm:cxn modelId="{5103DA88-8B01-436B-9D9B-868D69C71B73}" srcId="{5373F483-DBCF-4C1F-A090-CD005303F86D}" destId="{AF3D556E-19F5-499B-A2D5-FABD26CBB39E}" srcOrd="1" destOrd="0" parTransId="{681277E8-7857-4C47-81D7-CD4DE326CFBC}" sibTransId="{9A7EA8B1-47AB-4A79-934F-1E23ED2AD1A9}"/>
    <dgm:cxn modelId="{F606D592-B69A-4351-B7DE-064B6C18CC12}" type="presOf" srcId="{6764DA0D-CBFE-46EB-B933-3C8523359E39}" destId="{E36CA5C5-A086-4D72-99AA-77600E827D94}" srcOrd="1" destOrd="0" presId="urn:microsoft.com/office/officeart/2011/layout/CircleProcess"/>
    <dgm:cxn modelId="{E7AC0EA0-F54E-4C37-98E6-0CDC157660DD}" type="presOf" srcId="{6764DA0D-CBFE-46EB-B933-3C8523359E39}" destId="{1AB4CA66-D24A-48DE-9633-7C2623AFAEE5}" srcOrd="0" destOrd="0" presId="urn:microsoft.com/office/officeart/2011/layout/CircleProcess"/>
    <dgm:cxn modelId="{6CBE11A0-E186-4792-8C4C-F9231C02E4C9}" type="presOf" srcId="{ACF3F53B-7973-4CDF-BBAE-197944DA5D85}" destId="{BB124B9E-69C3-4A24-8060-169D73F9FA71}" srcOrd="0" destOrd="0" presId="urn:microsoft.com/office/officeart/2011/layout/CircleProcess"/>
    <dgm:cxn modelId="{26A1ACEA-A242-40C0-A6A1-D3BE8E8ABBBB}" srcId="{5373F483-DBCF-4C1F-A090-CD005303F86D}" destId="{ACF3F53B-7973-4CDF-BBAE-197944DA5D85}" srcOrd="0" destOrd="0" parTransId="{F3C71A07-0B15-428F-8D99-FBD857C7EECF}" sibTransId="{2A1F1F71-5CC3-42B1-9E2A-8B14C91AA5F0}"/>
    <dgm:cxn modelId="{704EC0FD-DF1F-4EB3-9AD1-EEBFB487C1DD}" type="presOf" srcId="{ACF3F53B-7973-4CDF-BBAE-197944DA5D85}" destId="{4C714E33-0875-4F1B-9921-EB6DF0327FB0}" srcOrd="1" destOrd="0" presId="urn:microsoft.com/office/officeart/2011/layout/CircleProcess"/>
    <dgm:cxn modelId="{090DA52C-B374-4C6B-82B0-72232C57EA02}" type="presParOf" srcId="{2D779F21-485E-4609-9650-D711A03A2822}" destId="{01991951-B9AB-4060-AEF6-DFACBD7473B5}" srcOrd="0" destOrd="0" presId="urn:microsoft.com/office/officeart/2011/layout/CircleProcess"/>
    <dgm:cxn modelId="{EA54FCF8-8960-44AC-A85D-93593952B287}" type="presParOf" srcId="{01991951-B9AB-4060-AEF6-DFACBD7473B5}" destId="{4BCD1CF3-76D6-476F-BA29-CA9F74B036B4}" srcOrd="0" destOrd="0" presId="urn:microsoft.com/office/officeart/2011/layout/CircleProcess"/>
    <dgm:cxn modelId="{7E673BF9-46F8-4D3A-8E39-C21F226295EE}" type="presParOf" srcId="{2D779F21-485E-4609-9650-D711A03A2822}" destId="{16128C66-96B6-4F34-A492-4D3C4732CCA8}" srcOrd="1" destOrd="0" presId="urn:microsoft.com/office/officeart/2011/layout/CircleProcess"/>
    <dgm:cxn modelId="{9EB81954-3598-48F5-BEAA-6D65AEF1CB74}" type="presParOf" srcId="{16128C66-96B6-4F34-A492-4D3C4732CCA8}" destId="{1AB4CA66-D24A-48DE-9633-7C2623AFAEE5}" srcOrd="0" destOrd="0" presId="urn:microsoft.com/office/officeart/2011/layout/CircleProcess"/>
    <dgm:cxn modelId="{4C953C0F-439C-497B-A79A-0B9F2897B987}" type="presParOf" srcId="{2D779F21-485E-4609-9650-D711A03A2822}" destId="{E36CA5C5-A086-4D72-99AA-77600E827D94}" srcOrd="2" destOrd="0" presId="urn:microsoft.com/office/officeart/2011/layout/CircleProcess"/>
    <dgm:cxn modelId="{B16C2C86-980E-4957-8D34-B3E0110CF79C}" type="presParOf" srcId="{2D779F21-485E-4609-9650-D711A03A2822}" destId="{E1B6DF44-31E8-4870-B32E-AF40AC666AFA}" srcOrd="3" destOrd="0" presId="urn:microsoft.com/office/officeart/2011/layout/CircleProcess"/>
    <dgm:cxn modelId="{41EBE717-DD48-4A3B-B0E9-BA23FB82427F}" type="presParOf" srcId="{E1B6DF44-31E8-4870-B32E-AF40AC666AFA}" destId="{0B184F5B-4393-4DBA-B939-E3410293D87B}" srcOrd="0" destOrd="0" presId="urn:microsoft.com/office/officeart/2011/layout/CircleProcess"/>
    <dgm:cxn modelId="{D3A7B737-376F-408F-A651-2A266EC347CE}" type="presParOf" srcId="{2D779F21-485E-4609-9650-D711A03A2822}" destId="{7CA7DC0C-5A45-4F62-88D3-232820C20245}" srcOrd="4" destOrd="0" presId="urn:microsoft.com/office/officeart/2011/layout/CircleProcess"/>
    <dgm:cxn modelId="{07A3CA4F-2CE1-482F-A08E-2E73EA1CB7AC}" type="presParOf" srcId="{7CA7DC0C-5A45-4F62-88D3-232820C20245}" destId="{0F63B6E4-A714-43F0-8D11-4D46C16199B2}" srcOrd="0" destOrd="0" presId="urn:microsoft.com/office/officeart/2011/layout/CircleProcess"/>
    <dgm:cxn modelId="{E14357D6-9813-4BF5-97BC-68CCD5FFBAA8}" type="presParOf" srcId="{2D779F21-485E-4609-9650-D711A03A2822}" destId="{A122F3CD-F53B-48A3-A3C6-FEEC7246FB86}" srcOrd="5" destOrd="0" presId="urn:microsoft.com/office/officeart/2011/layout/CircleProcess"/>
    <dgm:cxn modelId="{8A363554-ECF5-4C11-A016-D0025F7074EC}" type="presParOf" srcId="{2D779F21-485E-4609-9650-D711A03A2822}" destId="{62E57680-59BB-4EF3-8B64-7C57613ED16E}" srcOrd="6" destOrd="0" presId="urn:microsoft.com/office/officeart/2011/layout/CircleProcess"/>
    <dgm:cxn modelId="{76C6D89D-9421-4145-BAC5-296C64B2B272}" type="presParOf" srcId="{62E57680-59BB-4EF3-8B64-7C57613ED16E}" destId="{AD73B6F3-001F-41A5-A6C6-3DBF59BB5D42}" srcOrd="0" destOrd="0" presId="urn:microsoft.com/office/officeart/2011/layout/CircleProcess"/>
    <dgm:cxn modelId="{5176B2E6-AAE9-49A2-9A81-4AD15ACC546E}" type="presParOf" srcId="{2D779F21-485E-4609-9650-D711A03A2822}" destId="{84EF41D0-EBDA-42C2-833A-18631EA41711}" srcOrd="7" destOrd="0" presId="urn:microsoft.com/office/officeart/2011/layout/CircleProcess"/>
    <dgm:cxn modelId="{CA8FAAFC-2522-4854-9F59-B6259419A098}" type="presParOf" srcId="{84EF41D0-EBDA-42C2-833A-18631EA41711}" destId="{BB124B9E-69C3-4A24-8060-169D73F9FA71}" srcOrd="0" destOrd="0" presId="urn:microsoft.com/office/officeart/2011/layout/CircleProcess"/>
    <dgm:cxn modelId="{BCEC38A2-1467-4E5E-8624-A1F4610265B1}" type="presParOf" srcId="{2D779F21-485E-4609-9650-D711A03A2822}" destId="{4C714E33-0875-4F1B-9921-EB6DF0327FB0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D1CF3-76D6-476F-BA29-CA9F74B036B4}">
      <dsp:nvSpPr>
        <dsp:cNvPr id="0" name=""/>
        <dsp:cNvSpPr/>
      </dsp:nvSpPr>
      <dsp:spPr>
        <a:xfrm>
          <a:off x="4586243" y="771091"/>
          <a:ext cx="2017743" cy="20181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4CA66-D24A-48DE-9633-7C2623AFAEE5}">
      <dsp:nvSpPr>
        <dsp:cNvPr id="0" name=""/>
        <dsp:cNvSpPr/>
      </dsp:nvSpPr>
      <dsp:spPr>
        <a:xfrm>
          <a:off x="4653238" y="838373"/>
          <a:ext cx="1883753" cy="1883552"/>
        </a:xfrm>
        <a:prstGeom prst="ellipse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Archivo" panose="020B0604020202020204" charset="0"/>
              <a:cs typeface="Archivo" panose="020B0604020202020204" charset="0"/>
            </a:rPr>
            <a:t>输出层</a:t>
          </a:r>
          <a:endParaRPr lang="en-US" sz="28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4922534" y="1107503"/>
        <a:ext cx="1345162" cy="1345293"/>
      </dsp:txXfrm>
    </dsp:sp>
    <dsp:sp modelId="{0B184F5B-4393-4DBA-B939-E3410293D87B}">
      <dsp:nvSpPr>
        <dsp:cNvPr id="0" name=""/>
        <dsp:cNvSpPr/>
      </dsp:nvSpPr>
      <dsp:spPr>
        <a:xfrm rot="2700000">
          <a:off x="2503277" y="773531"/>
          <a:ext cx="2012883" cy="2012883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3B6E4-A714-43F0-8D11-4D46C16199B2}">
      <dsp:nvSpPr>
        <dsp:cNvPr id="0" name=""/>
        <dsp:cNvSpPr/>
      </dsp:nvSpPr>
      <dsp:spPr>
        <a:xfrm>
          <a:off x="2567842" y="838373"/>
          <a:ext cx="1883753" cy="1883552"/>
        </a:xfrm>
        <a:prstGeom prst="ellipse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Archivo" panose="020B0604020202020204" charset="0"/>
              <a:cs typeface="Archivo" panose="020B0604020202020204" charset="0"/>
            </a:rPr>
            <a:t>计算层</a:t>
          </a:r>
          <a:endParaRPr lang="en-US" sz="28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2837138" y="1107503"/>
        <a:ext cx="1345162" cy="1345293"/>
      </dsp:txXfrm>
    </dsp:sp>
    <dsp:sp modelId="{AD73B6F3-001F-41A5-A6C6-3DBF59BB5D42}">
      <dsp:nvSpPr>
        <dsp:cNvPr id="0" name=""/>
        <dsp:cNvSpPr/>
      </dsp:nvSpPr>
      <dsp:spPr>
        <a:xfrm rot="2700000">
          <a:off x="417881" y="773531"/>
          <a:ext cx="2012883" cy="2012883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24B9E-69C3-4A24-8060-169D73F9FA71}">
      <dsp:nvSpPr>
        <dsp:cNvPr id="0" name=""/>
        <dsp:cNvSpPr/>
      </dsp:nvSpPr>
      <dsp:spPr>
        <a:xfrm>
          <a:off x="482446" y="838373"/>
          <a:ext cx="1883753" cy="1883552"/>
        </a:xfrm>
        <a:prstGeom prst="ellipse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Archivo" panose="020B0604020202020204" charset="0"/>
              <a:cs typeface="Archivo" panose="020B0604020202020204" charset="0"/>
            </a:rPr>
            <a:t>输入层</a:t>
          </a:r>
          <a:endParaRPr lang="en-US" sz="28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751742" y="1107503"/>
        <a:ext cx="1345162" cy="1345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7a62897eb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7a62897eb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7a62897eb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7a62897eb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82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8dfac31a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8dfac31a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234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78dfac31ac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78dfac31ac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826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8dfac31a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8dfac31a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78dfac31ac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78dfac31ac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727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524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8dfac31a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8dfac31a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286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78dfac31ac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78dfac31ac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75"/>
            <a:ext cx="5003100" cy="287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3699274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20000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720000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3699275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7517425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2691350" y="1591947"/>
            <a:ext cx="4071900" cy="22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5242425" y="-150"/>
            <a:ext cx="3901500" cy="16404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720000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3338423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3"/>
          </p:nvPr>
        </p:nvSpPr>
        <p:spPr>
          <a:xfrm>
            <a:off x="5956847" y="2798600"/>
            <a:ext cx="22365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720000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5"/>
          </p:nvPr>
        </p:nvSpPr>
        <p:spPr>
          <a:xfrm>
            <a:off x="3338419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5956838" y="210337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2"/>
          </p:nvPr>
        </p:nvSpPr>
        <p:spPr>
          <a:xfrm>
            <a:off x="5314500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3"/>
          </p:nvPr>
        </p:nvSpPr>
        <p:spPr>
          <a:xfrm>
            <a:off x="1800525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4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5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6"/>
          </p:nvPr>
        </p:nvSpPr>
        <p:spPr>
          <a:xfrm>
            <a:off x="1800526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7"/>
          </p:nvPr>
        </p:nvSpPr>
        <p:spPr>
          <a:xfrm>
            <a:off x="5314475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8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dk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713225" y="3678562"/>
            <a:ext cx="3257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000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5209450" y="75"/>
            <a:ext cx="3934500" cy="38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713225" y="2360475"/>
            <a:ext cx="3257700" cy="113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713225" y="863650"/>
            <a:ext cx="8430900" cy="13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2" r:id="rId9"/>
    <p:sldLayoutId id="2147483664" r:id="rId10"/>
    <p:sldLayoutId id="2147483665" r:id="rId11"/>
    <p:sldLayoutId id="2147483668" r:id="rId12"/>
    <p:sldLayoutId id="2147483669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8229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基于关联规则算法的饮品点餐小程序系统设计与实现</a:t>
            </a:r>
            <a:endParaRPr dirty="0"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713225" y="3216997"/>
            <a:ext cx="3083712" cy="11198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姓名：叶彩莹 </a:t>
            </a:r>
            <a:r>
              <a:rPr lang="en-US" altLang="zh-CN" b="1" dirty="0"/>
              <a:t>YAP CHAI YING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学号：</a:t>
            </a:r>
            <a:r>
              <a:rPr lang="en-US" altLang="zh-CN" b="1" dirty="0"/>
              <a:t>G2023122502C108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学院：人工智能与大数据</a:t>
            </a:r>
            <a:endParaRPr lang="en-US" altLang="zh-CN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导师：李彦登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目录</a:t>
            </a:r>
            <a:endParaRPr dirty="0"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 idx="2"/>
          </p:nvPr>
        </p:nvSpPr>
        <p:spPr>
          <a:xfrm>
            <a:off x="720000" y="1741845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ubTitle" idx="1"/>
          </p:nvPr>
        </p:nvSpPr>
        <p:spPr>
          <a:xfrm>
            <a:off x="1454700" y="1741835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引言与研究背景</a:t>
            </a:r>
            <a:endParaRPr dirty="0"/>
          </a:p>
        </p:txBody>
      </p:sp>
      <p:sp>
        <p:nvSpPr>
          <p:cNvPr id="161" name="Google Shape;161;p30"/>
          <p:cNvSpPr txBox="1">
            <a:spLocks noGrp="1"/>
          </p:cNvSpPr>
          <p:nvPr>
            <p:ph type="title" idx="3"/>
          </p:nvPr>
        </p:nvSpPr>
        <p:spPr>
          <a:xfrm>
            <a:off x="720000" y="2299967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4"/>
          </p:nvPr>
        </p:nvSpPr>
        <p:spPr>
          <a:xfrm>
            <a:off x="1454700" y="2299960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研究问题与目标</a:t>
            </a:r>
            <a:endParaRPr dirty="0"/>
          </a:p>
        </p:txBody>
      </p:sp>
      <p:sp>
        <p:nvSpPr>
          <p:cNvPr id="163" name="Google Shape;163;p30"/>
          <p:cNvSpPr txBox="1">
            <a:spLocks noGrp="1"/>
          </p:cNvSpPr>
          <p:nvPr>
            <p:ph type="title" idx="5"/>
          </p:nvPr>
        </p:nvSpPr>
        <p:spPr>
          <a:xfrm>
            <a:off x="720000" y="2858090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ubTitle" idx="6"/>
          </p:nvPr>
        </p:nvSpPr>
        <p:spPr>
          <a:xfrm>
            <a:off x="1454700" y="2858085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文献综述</a:t>
            </a:r>
          </a:p>
        </p:txBody>
      </p:sp>
      <p:sp>
        <p:nvSpPr>
          <p:cNvPr id="165" name="Google Shape;165;p30"/>
          <p:cNvSpPr txBox="1">
            <a:spLocks noGrp="1"/>
          </p:cNvSpPr>
          <p:nvPr>
            <p:ph type="title" idx="7"/>
          </p:nvPr>
        </p:nvSpPr>
        <p:spPr>
          <a:xfrm>
            <a:off x="720000" y="3416215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8"/>
          </p:nvPr>
        </p:nvSpPr>
        <p:spPr>
          <a:xfrm>
            <a:off x="1454700" y="3416210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研究方法论</a:t>
            </a:r>
          </a:p>
        </p:txBody>
      </p:sp>
      <p:sp>
        <p:nvSpPr>
          <p:cNvPr id="167" name="Google Shape;167;p30"/>
          <p:cNvSpPr txBox="1">
            <a:spLocks noGrp="1"/>
          </p:cNvSpPr>
          <p:nvPr>
            <p:ph type="title" idx="9"/>
          </p:nvPr>
        </p:nvSpPr>
        <p:spPr>
          <a:xfrm>
            <a:off x="720000" y="3974340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subTitle" idx="13"/>
          </p:nvPr>
        </p:nvSpPr>
        <p:spPr>
          <a:xfrm>
            <a:off x="1454700" y="3974335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预期贡献与意义</a:t>
            </a:r>
          </a:p>
        </p:txBody>
      </p:sp>
      <p:sp>
        <p:nvSpPr>
          <p:cNvPr id="169" name="Google Shape;169;p30"/>
          <p:cNvSpPr txBox="1">
            <a:spLocks noGrp="1"/>
          </p:cNvSpPr>
          <p:nvPr>
            <p:ph type="title" idx="14"/>
          </p:nvPr>
        </p:nvSpPr>
        <p:spPr>
          <a:xfrm>
            <a:off x="720000" y="4532465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15"/>
          </p:nvPr>
        </p:nvSpPr>
        <p:spPr>
          <a:xfrm>
            <a:off x="1454700" y="4532460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引言与研究背景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subTitle" idx="4"/>
          </p:nvPr>
        </p:nvSpPr>
        <p:spPr>
          <a:xfrm>
            <a:off x="4286176" y="3881028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马来西亚现状</a:t>
            </a:r>
            <a:endParaRPr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餐饮行业的数字化浪潮与中马市场现状对比</a:t>
            </a:r>
            <a:endParaRPr lang="en-US"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subTitle" idx="1"/>
          </p:nvPr>
        </p:nvSpPr>
        <p:spPr>
          <a:xfrm>
            <a:off x="4286175" y="4417476"/>
            <a:ext cx="2505600" cy="712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仍处于“展示与下单”的基础阶段，缺乏对用户偏好的深度挖掘（猜测喜好）。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2"/>
          </p:nvPr>
        </p:nvSpPr>
        <p:spPr>
          <a:xfrm>
            <a:off x="720000" y="4417476"/>
            <a:ext cx="2505600" cy="712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高度成熟，小程序已成为私域流量沉淀与智能推荐的核心载体。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subTitle" idx="3"/>
          </p:nvPr>
        </p:nvSpPr>
        <p:spPr>
          <a:xfrm>
            <a:off x="720000" y="3881028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中国现状</a:t>
            </a:r>
            <a:endParaRPr dirty="0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7420D96-2DB9-0DBF-8277-F659BE55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90" y="1154398"/>
            <a:ext cx="1469019" cy="285292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CAFC99-A9E5-12D1-6A59-5003002A9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625" y="1146870"/>
            <a:ext cx="1480700" cy="284976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研究问题与目标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11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核心驱动：如何构建“更懂用户”的智慧系统</a:t>
            </a:r>
            <a:endParaRPr lang="en-US" dirty="0"/>
          </a:p>
        </p:txBody>
      </p:sp>
      <p:sp>
        <p:nvSpPr>
          <p:cNvPr id="204" name="Google Shape;204;p34"/>
          <p:cNvSpPr txBox="1">
            <a:spLocks noGrp="1"/>
          </p:cNvSpPr>
          <p:nvPr>
            <p:ph type="subTitle" idx="4"/>
          </p:nvPr>
        </p:nvSpPr>
        <p:spPr>
          <a:xfrm>
            <a:off x="720000" y="296552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开发层面</a:t>
            </a:r>
            <a:endParaRPr dirty="0"/>
          </a:p>
        </p:txBody>
      </p:sp>
      <p:sp>
        <p:nvSpPr>
          <p:cNvPr id="205" name="Google Shape;205;p34"/>
          <p:cNvSpPr txBox="1">
            <a:spLocks noGrp="1"/>
          </p:cNvSpPr>
          <p:nvPr>
            <p:ph type="subTitle" idx="5"/>
          </p:nvPr>
        </p:nvSpPr>
        <p:spPr>
          <a:xfrm>
            <a:off x="3338419" y="296552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算法层面</a:t>
            </a:r>
            <a:endParaRPr dirty="0"/>
          </a:p>
        </p:txBody>
      </p:sp>
      <p:sp>
        <p:nvSpPr>
          <p:cNvPr id="206" name="Google Shape;206;p34"/>
          <p:cNvSpPr txBox="1">
            <a:spLocks noGrp="1"/>
          </p:cNvSpPr>
          <p:nvPr>
            <p:ph type="subTitle" idx="1"/>
          </p:nvPr>
        </p:nvSpPr>
        <p:spPr>
          <a:xfrm>
            <a:off x="720000" y="3660750"/>
            <a:ext cx="2236500" cy="1005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构建 </a:t>
            </a:r>
            <a:r>
              <a:rPr lang="en-US" altLang="zh-CN" dirty="0"/>
              <a:t>Flask + </a:t>
            </a:r>
            <a:r>
              <a:rPr lang="zh-CN" altLang="en-US" dirty="0"/>
              <a:t>微信小程序的全栈系统。</a:t>
            </a:r>
            <a:endParaRPr dirty="0"/>
          </a:p>
        </p:txBody>
      </p:sp>
      <p:sp>
        <p:nvSpPr>
          <p:cNvPr id="207" name="Google Shape;207;p34"/>
          <p:cNvSpPr txBox="1">
            <a:spLocks noGrp="1"/>
          </p:cNvSpPr>
          <p:nvPr>
            <p:ph type="subTitle" idx="2"/>
          </p:nvPr>
        </p:nvSpPr>
        <p:spPr>
          <a:xfrm>
            <a:off x="3338423" y="3660750"/>
            <a:ext cx="2236500" cy="1005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实现 </a:t>
            </a:r>
            <a:r>
              <a:rPr lang="en-US" altLang="zh-CN" dirty="0" err="1"/>
              <a:t>Apriori</a:t>
            </a:r>
            <a:r>
              <a:rPr lang="en-US" altLang="zh-CN" dirty="0"/>
              <a:t> </a:t>
            </a:r>
            <a:r>
              <a:rPr lang="zh-CN" altLang="en-US" dirty="0"/>
              <a:t>频繁项集挖掘引擎。</a:t>
            </a:r>
            <a:endParaRPr dirty="0"/>
          </a:p>
        </p:txBody>
      </p:sp>
      <p:sp>
        <p:nvSpPr>
          <p:cNvPr id="208" name="Google Shape;208;p34"/>
          <p:cNvSpPr txBox="1">
            <a:spLocks noGrp="1"/>
          </p:cNvSpPr>
          <p:nvPr>
            <p:ph type="subTitle" idx="3"/>
          </p:nvPr>
        </p:nvSpPr>
        <p:spPr>
          <a:xfrm>
            <a:off x="5956847" y="3660750"/>
            <a:ext cx="2236500" cy="1005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将算法转化为“猜你喜欢”与“黄金搭档”功能。</a:t>
            </a:r>
            <a:endParaRPr dirty="0"/>
          </a:p>
        </p:txBody>
      </p:sp>
      <p:sp>
        <p:nvSpPr>
          <p:cNvPr id="209" name="Google Shape;209;p34"/>
          <p:cNvSpPr txBox="1">
            <a:spLocks noGrp="1"/>
          </p:cNvSpPr>
          <p:nvPr>
            <p:ph type="subTitle" idx="6"/>
          </p:nvPr>
        </p:nvSpPr>
        <p:spPr>
          <a:xfrm>
            <a:off x="5956838" y="2965525"/>
            <a:ext cx="2236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应用层面</a:t>
            </a:r>
            <a:endParaRPr dirty="0"/>
          </a:p>
        </p:txBody>
      </p:sp>
      <p:sp>
        <p:nvSpPr>
          <p:cNvPr id="210" name="Google Shape;210;p34"/>
          <p:cNvSpPr/>
          <p:nvPr/>
        </p:nvSpPr>
        <p:spPr>
          <a:xfrm>
            <a:off x="796202" y="2664343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11" name="Google Shape;211;p34"/>
          <p:cNvSpPr/>
          <p:nvPr/>
        </p:nvSpPr>
        <p:spPr>
          <a:xfrm>
            <a:off x="3414627" y="2664343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6033052" y="2664343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" name="Google Shape;4625;p60">
            <a:extLst>
              <a:ext uri="{FF2B5EF4-FFF2-40B4-BE49-F238E27FC236}">
                <a16:creationId xmlns:a16="http://schemas.microsoft.com/office/drawing/2014/main" id="{8C3CD429-29B5-4E89-AB19-A5B5BE243334}"/>
              </a:ext>
            </a:extLst>
          </p:cNvPr>
          <p:cNvGrpSpPr/>
          <p:nvPr/>
        </p:nvGrpSpPr>
        <p:grpSpPr>
          <a:xfrm>
            <a:off x="944397" y="2810228"/>
            <a:ext cx="231310" cy="216386"/>
            <a:chOff x="5049725" y="2635825"/>
            <a:chExt cx="481825" cy="451700"/>
          </a:xfrm>
          <a:solidFill>
            <a:schemeClr val="accent2"/>
          </a:solidFill>
        </p:grpSpPr>
        <p:sp>
          <p:nvSpPr>
            <p:cNvPr id="3" name="Google Shape;4626;p60">
              <a:extLst>
                <a:ext uri="{FF2B5EF4-FFF2-40B4-BE49-F238E27FC236}">
                  <a16:creationId xmlns:a16="http://schemas.microsoft.com/office/drawing/2014/main" id="{B03C9892-0043-1B17-78DF-788B0BFA8B9C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" name="Google Shape;4627;p60">
              <a:extLst>
                <a:ext uri="{FF2B5EF4-FFF2-40B4-BE49-F238E27FC236}">
                  <a16:creationId xmlns:a16="http://schemas.microsoft.com/office/drawing/2014/main" id="{FA2B4CD8-2908-2D46-C07B-5B5474D6FEB6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4628;p60">
              <a:extLst>
                <a:ext uri="{FF2B5EF4-FFF2-40B4-BE49-F238E27FC236}">
                  <a16:creationId xmlns:a16="http://schemas.microsoft.com/office/drawing/2014/main" id="{E7297A9B-6045-82F6-824D-EA5945675E10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" name="Google Shape;204;p34">
            <a:extLst>
              <a:ext uri="{FF2B5EF4-FFF2-40B4-BE49-F238E27FC236}">
                <a16:creationId xmlns:a16="http://schemas.microsoft.com/office/drawing/2014/main" id="{98EAD98B-184A-19E2-1829-1F129435DE79}"/>
              </a:ext>
            </a:extLst>
          </p:cNvPr>
          <p:cNvSpPr txBox="1">
            <a:spLocks/>
          </p:cNvSpPr>
          <p:nvPr/>
        </p:nvSpPr>
        <p:spPr>
          <a:xfrm>
            <a:off x="720000" y="1637271"/>
            <a:ext cx="6816963" cy="764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/>
              <a:t>研究问题：</a:t>
            </a:r>
            <a:r>
              <a:rPr lang="zh-CN" altLang="en-US" sz="1600" b="0" dirty="0"/>
              <a:t>如何建立适合茶饮业务的关联规则模型？如何在无四季差异的马来西亚环境中挖掘“雨季</a:t>
            </a:r>
            <a:r>
              <a:rPr lang="en-US" altLang="zh-CN" sz="1600" b="0" dirty="0"/>
              <a:t>/</a:t>
            </a:r>
            <a:r>
              <a:rPr lang="zh-CN" altLang="en-US" sz="1600" b="0" dirty="0"/>
              <a:t>高温”与饮品的隐性联系？</a:t>
            </a:r>
          </a:p>
        </p:txBody>
      </p:sp>
      <p:grpSp>
        <p:nvGrpSpPr>
          <p:cNvPr id="7" name="Google Shape;4690;p60">
            <a:extLst>
              <a:ext uri="{FF2B5EF4-FFF2-40B4-BE49-F238E27FC236}">
                <a16:creationId xmlns:a16="http://schemas.microsoft.com/office/drawing/2014/main" id="{31A761EC-FCF3-F6E3-3DC5-7FEEA5A9B683}"/>
              </a:ext>
            </a:extLst>
          </p:cNvPr>
          <p:cNvGrpSpPr/>
          <p:nvPr/>
        </p:nvGrpSpPr>
        <p:grpSpPr>
          <a:xfrm>
            <a:off x="3508850" y="2807939"/>
            <a:ext cx="339253" cy="258369"/>
            <a:chOff x="3271200" y="3863875"/>
            <a:chExt cx="481825" cy="366950"/>
          </a:xfrm>
          <a:solidFill>
            <a:schemeClr val="accent2"/>
          </a:solidFill>
        </p:grpSpPr>
        <p:sp>
          <p:nvSpPr>
            <p:cNvPr id="8" name="Google Shape;4691;p60">
              <a:extLst>
                <a:ext uri="{FF2B5EF4-FFF2-40B4-BE49-F238E27FC236}">
                  <a16:creationId xmlns:a16="http://schemas.microsoft.com/office/drawing/2014/main" id="{D80B69AF-493E-0CB8-F8E1-C33ED3328D61}"/>
                </a:ext>
              </a:extLst>
            </p:cNvPr>
            <p:cNvSpPr/>
            <p:nvPr/>
          </p:nvSpPr>
          <p:spPr>
            <a:xfrm>
              <a:off x="3271200" y="3920350"/>
              <a:ext cx="283225" cy="310475"/>
            </a:xfrm>
            <a:custGeom>
              <a:avLst/>
              <a:gdLst/>
              <a:ahLst/>
              <a:cxnLst/>
              <a:rect l="l" t="t" r="r" b="b"/>
              <a:pathLst>
                <a:path w="11329" h="12419" extrusionOk="0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4692;p60">
              <a:extLst>
                <a:ext uri="{FF2B5EF4-FFF2-40B4-BE49-F238E27FC236}">
                  <a16:creationId xmlns:a16="http://schemas.microsoft.com/office/drawing/2014/main" id="{546B1085-FC36-D657-F960-9B666873CF1C}"/>
                </a:ext>
              </a:extLst>
            </p:cNvPr>
            <p:cNvSpPr/>
            <p:nvPr/>
          </p:nvSpPr>
          <p:spPr>
            <a:xfrm>
              <a:off x="3526175" y="3863875"/>
              <a:ext cx="226850" cy="310575"/>
            </a:xfrm>
            <a:custGeom>
              <a:avLst/>
              <a:gdLst/>
              <a:ahLst/>
              <a:cxnLst/>
              <a:rect l="l" t="t" r="r" b="b"/>
              <a:pathLst>
                <a:path w="9074" h="12423" extrusionOk="0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" name="Google Shape;4563;p60">
            <a:extLst>
              <a:ext uri="{FF2B5EF4-FFF2-40B4-BE49-F238E27FC236}">
                <a16:creationId xmlns:a16="http://schemas.microsoft.com/office/drawing/2014/main" id="{0865F650-98B5-2754-49E0-3611DD3BA2D6}"/>
              </a:ext>
            </a:extLst>
          </p:cNvPr>
          <p:cNvGrpSpPr/>
          <p:nvPr/>
        </p:nvGrpSpPr>
        <p:grpSpPr>
          <a:xfrm>
            <a:off x="6187229" y="2819746"/>
            <a:ext cx="219345" cy="227301"/>
            <a:chOff x="3357325" y="2093500"/>
            <a:chExt cx="311525" cy="322825"/>
          </a:xfrm>
          <a:solidFill>
            <a:schemeClr val="accent2"/>
          </a:solidFill>
        </p:grpSpPr>
        <p:sp>
          <p:nvSpPr>
            <p:cNvPr id="11" name="Google Shape;4564;p60">
              <a:extLst>
                <a:ext uri="{FF2B5EF4-FFF2-40B4-BE49-F238E27FC236}">
                  <a16:creationId xmlns:a16="http://schemas.microsoft.com/office/drawing/2014/main" id="{7AB3230D-0BE8-2202-2445-0166E385D002}"/>
                </a:ext>
              </a:extLst>
            </p:cNvPr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4565;p60">
              <a:extLst>
                <a:ext uri="{FF2B5EF4-FFF2-40B4-BE49-F238E27FC236}">
                  <a16:creationId xmlns:a16="http://schemas.microsoft.com/office/drawing/2014/main" id="{5B2E4C69-AC98-8FD8-6ED3-4FC5039E9CED}"/>
                </a:ext>
              </a:extLst>
            </p:cNvPr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4566;p60">
              <a:extLst>
                <a:ext uri="{FF2B5EF4-FFF2-40B4-BE49-F238E27FC236}">
                  <a16:creationId xmlns:a16="http://schemas.microsoft.com/office/drawing/2014/main" id="{88FF090C-BBA1-F26D-0423-560B93924858}"/>
                </a:ext>
              </a:extLst>
            </p:cNvPr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文献综述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111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/>
          <p:nvPr/>
        </p:nvSpPr>
        <p:spPr>
          <a:xfrm>
            <a:off x="719988" y="1414696"/>
            <a:ext cx="1626600" cy="3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4" name="Google Shape;294;p41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学术演进：从被动工具向主动智能的跨越</a:t>
            </a:r>
            <a:endParaRPr dirty="0"/>
          </a:p>
        </p:txBody>
      </p:sp>
      <p:sp>
        <p:nvSpPr>
          <p:cNvPr id="295" name="Google Shape;295;p41"/>
          <p:cNvSpPr txBox="1">
            <a:spLocks noGrp="1"/>
          </p:cNvSpPr>
          <p:nvPr>
            <p:ph type="subTitle" idx="1"/>
          </p:nvPr>
        </p:nvSpPr>
        <p:spPr>
          <a:xfrm>
            <a:off x="2691350" y="1591947"/>
            <a:ext cx="4071900" cy="229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CN" altLang="en-US" sz="1600" b="1" dirty="0"/>
              <a:t>脉络：</a:t>
            </a:r>
            <a:endParaRPr lang="en-US" altLang="zh-CN" sz="1600" b="1" dirty="0"/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zh-CN"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CN" altLang="en-US" dirty="0"/>
              <a:t>国内研究：</a:t>
            </a:r>
            <a:r>
              <a:rPr lang="en-US" dirty="0" err="1"/>
              <a:t>Apriori</a:t>
            </a:r>
            <a:r>
              <a:rPr lang="zh-CN" altLang="en-US" dirty="0"/>
              <a:t>与</a:t>
            </a:r>
            <a:r>
              <a:rPr lang="en-US" dirty="0"/>
              <a:t>FP-Growth</a:t>
            </a:r>
            <a:r>
              <a:rPr lang="zh-CN" altLang="en-US" dirty="0"/>
              <a:t>算法已广泛用于天气、时段维度的精准推荐。</a:t>
            </a:r>
            <a:endParaRPr lang="en-US" dirty="0"/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zh-CN" altLang="en-US" dirty="0"/>
              <a:t>国外</a:t>
            </a:r>
            <a:r>
              <a:rPr lang="en-US" altLang="zh-CN" dirty="0"/>
              <a:t>/</a:t>
            </a:r>
            <a:r>
              <a:rPr lang="zh-CN" altLang="en-US" dirty="0"/>
              <a:t>本地研究：马来西亚缺乏针对“雨季”或“本土节庆”的关联规则挖掘。</a:t>
            </a:r>
            <a:endParaRPr lang="en-US" dirty="0"/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AutoNum type="arabicPeriod"/>
            </a:pPr>
            <a:r>
              <a:rPr lang="zh-CN" altLang="en-US" dirty="0"/>
              <a:t>本研究将中国成熟算法模型迁移至无季节特征、但有气候波动的特定市场。</a:t>
            </a:r>
            <a:endParaRPr dirty="0"/>
          </a:p>
        </p:txBody>
      </p:sp>
      <p:pic>
        <p:nvPicPr>
          <p:cNvPr id="296" name="Google Shape;296;p41"/>
          <p:cNvPicPr preferRelativeResize="0"/>
          <p:nvPr/>
        </p:nvPicPr>
        <p:blipFill rotWithShape="1">
          <a:blip r:embed="rId3">
            <a:alphaModFix/>
          </a:blip>
          <a:srcRect l="62864" t="5180" r="7776" b="5189"/>
          <a:stretch/>
        </p:blipFill>
        <p:spPr>
          <a:xfrm>
            <a:off x="792787" y="1509578"/>
            <a:ext cx="1481027" cy="2825949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pic>
      <p:grpSp>
        <p:nvGrpSpPr>
          <p:cNvPr id="297" name="Google Shape;297;p41"/>
          <p:cNvGrpSpPr/>
          <p:nvPr/>
        </p:nvGrpSpPr>
        <p:grpSpPr>
          <a:xfrm>
            <a:off x="1315349" y="1624559"/>
            <a:ext cx="435877" cy="61157"/>
            <a:chOff x="3077582" y="4038975"/>
            <a:chExt cx="881093" cy="123625"/>
          </a:xfrm>
        </p:grpSpPr>
        <p:sp>
          <p:nvSpPr>
            <p:cNvPr id="298" name="Google Shape;298;p41"/>
            <p:cNvSpPr/>
            <p:nvPr/>
          </p:nvSpPr>
          <p:spPr>
            <a:xfrm>
              <a:off x="3077582" y="4039000"/>
              <a:ext cx="664800" cy="123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99" name="Google Shape;299;p41"/>
            <p:cNvSpPr/>
            <p:nvPr/>
          </p:nvSpPr>
          <p:spPr>
            <a:xfrm>
              <a:off x="3835075" y="4038975"/>
              <a:ext cx="123600" cy="123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研究方法论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621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技术路径：高性能后端与轻量化前端的融合</a:t>
            </a:r>
          </a:p>
        </p:txBody>
      </p:sp>
      <p:sp>
        <p:nvSpPr>
          <p:cNvPr id="55" name="Google Shape;232;p35">
            <a:extLst>
              <a:ext uri="{FF2B5EF4-FFF2-40B4-BE49-F238E27FC236}">
                <a16:creationId xmlns:a16="http://schemas.microsoft.com/office/drawing/2014/main" id="{6486A31B-4DF8-918D-ADEF-B1AC309AC864}"/>
              </a:ext>
            </a:extLst>
          </p:cNvPr>
          <p:cNvSpPr txBox="1">
            <a:spLocks/>
          </p:cNvSpPr>
          <p:nvPr/>
        </p:nvSpPr>
        <p:spPr>
          <a:xfrm>
            <a:off x="3439862" y="3683277"/>
            <a:ext cx="24629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zh-CN" altLang="en-US"/>
              <a:t>数据层（</a:t>
            </a:r>
            <a:r>
              <a:rPr lang="en-US" altLang="zh-CN"/>
              <a:t>MySQL</a:t>
            </a:r>
            <a:r>
              <a:rPr lang="zh-CN" altLang="en-US"/>
              <a:t>）</a:t>
            </a:r>
            <a:endParaRPr lang="en-US" dirty="0"/>
          </a:p>
        </p:txBody>
      </p:sp>
      <p:sp>
        <p:nvSpPr>
          <p:cNvPr id="56" name="Google Shape;234;p35">
            <a:extLst>
              <a:ext uri="{FF2B5EF4-FFF2-40B4-BE49-F238E27FC236}">
                <a16:creationId xmlns:a16="http://schemas.microsoft.com/office/drawing/2014/main" id="{C3DE5A6D-A2FD-E85E-A078-D3F65744AD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93303" y="1985038"/>
            <a:ext cx="4600275" cy="610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WXML/WXSS </a:t>
            </a:r>
            <a:r>
              <a:rPr lang="zh-CN" altLang="en-US" dirty="0"/>
              <a:t>负责 </a:t>
            </a:r>
            <a:r>
              <a:rPr lang="en-US" altLang="zh-CN" dirty="0"/>
              <a:t>UI </a:t>
            </a:r>
            <a:r>
              <a:rPr lang="zh-CN" altLang="en-US" dirty="0"/>
              <a:t>交互，</a:t>
            </a:r>
            <a:r>
              <a:rPr lang="en-US" altLang="zh-CN" dirty="0"/>
              <a:t>JS </a:t>
            </a:r>
            <a:r>
              <a:rPr lang="zh-CN" altLang="en-US" dirty="0"/>
              <a:t>处理业务请求。</a:t>
            </a:r>
            <a:endParaRPr dirty="0"/>
          </a:p>
        </p:txBody>
      </p:sp>
      <p:sp>
        <p:nvSpPr>
          <p:cNvPr id="57" name="Google Shape;235;p35">
            <a:extLst>
              <a:ext uri="{FF2B5EF4-FFF2-40B4-BE49-F238E27FC236}">
                <a16:creationId xmlns:a16="http://schemas.microsoft.com/office/drawing/2014/main" id="{EF1B4192-8D12-D03F-6B7E-79A2EC86CB2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793303" y="3021306"/>
            <a:ext cx="4600275" cy="610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Python </a:t>
            </a:r>
            <a:r>
              <a:rPr lang="zh-CN" altLang="en-US" dirty="0"/>
              <a:t>逻辑层。包含“业务处理”与“算法分析”两大模块。</a:t>
            </a:r>
            <a:endParaRPr dirty="0"/>
          </a:p>
        </p:txBody>
      </p:sp>
      <p:sp>
        <p:nvSpPr>
          <p:cNvPr id="58" name="Google Shape;236;p35">
            <a:extLst>
              <a:ext uri="{FF2B5EF4-FFF2-40B4-BE49-F238E27FC236}">
                <a16:creationId xmlns:a16="http://schemas.microsoft.com/office/drawing/2014/main" id="{7B02CB83-2B6D-27DF-F1DF-32C467E1280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93278" y="4132802"/>
            <a:ext cx="4600275" cy="6126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存储用户信息、实时订单、以及算法计算出的“规则库”。</a:t>
            </a:r>
            <a:endParaRPr dirty="0"/>
          </a:p>
        </p:txBody>
      </p:sp>
      <p:sp>
        <p:nvSpPr>
          <p:cNvPr id="59" name="Google Shape;238;p35">
            <a:extLst>
              <a:ext uri="{FF2B5EF4-FFF2-40B4-BE49-F238E27FC236}">
                <a16:creationId xmlns:a16="http://schemas.microsoft.com/office/drawing/2014/main" id="{98BB9C9A-88CB-6267-A2F8-88E60F341901}"/>
              </a:ext>
            </a:extLst>
          </p:cNvPr>
          <p:cNvSpPr txBox="1">
            <a:spLocks/>
          </p:cNvSpPr>
          <p:nvPr/>
        </p:nvSpPr>
        <p:spPr>
          <a:xfrm>
            <a:off x="3439887" y="1535288"/>
            <a:ext cx="246291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zh-CN" altLang="en-US"/>
              <a:t>前端（</a:t>
            </a:r>
            <a:r>
              <a:rPr lang="en-US" altLang="zh-CN"/>
              <a:t>WeChat</a:t>
            </a:r>
            <a:r>
              <a:rPr lang="zh-CN" altLang="en-US"/>
              <a:t>）</a:t>
            </a:r>
            <a:endParaRPr lang="en-US" dirty="0"/>
          </a:p>
        </p:txBody>
      </p:sp>
      <p:sp>
        <p:nvSpPr>
          <p:cNvPr id="60" name="Google Shape;239;p35">
            <a:extLst>
              <a:ext uri="{FF2B5EF4-FFF2-40B4-BE49-F238E27FC236}">
                <a16:creationId xmlns:a16="http://schemas.microsoft.com/office/drawing/2014/main" id="{B7FE1770-1D30-2423-BE30-97947DB1D852}"/>
              </a:ext>
            </a:extLst>
          </p:cNvPr>
          <p:cNvSpPr txBox="1">
            <a:spLocks/>
          </p:cNvSpPr>
          <p:nvPr/>
        </p:nvSpPr>
        <p:spPr>
          <a:xfrm>
            <a:off x="3439863" y="2571556"/>
            <a:ext cx="246291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zh-CN" altLang="en-US"/>
              <a:t>后端（</a:t>
            </a:r>
            <a:r>
              <a:rPr lang="en-US" altLang="zh-CN"/>
              <a:t>Flask</a:t>
            </a:r>
            <a:r>
              <a:rPr lang="zh-CN" altLang="en-US"/>
              <a:t>）</a:t>
            </a:r>
            <a:endParaRPr lang="en-US" dirty="0"/>
          </a:p>
        </p:txBody>
      </p:sp>
      <p:grpSp>
        <p:nvGrpSpPr>
          <p:cNvPr id="61" name="Google Shape;4609;p60">
            <a:extLst>
              <a:ext uri="{FF2B5EF4-FFF2-40B4-BE49-F238E27FC236}">
                <a16:creationId xmlns:a16="http://schemas.microsoft.com/office/drawing/2014/main" id="{0AFC23FE-DD8F-0820-1EC9-D65BD855A70D}"/>
              </a:ext>
            </a:extLst>
          </p:cNvPr>
          <p:cNvGrpSpPr/>
          <p:nvPr/>
        </p:nvGrpSpPr>
        <p:grpSpPr>
          <a:xfrm>
            <a:off x="3035412" y="1594261"/>
            <a:ext cx="238531" cy="339253"/>
            <a:chOff x="3342725" y="2620775"/>
            <a:chExt cx="338775" cy="481825"/>
          </a:xfrm>
          <a:solidFill>
            <a:schemeClr val="tx1"/>
          </a:solidFill>
        </p:grpSpPr>
        <p:sp>
          <p:nvSpPr>
            <p:cNvPr id="62" name="Google Shape;4610;p60">
              <a:extLst>
                <a:ext uri="{FF2B5EF4-FFF2-40B4-BE49-F238E27FC236}">
                  <a16:creationId xmlns:a16="http://schemas.microsoft.com/office/drawing/2014/main" id="{BD7C8BC3-3CE1-E53C-D0BD-58CB443A7F12}"/>
                </a:ext>
              </a:extLst>
            </p:cNvPr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" name="Google Shape;4611;p60">
              <a:extLst>
                <a:ext uri="{FF2B5EF4-FFF2-40B4-BE49-F238E27FC236}">
                  <a16:creationId xmlns:a16="http://schemas.microsoft.com/office/drawing/2014/main" id="{834AF76D-BCCC-2C09-1D9D-381268F98CF2}"/>
                </a:ext>
              </a:extLst>
            </p:cNvPr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4612;p60">
              <a:extLst>
                <a:ext uri="{FF2B5EF4-FFF2-40B4-BE49-F238E27FC236}">
                  <a16:creationId xmlns:a16="http://schemas.microsoft.com/office/drawing/2014/main" id="{42B76B5B-4590-6D74-D90E-731ED72D4214}"/>
                </a:ext>
              </a:extLst>
            </p:cNvPr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3" name="Google Shape;4625;p60">
            <a:extLst>
              <a:ext uri="{FF2B5EF4-FFF2-40B4-BE49-F238E27FC236}">
                <a16:creationId xmlns:a16="http://schemas.microsoft.com/office/drawing/2014/main" id="{EB1F1538-026A-8FC3-408A-0B3DF8147838}"/>
              </a:ext>
            </a:extLst>
          </p:cNvPr>
          <p:cNvGrpSpPr/>
          <p:nvPr/>
        </p:nvGrpSpPr>
        <p:grpSpPr>
          <a:xfrm>
            <a:off x="2946957" y="2651740"/>
            <a:ext cx="339253" cy="318042"/>
            <a:chOff x="5049725" y="2635825"/>
            <a:chExt cx="481825" cy="451700"/>
          </a:xfrm>
          <a:solidFill>
            <a:schemeClr val="tx1"/>
          </a:solidFill>
        </p:grpSpPr>
        <p:sp>
          <p:nvSpPr>
            <p:cNvPr id="194" name="Google Shape;4626;p60">
              <a:extLst>
                <a:ext uri="{FF2B5EF4-FFF2-40B4-BE49-F238E27FC236}">
                  <a16:creationId xmlns:a16="http://schemas.microsoft.com/office/drawing/2014/main" id="{CE039DDC-C07B-E9D7-21F2-D49BCDED7524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4627;p60">
              <a:extLst>
                <a:ext uri="{FF2B5EF4-FFF2-40B4-BE49-F238E27FC236}">
                  <a16:creationId xmlns:a16="http://schemas.microsoft.com/office/drawing/2014/main" id="{287B770B-542A-51CE-8F15-BFC95AFF2363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4628;p60">
              <a:extLst>
                <a:ext uri="{FF2B5EF4-FFF2-40B4-BE49-F238E27FC236}">
                  <a16:creationId xmlns:a16="http://schemas.microsoft.com/office/drawing/2014/main" id="{2EA38718-67FF-AAF8-AE16-DE62794EF9C2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7" name="Google Shape;7403;p66">
            <a:extLst>
              <a:ext uri="{FF2B5EF4-FFF2-40B4-BE49-F238E27FC236}">
                <a16:creationId xmlns:a16="http://schemas.microsoft.com/office/drawing/2014/main" id="{90ADC2A5-8101-862D-4E43-5BC3AA96F55B}"/>
              </a:ext>
            </a:extLst>
          </p:cNvPr>
          <p:cNvGrpSpPr/>
          <p:nvPr/>
        </p:nvGrpSpPr>
        <p:grpSpPr>
          <a:xfrm>
            <a:off x="3035387" y="3746271"/>
            <a:ext cx="330390" cy="331212"/>
            <a:chOff x="-3771675" y="3971775"/>
            <a:chExt cx="291300" cy="292025"/>
          </a:xfrm>
          <a:solidFill>
            <a:schemeClr val="tx1"/>
          </a:solidFill>
        </p:grpSpPr>
        <p:sp>
          <p:nvSpPr>
            <p:cNvPr id="198" name="Google Shape;7404;p66">
              <a:extLst>
                <a:ext uri="{FF2B5EF4-FFF2-40B4-BE49-F238E27FC236}">
                  <a16:creationId xmlns:a16="http://schemas.microsoft.com/office/drawing/2014/main" id="{D6F5BA36-4710-0849-6841-F42AC5ED9A80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405;p66">
              <a:extLst>
                <a:ext uri="{FF2B5EF4-FFF2-40B4-BE49-F238E27FC236}">
                  <a16:creationId xmlns:a16="http://schemas.microsoft.com/office/drawing/2014/main" id="{E17B1F8E-5D02-6CEE-B6A1-51B1BA2CE820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406;p66">
              <a:extLst>
                <a:ext uri="{FF2B5EF4-FFF2-40B4-BE49-F238E27FC236}">
                  <a16:creationId xmlns:a16="http://schemas.microsoft.com/office/drawing/2014/main" id="{6CD84912-3433-6B7D-17DA-374409521953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407;p66">
              <a:extLst>
                <a:ext uri="{FF2B5EF4-FFF2-40B4-BE49-F238E27FC236}">
                  <a16:creationId xmlns:a16="http://schemas.microsoft.com/office/drawing/2014/main" id="{BDABE6F5-888C-6AFE-BD52-02BF7CDF34BD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8;p66">
              <a:extLst>
                <a:ext uri="{FF2B5EF4-FFF2-40B4-BE49-F238E27FC236}">
                  <a16:creationId xmlns:a16="http://schemas.microsoft.com/office/drawing/2014/main" id="{E4F4F5E7-74A9-5A9A-093B-FC92BCE49A2E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算法实现：从原始订单到智慧推荐的转化</a:t>
            </a:r>
            <a:endParaRPr dirty="0"/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D1D20ADB-095C-AA10-D550-0C571A0B2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892298"/>
              </p:ext>
            </p:extLst>
          </p:nvPr>
        </p:nvGraphicFramePr>
        <p:xfrm>
          <a:off x="1269506" y="221941"/>
          <a:ext cx="6604987" cy="3559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065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CDB58E5-B8D6-14F9-EB4C-47FCC29A4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9274" y="2032040"/>
            <a:ext cx="2701526" cy="2322245"/>
          </a:xfrm>
        </p:spPr>
        <p:txBody>
          <a:bodyPr/>
          <a:lstStyle/>
          <a:p>
            <a:r>
              <a:rPr lang="zh-CN" altLang="en-US" sz="1400" dirty="0"/>
              <a:t>功能描述：</a:t>
            </a:r>
            <a:endParaRPr lang="en-US" altLang="zh-CN" sz="1400" dirty="0"/>
          </a:p>
          <a:p>
            <a:pPr>
              <a:buFont typeface="+mj-lt"/>
              <a:buAutoNum type="arabicPeriod"/>
            </a:pPr>
            <a:r>
              <a:rPr lang="zh-CN" altLang="en-US" sz="1400" dirty="0"/>
              <a:t>实时跟踪：通过逻辑模拟实现外卖配送进度透明化。</a:t>
            </a:r>
            <a:endParaRPr lang="en-US" altLang="zh-CN" sz="1400" dirty="0"/>
          </a:p>
          <a:p>
            <a:pPr>
              <a:buFont typeface="+mj-lt"/>
              <a:buAutoNum type="arabicPeriod"/>
            </a:pPr>
            <a:r>
              <a:rPr lang="zh-CN" altLang="en-US" sz="1400" dirty="0"/>
              <a:t>数据大屏：利用 </a:t>
            </a:r>
            <a:r>
              <a:rPr lang="en-US" altLang="zh-CN" sz="1400" dirty="0" err="1"/>
              <a:t>ECharts</a:t>
            </a:r>
            <a:r>
              <a:rPr lang="en-US" altLang="zh-CN" sz="1400" dirty="0"/>
              <a:t> </a:t>
            </a:r>
            <a:r>
              <a:rPr lang="zh-CN" altLang="en-US" sz="1400" dirty="0"/>
              <a:t>展示今日销量、本月趋势、支付方式占比。</a:t>
            </a:r>
            <a:endParaRPr lang="en-US" sz="1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6B1C8-6538-BEA4-CBAF-9A81E4E8FBC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20000" y="2032040"/>
            <a:ext cx="2701526" cy="23222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功能描述：系统在用户进入菜单或结算时，根据历史偏好和当前项集，弹出推荐。</a:t>
            </a:r>
            <a:endParaRPr lang="en-US" altLang="zh-C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留学生特色：针对马来西亚雨季较凉爽的特征，当检测到气温波动时，系统优先推荐热饮组合。</a:t>
            </a:r>
            <a:endParaRPr lang="en-US" altLang="zh-C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视觉建议：放一张小程序原型图，高亮显示底部的“猜你喜欢”浮窗。</a:t>
            </a:r>
            <a:endParaRPr lang="en-US" sz="1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1B1ACD-E364-C84D-F90D-368FA453F64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20000" y="1495593"/>
            <a:ext cx="2505600" cy="482100"/>
          </a:xfrm>
        </p:spPr>
        <p:txBody>
          <a:bodyPr/>
          <a:lstStyle/>
          <a:p>
            <a:r>
              <a:rPr lang="zh-CN" altLang="en-US" dirty="0"/>
              <a:t>智慧推荐与喜好猜测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3DA1D97-3BE6-7999-F83E-4E8AD03E45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699275" y="1495593"/>
            <a:ext cx="2505600" cy="482100"/>
          </a:xfrm>
        </p:spPr>
        <p:txBody>
          <a:bodyPr/>
          <a:lstStyle/>
          <a:p>
            <a:r>
              <a:rPr lang="zh-CN" altLang="en-US" dirty="0"/>
              <a:t>实时追踪与可视化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DAAE9D-9A71-1D11-4DEB-CEBA51C5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核心功能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77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F898F48-42CA-C5CB-7631-D1F85AB0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441547"/>
            <a:ext cx="2236500" cy="1805400"/>
          </a:xfrm>
        </p:spPr>
        <p:txBody>
          <a:bodyPr/>
          <a:lstStyle/>
          <a:p>
            <a:pPr marL="152400" indent="0">
              <a:lnSpc>
                <a:spcPct val="150000"/>
              </a:lnSpc>
            </a:pPr>
            <a:r>
              <a:rPr lang="en-US" altLang="zh-CN" sz="1400" dirty="0"/>
              <a:t>Flask </a:t>
            </a:r>
            <a:r>
              <a:rPr lang="zh-CN" altLang="en-US" sz="1400" dirty="0"/>
              <a:t>轻量且对数据科学库支持极佳；微信小程序开发成本低且易于传播。</a:t>
            </a:r>
            <a:endParaRPr lang="en-US" sz="1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859BF-DFB9-6E34-1269-144E9B60FE2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338423" y="2441547"/>
            <a:ext cx="2236500" cy="1805400"/>
          </a:xfrm>
        </p:spPr>
        <p:txBody>
          <a:bodyPr/>
          <a:lstStyle/>
          <a:p>
            <a:pPr marL="152400" indent="0">
              <a:lnSpc>
                <a:spcPct val="150000"/>
              </a:lnSpc>
            </a:pPr>
            <a:r>
              <a:rPr lang="zh-CN" altLang="en-US" sz="1400" dirty="0"/>
              <a:t>马来西亚本地真实订单数据获取困难。</a:t>
            </a:r>
            <a:endParaRPr lang="en-US" sz="1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1C48744-77D7-9A8A-F467-A22EEB4FD7D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956847" y="2441547"/>
            <a:ext cx="2236500" cy="1805400"/>
          </a:xfrm>
        </p:spPr>
        <p:txBody>
          <a:bodyPr/>
          <a:lstStyle/>
          <a:p>
            <a:pPr marL="152400" indent="0">
              <a:lnSpc>
                <a:spcPct val="150000"/>
              </a:lnSpc>
            </a:pPr>
            <a:r>
              <a:rPr lang="zh-CN" altLang="en-US" sz="1400" dirty="0"/>
              <a:t>使用 </a:t>
            </a:r>
            <a:r>
              <a:rPr lang="en-US" altLang="zh-CN" sz="1400" dirty="0"/>
              <a:t>Python Faker </a:t>
            </a:r>
            <a:r>
              <a:rPr lang="zh-CN" altLang="en-US" sz="1400" dirty="0"/>
              <a:t>库 生成符合本地消费习惯的万级模拟数据，对算法进行预训练和压力测试。</a:t>
            </a:r>
            <a:endParaRPr lang="en-US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C98096-A695-F771-2157-0F3B51C16C7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20000" y="1746322"/>
            <a:ext cx="2236500" cy="708300"/>
          </a:xfrm>
        </p:spPr>
        <p:txBody>
          <a:bodyPr/>
          <a:lstStyle/>
          <a:p>
            <a:r>
              <a:rPr lang="zh-CN" altLang="en-US" dirty="0"/>
              <a:t>可行性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B4FC5EF-08CB-7001-0471-961EE4AB325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338419" y="1746322"/>
            <a:ext cx="2236500" cy="708300"/>
          </a:xfrm>
        </p:spPr>
        <p:txBody>
          <a:bodyPr/>
          <a:lstStyle/>
          <a:p>
            <a:r>
              <a:rPr lang="zh-CN" altLang="en-US" dirty="0"/>
              <a:t>预期挑战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576E458-8FBF-860A-4132-0798B2B1F5A6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956838" y="1746322"/>
            <a:ext cx="2236500" cy="708300"/>
          </a:xfrm>
        </p:spPr>
        <p:txBody>
          <a:bodyPr/>
          <a:lstStyle/>
          <a:p>
            <a:r>
              <a:rPr lang="zh-CN" altLang="en-US" dirty="0"/>
              <a:t>应对方案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55CE5E8-163D-BB75-9530-513D1C45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技术可行性与挑战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预期贡献与意义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327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多维价值：跨文化背景下的技术赋能与创新</a:t>
            </a:r>
            <a:endParaRPr lang="en-US" dirty="0"/>
          </a:p>
        </p:txBody>
      </p:sp>
      <p:sp>
        <p:nvSpPr>
          <p:cNvPr id="6" name="Google Shape;204;p34">
            <a:extLst>
              <a:ext uri="{FF2B5EF4-FFF2-40B4-BE49-F238E27FC236}">
                <a16:creationId xmlns:a16="http://schemas.microsoft.com/office/drawing/2014/main" id="{98EAD98B-184A-19E2-1829-1F129435DE79}"/>
              </a:ext>
            </a:extLst>
          </p:cNvPr>
          <p:cNvSpPr txBox="1">
            <a:spLocks/>
          </p:cNvSpPr>
          <p:nvPr/>
        </p:nvSpPr>
        <p:spPr>
          <a:xfrm>
            <a:off x="720000" y="1811442"/>
            <a:ext cx="681696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dirty="0"/>
              <a:t>理论意义：</a:t>
            </a:r>
            <a:r>
              <a:rPr lang="zh-CN" altLang="en-US" sz="1600" b="0" dirty="0"/>
              <a:t>大数据工程在东南亚特定气候条件下的本土化应用探索。</a:t>
            </a:r>
          </a:p>
        </p:txBody>
      </p:sp>
      <p:sp>
        <p:nvSpPr>
          <p:cNvPr id="27" name="Google Shape;295;p41">
            <a:extLst>
              <a:ext uri="{FF2B5EF4-FFF2-40B4-BE49-F238E27FC236}">
                <a16:creationId xmlns:a16="http://schemas.microsoft.com/office/drawing/2014/main" id="{7C9B90C0-B69E-213A-3669-A444F3AAEB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3246" y="2423514"/>
            <a:ext cx="6816963" cy="1908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CN" altLang="en-US" sz="1800" b="1" dirty="0"/>
              <a:t>实践意义：</a:t>
            </a:r>
            <a:endParaRPr lang="en-US" altLang="zh-CN" sz="1800" b="1" dirty="0"/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zh-CN" dirty="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zh-CN" altLang="en-US" dirty="0"/>
              <a:t>为留学生回国创业</a:t>
            </a:r>
            <a:r>
              <a:rPr lang="en-US" altLang="zh-CN" dirty="0"/>
              <a:t>/</a:t>
            </a:r>
            <a:r>
              <a:rPr lang="zh-CN" altLang="en-US" dirty="0"/>
              <a:t>就业积累全栈开发经验。</a:t>
            </a:r>
            <a:endParaRPr lang="en-US" dirty="0"/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zh-CN" altLang="en-US" dirty="0"/>
              <a:t>为马来西亚中小型茶饮店提供低成本、高效率的数字化模板。</a:t>
            </a:r>
          </a:p>
        </p:txBody>
      </p:sp>
      <p:pic>
        <p:nvPicPr>
          <p:cNvPr id="28" name="Google Shape;473;p53">
            <a:extLst>
              <a:ext uri="{FF2B5EF4-FFF2-40B4-BE49-F238E27FC236}">
                <a16:creationId xmlns:a16="http://schemas.microsoft.com/office/drawing/2014/main" id="{9DC3F2D3-123E-26F3-2D33-C8F850537C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7" b="16540"/>
          <a:stretch/>
        </p:blipFill>
        <p:spPr>
          <a:xfrm>
            <a:off x="5756646" y="2876982"/>
            <a:ext cx="3387354" cy="2266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720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>
            <a:spLocks noGrp="1"/>
          </p:cNvSpPr>
          <p:nvPr>
            <p:ph type="title"/>
          </p:nvPr>
        </p:nvSpPr>
        <p:spPr>
          <a:xfrm>
            <a:off x="713225" y="863650"/>
            <a:ext cx="8430900" cy="13476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THANKS</a:t>
            </a:r>
            <a:endParaRPr dirty="0"/>
          </a:p>
        </p:txBody>
      </p:sp>
      <p:sp>
        <p:nvSpPr>
          <p:cNvPr id="405" name="Google Shape;405;p47"/>
          <p:cNvSpPr txBox="1">
            <a:spLocks noGrp="1"/>
          </p:cNvSpPr>
          <p:nvPr>
            <p:ph type="subTitle" idx="1"/>
          </p:nvPr>
        </p:nvSpPr>
        <p:spPr>
          <a:xfrm>
            <a:off x="713225" y="2360475"/>
            <a:ext cx="32577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感谢各位耐心地聆听</a:t>
            </a:r>
            <a:endParaRPr lang="en-US" altLang="zh-CN" sz="18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进入</a:t>
            </a:r>
            <a:r>
              <a:rPr lang="en-US" altLang="zh-CN" sz="1800" b="1" dirty="0"/>
              <a:t>Q&amp;A</a:t>
            </a:r>
            <a:r>
              <a:rPr lang="zh-CN" altLang="en-US" sz="1800" b="1" dirty="0"/>
              <a:t>提问</a:t>
            </a:r>
            <a:endParaRPr lang="en-US" altLang="zh-CN" sz="1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55645-FC8A-9CBA-FD14-E84DAD994338}"/>
              </a:ext>
            </a:extLst>
          </p:cNvPr>
          <p:cNvSpPr/>
          <p:nvPr/>
        </p:nvSpPr>
        <p:spPr>
          <a:xfrm>
            <a:off x="713225" y="3647300"/>
            <a:ext cx="3083712" cy="917171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1012</Words>
  <Application>Microsoft Office PowerPoint</Application>
  <PresentationFormat>On-screen Show (16:9)</PresentationFormat>
  <Paragraphs>83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Anaheim</vt:lpstr>
      <vt:lpstr>Arial</vt:lpstr>
      <vt:lpstr>Albert Sans</vt:lpstr>
      <vt:lpstr>Open Sans</vt:lpstr>
      <vt:lpstr>Archivo</vt:lpstr>
      <vt:lpstr>Raleway</vt:lpstr>
      <vt:lpstr>Social Market Economy Proposal by Slidesgo</vt:lpstr>
      <vt:lpstr>基于关联规则算法的饮品点餐小程序系统设计与实现</vt:lpstr>
      <vt:lpstr>目录</vt:lpstr>
      <vt:lpstr>引言与研究背景</vt:lpstr>
      <vt:lpstr>餐饮行业的数字化浪潮与中马市场现状对比</vt:lpstr>
      <vt:lpstr>研究问题与目标</vt:lpstr>
      <vt:lpstr>核心驱动：如何构建“更懂用户”的智慧系统</vt:lpstr>
      <vt:lpstr>文献综述</vt:lpstr>
      <vt:lpstr>学术演进：从被动工具向主动智能的跨越</vt:lpstr>
      <vt:lpstr>研究方法论</vt:lpstr>
      <vt:lpstr>技术路径：高性能后端与轻量化前端的融合</vt:lpstr>
      <vt:lpstr>算法实现：从原始订单到智慧推荐的转化</vt:lpstr>
      <vt:lpstr>核心功能</vt:lpstr>
      <vt:lpstr>技术可行性与挑战</vt:lpstr>
      <vt:lpstr>预期贡献与意义</vt:lpstr>
      <vt:lpstr>多维价值：跨文化背景下的技术赋能与创新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Yap ChaiYing</cp:lastModifiedBy>
  <cp:revision>41</cp:revision>
  <dcterms:modified xsi:type="dcterms:W3CDTF">2026-01-14T08:06:48Z</dcterms:modified>
</cp:coreProperties>
</file>