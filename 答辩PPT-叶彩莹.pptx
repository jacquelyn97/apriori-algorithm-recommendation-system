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事务数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1件</c:v>
                </c:pt>
                <c:pt idx="1">
                  <c:v>2件</c:v>
                </c:pt>
                <c:pt idx="2">
                  <c:v>3件</c:v>
                </c:pt>
                <c:pt idx="3">
                  <c:v>4件</c:v>
                </c:pt>
                <c:pt idx="4">
                  <c:v>5+件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1100</c:v>
                </c:pt>
                <c:pt idx="1">
                  <c:v>7900</c:v>
                </c:pt>
                <c:pt idx="2">
                  <c:v>2100</c:v>
                </c:pt>
                <c:pt idx="3">
                  <c:v>520</c:v>
                </c:pt>
                <c:pt idx="4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2-4F5F-BE75-BB57E48DE9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41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0"/>
            <a:ext cx="25603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25603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广东工商职业技术大学  ·  人工智能与大数据学院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0 2 6   届   本   科   毕   业   论   文   答   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基于关联规则算法的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饮品点餐小程序系统设计与实现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45720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37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kern="0" spc="300" dirty="0">
                <a:solidFill>
                  <a:srgbClr val="A8A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 辩 人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 彩 莹   YAP  CHAI  YING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大数据工程技术  ·  24大数据工程技术C2班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828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O N T E N T 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 报  目  录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1719072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5029200" cy="12344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73152" cy="1234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65960" y="25420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选题背景与意义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6596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  ·  关联规则简介  ·  研究目的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029200" cy="12344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377440"/>
            <a:ext cx="73152" cy="1234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69480" y="25420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国内外研究现状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国内研究  ·  国外研究  ·  论文框架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5029200" cy="12344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40480"/>
            <a:ext cx="73152" cy="1234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965960" y="4005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数据采集与清洗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65960" y="4498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双源数据  ·  五步清洗漏斗  ·  事务构建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029200" cy="12344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840480"/>
            <a:ext cx="73152" cy="1234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69480" y="4005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关联规则建模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4498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Apriori算法  ·  参数设计  ·  挖掘结果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5303520"/>
            <a:ext cx="5029200" cy="12344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303520"/>
            <a:ext cx="73152" cy="1234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440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965960" y="5468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模型实验与可视化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965960" y="5961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接口实验  ·  规则分级  ·  可视化系统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5303520"/>
            <a:ext cx="5029200" cy="12344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5303520"/>
            <a:ext cx="73152" cy="1234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5440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269480" y="5468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总结·创新·展望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69480" y="5961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 ·  难点不足  ·  未来改进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 ·  选题背景与意义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Research Background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1247120" cy="141732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868680" cy="8686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745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行业趋势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小程序点单成为饮品业标配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743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奶茶、咖啡、果汁门店基本都在用微信小程序接单，扫码支付让一份颗粒度完整的交易档案得以沉淀下来——这是几年前无法获取的数据。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56432"/>
            <a:ext cx="11247120" cy="141732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30752"/>
            <a:ext cx="868680" cy="8686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307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7452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数据价值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3913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订单数据中藏着真实消费偏好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4520" y="4325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哪些饮品常被一起买走、哪个时段出单最密集、哪些搭配天然更受欢迎——</a:t>
            </a:r>
            <a:r>
              <a:rPr lang="en-US" sz="1100" dirty="0" err="1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这些信息靠店员经验无法高效归纳</a:t>
            </a: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038344"/>
            <a:ext cx="11247120" cy="141732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312664"/>
            <a:ext cx="868680" cy="8686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312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874520" y="5221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技术切入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5495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关联规则天然适合搭配推荐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74520" y="59070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Apriori 以「如果买了 A 也会买 B」的形式输出结果，逻辑直白、结果易解释，特别适合饮品+小料、饮品+甜品这类场景的中小规模原型验证。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 ·  选题背景与意义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关联规则与研究目的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 &amp; Why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什么是关联规则？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743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54864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</a:t>
            </a: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  </a:t>
            </a:r>
            <a:r>
              <a:rPr lang="en-US" sz="22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</a:t>
            </a: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</a:t>
            </a:r>
            <a:r>
              <a:rPr lang="en-US" sz="1100" i="1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如果买了 A，那么也会买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是一种「方法」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用来在大量历史交易数据中，统计商品之间「同时出现」的规律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三大指标：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支持度（覆盖面）· 置信度（可信度）· 提升度（真实关联强度）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18288" cy="411480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为什么选这个课题？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92240" y="2240280"/>
            <a:ext cx="2743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468880"/>
            <a:ext cx="45720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个人背景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7614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作为留学生在中国学习生活，对推荐系统有浓厚兴趣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337560"/>
            <a:ext cx="45720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国家意义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630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推荐系统在马来西亚饮品零售领域仍有较大进步空间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45720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算法匹配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44988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研究场景数据量适中、特征较稀疏，不适合做深度学习；Apriori 更契合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59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研究意义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对商家：</a:t>
            </a: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了解客户的搭配偏好 → 推出「黄金搭配套餐」，提升客单价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对用户：</a:t>
            </a: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省时又省钱，系统直接推荐想「搭配」的商品，无需花时间去找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·  国内外研究现状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文献综述与研究切入点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00" cy="365760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  内  研  究  现  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</a:rPr>
              <a:t>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算法应用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余滔滔等 — Apriori 在餐饮菜品搭配中的应用，为套餐设计提供数据依据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</a:rPr>
              <a:t>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性能改进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汪敏等 — 事务压缩+剪枝；崔亮等 — 动态散列结合事务压缩，降低内存开销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</a:rPr>
              <a:t>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陈建美 — 将关联规则嵌入电商推荐系统，打通数据→规则→接口闭环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5486400" cy="365760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74520"/>
            <a:ext cx="5486400" cy="50292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74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  外  研  究  现  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</a:rPr>
              <a:t>▎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理论根基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8529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Agrawal &amp; Srikant (1994) — 提出 Apriori 算法，至今仍是购物篮分析经典参照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</a:rPr>
              <a:t>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餐饮实证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767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Satria 等 — Apriori vs FP-Growth 对比；Rahmatika 等 — 咖啡店菜单推荐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4389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</a:rPr>
              <a:t>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用户意愿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46817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Tan 等 — 系统/服务/信息质量显著影响外卖 App 持续使用行为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·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研究内容与技术路线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整体工作量流程图  ·  8 个主要环节环环相扣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4068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双源结构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33372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3100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3100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31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431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名称映射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431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关键词+兜底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32404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2132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42132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2132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42132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数据清洗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42132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5步漏斗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31436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1164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1164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1164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1164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事务构建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41164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购物篮化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0468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0196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0196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0196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0196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Apriori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40196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频繁项集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29500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39228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9228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9228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39228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规则分级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39228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L1→L4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28532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38260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38260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3826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3826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接口封装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9382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Flask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27564" y="2583180"/>
            <a:ext cx="100584" cy="182880"/>
          </a:xfrm>
          <a:prstGeom prst="chevron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37292" y="2103120"/>
            <a:ext cx="12801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7292" y="2103120"/>
            <a:ext cx="128016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7292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7292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337292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Chart.js+SVG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3749040"/>
            <a:ext cx="2606040" cy="14630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3749040"/>
            <a:ext cx="26060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662,797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457200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11,765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4800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原始记录  →  有效事务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37560" y="3749040"/>
            <a:ext cx="2606040" cy="14630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37560" y="3749040"/>
            <a:ext cx="2606040" cy="4572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180</a:t>
            </a:r>
            <a:endParaRPr lang="en-US" sz="3200" dirty="0"/>
          </a:p>
        </p:txBody>
      </p:sp>
      <p:sp>
        <p:nvSpPr>
          <p:cNvPr id="61" name="Text 59"/>
          <p:cNvSpPr/>
          <p:nvPr/>
        </p:nvSpPr>
        <p:spPr>
          <a:xfrm>
            <a:off x="3337560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37560" y="4800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运营周期  时间窗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17920" y="3749040"/>
            <a:ext cx="2606040" cy="14630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3749040"/>
            <a:ext cx="260604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6217920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大阶段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217920" y="4800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采集/清洗/建模/可视化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098280" y="3749040"/>
            <a:ext cx="2606040" cy="146304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98280" y="3749040"/>
            <a:ext cx="2606040" cy="4572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98280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9098280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款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098280" y="4800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自有商品目录  SKU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·  论文框架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论文整体框架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124712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4767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4767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绪  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研究背景与意义、国内外研究现状、研究内容与技术路线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相关理论与技术基础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关联规则理论、Apriori 原理、数据可视化技术、Flask 与微信小程序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124712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3639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063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数据采集与数据集构建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0632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双源数据结构、原始字段说明、数据规模（662,797 条明细）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3075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657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数据清洗与预处理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商品名称映射、5 步清洗漏斗、事务数据集构建（11,765 笔）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1124712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2511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251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关联规则模型构建与实验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2519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参数设计、频繁项集生成、规则挖掘、L1-L4 分级、接口实验、性能评估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91947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1947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4846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数据可视化与结果展示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48463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系统架构、Gold Match 模块、运营仪表盘、用户画像、搭配结果分析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440680"/>
            <a:ext cx="1124712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513832"/>
            <a:ext cx="1280160" cy="4480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51383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20240" y="5440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37760" y="5440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研究总结、研究局限、后续展望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172200"/>
            <a:ext cx="11247120" cy="228600"/>
          </a:xfrm>
          <a:prstGeom prst="rect">
            <a:avLst/>
          </a:prstGeom>
          <a:solidFill>
            <a:srgbClr val="F8F2E4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1722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本次答辩重点  ·  第三、第四、第五、第六章（数据处理 + 算法建模 + 实验 + 可视化）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·  数据处理  · 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数据采集：双源结构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4389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 据 源  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和鲸社区公开数据集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奶茶店每日订单销量  ·  Heywhale Community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数据规模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3,000 条记录（去重后 2,996 条）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字段构成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日期 / 星期 / 商品 / 天气 / 是否周末 / 是否促销 / 销量 / 客单价 / 销售额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文件格式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  ·  约 167.8 KB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数据作用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作为商品名称和消费模式的参照源，防止自有数据带入测试环境偏差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28800"/>
            <a:ext cx="73152" cy="4389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 据 源  ②   ·   主  力  数  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自研饮品点餐小程序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0" y="2651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Self-developed WeChat Mini-Program System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原始数据量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3375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order_items 明细表 662,797 条（清洗前）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字段维度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069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订单号 / 状态 / 创建时间 / 支付时间 / 商品快照 / 数量 / 行总额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526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时间跨度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800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小程序上线运营前 180 天（约半年）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2578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数据作用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532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提供事务粒度、字段丰富度、足量样本，关联规则挖掘的主力数据源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6355080"/>
            <a:ext cx="11247120" cy="9144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·  数据处理  · 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数据清洗：五步漏斗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1247120" cy="658368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0116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01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原始明细数据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975104"/>
            <a:ext cx="4023360" cy="36576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975104"/>
            <a:ext cx="4023360" cy="36576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662,797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78240" y="1901952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order_items 明细直接导出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11247120" cy="658368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78608"/>
            <a:ext cx="20116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51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871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时间窗过滤（180天）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724912"/>
            <a:ext cx="4023360" cy="36576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724912"/>
            <a:ext cx="640080" cy="36576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670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28,151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0" y="265176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4.25%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剔除半年外的历史订单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11247120" cy="658368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28416"/>
            <a:ext cx="20116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621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状态与支付过滤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474720"/>
            <a:ext cx="4023360" cy="36576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3474720"/>
            <a:ext cx="640080" cy="36576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4198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26,816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778240" y="340156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4.05%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只保留 paid / picked / done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78224"/>
            <a:ext cx="11247120" cy="658368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78224"/>
            <a:ext cx="20116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51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370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字段完整性 &amp; 去重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4224528"/>
            <a:ext cx="4023360" cy="36576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4224528"/>
            <a:ext cx="640080" cy="36576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41696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26,816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778240" y="4151376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4.05%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订单号主键约束，无重复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828032"/>
            <a:ext cx="11247120" cy="658368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828032"/>
            <a:ext cx="2011680" cy="6583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901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" y="5120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事务数据集构建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60320" y="4974336"/>
            <a:ext cx="4023360" cy="36576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4974336"/>
            <a:ext cx="640080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4919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11,765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778240" y="4901184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1.78%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按订单聚合 → 购物篮形态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·  数据处理  · 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事务数据集构建与分布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 建 方 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</a:t>
            </a: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order_id</a:t>
            </a:r>
            <a:r>
              <a:rPr lang="en-US" sz="12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对明细做 groupby 聚合，同一笔订单下的 </a:t>
            </a: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product_name_snap</a:t>
            </a:r>
            <a:r>
              <a:rPr lang="en-US" sz="12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汇总成 </a:t>
            </a: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basket_items</a:t>
            </a:r>
            <a:r>
              <a:rPr lang="en-US" sz="12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去重列表。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669280" cy="3108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108960"/>
            <a:ext cx="5669280" cy="29260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basket_items  —  前 6 条事务样例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 </a:t>
            </a:r>
            <a:r>
              <a:rPr lang="en-US" sz="1000" dirty="0">
                <a:solidFill>
                  <a:srgbClr val="E8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["椰椰生椰拿铁", "金凤乌龙奶茶"]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904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 </a:t>
            </a:r>
            <a:r>
              <a:rPr lang="en-US" sz="1000" dirty="0">
                <a:solidFill>
                  <a:srgbClr val="E8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["椰果青柠奶茶", "炸鸡块", "芝士蛋糕", "薯条"]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  </a:t>
            </a:r>
            <a:r>
              <a:rPr lang="en-US" sz="1000" dirty="0">
                <a:solidFill>
                  <a:srgbClr val="E8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["芝士蛋糕", "奥利奥脆脆奶茶"]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6725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  </a:t>
            </a:r>
            <a:r>
              <a:rPr lang="en-US" sz="1000" dirty="0">
                <a:solidFill>
                  <a:srgbClr val="E8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["多多绿茶奶茶", "薯条"]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056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  </a:t>
            </a:r>
            <a:r>
              <a:rPr lang="en-US" sz="1000" dirty="0">
                <a:solidFill>
                  <a:srgbClr val="E8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["焦糖布丁奶茶", "鸡米花"]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  </a:t>
            </a:r>
            <a:r>
              <a:rPr lang="en-US" sz="1000" dirty="0">
                <a:solidFill>
                  <a:srgbClr val="E8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["百香果绿茶", "芒果爆柠奶茶"]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 务 长 度 分 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03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横轴：单笔订单包含的商品数  ·  纵轴：事务笔数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400800" y="246888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400800" y="5577840"/>
            <a:ext cx="5303520" cy="6400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5577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  </a:t>
            </a: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绝大多数事务包含 2 件商品（近 8,000 笔），非常符合饮品门店「一杯饮品 + 一份小食」的真实消费结构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·  算法建模  ·  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Apriori 算法与参数设计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经过多轮预实验调校的参数组合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L G O R I T H 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Apriori 核 心 思 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12064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频繁项集的所有子集也一定是频繁的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 步 执 行 流 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A961"/>
                </a:solidFill>
              </a:rPr>
              <a:t>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频繁项集生成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325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扫描事务，找出满足最小支持度的 1-项集 L₁，自连接得 C₂，依次迭代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A961"/>
                </a:solidFill>
              </a:rPr>
              <a:t>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937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关联规则生成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对每个频繁项集枚举子集 A，计算 A→(L−A) 的置信度，保留达标规则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A R A M E T E R 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 数 设 计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2697480"/>
            <a:ext cx="53035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697480"/>
            <a:ext cx="73152" cy="7132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752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MIN_SUPPORT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0" y="2724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044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最小支持度  ·  筛选真正有覆盖面的规则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3493008"/>
            <a:ext cx="53035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93008"/>
            <a:ext cx="73152" cy="7132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MIN_CONFIDENCE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268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3840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最小置信度  ·  保证规则至少有一定指向性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4288536"/>
            <a:ext cx="53035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288536"/>
            <a:ext cx="73152" cy="7132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MIN_SUPPORT_ITEMSET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2688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83680" y="46360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最小项集支持度  ·  放宽项集生成阶段筛选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5084064"/>
            <a:ext cx="53035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5084064"/>
            <a:ext cx="73152" cy="7132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26880" y="5111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 1.0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583680" y="54315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提升度  ·  过滤虚假关联（如冰块类商品）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·  算法建模  ·  4.2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频繁项集挖掘结果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1-项集：单品销量排行  ·  2-项集：最常共购组合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 1-项集  ·  单品销量 Top 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87168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奥利奥脆脆奶茶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670048"/>
            <a:ext cx="1463040" cy="16459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670048"/>
            <a:ext cx="1463040" cy="164592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633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1029</a:t>
            </a: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次  ·  支持度  </a:t>
            </a: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8.3%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81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芝士蛋糕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264408"/>
            <a:ext cx="1463040" cy="16459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264408"/>
            <a:ext cx="1416120" cy="164592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996</a:t>
            </a: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次  ·  支持度  </a:t>
            </a: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薯条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3858768"/>
            <a:ext cx="1463040" cy="16459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858768"/>
            <a:ext cx="1283892" cy="164592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903</a:t>
            </a: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次  ·  支持度  </a:t>
            </a: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70248"/>
            <a:ext cx="320040" cy="320040"/>
          </a:xfrm>
          <a:prstGeom prst="ellipse">
            <a:avLst/>
          </a:prstGeom>
          <a:solidFill>
            <a:srgbClr val="E5E0D5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芒果爆柠奶茶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4453128"/>
            <a:ext cx="1463040" cy="16459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453128"/>
            <a:ext cx="1261143" cy="164592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416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887</a:t>
            </a: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次  ·  支持度  </a:t>
            </a: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7.1%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64608"/>
            <a:ext cx="320040" cy="320040"/>
          </a:xfrm>
          <a:prstGeom prst="ellipse">
            <a:avLst/>
          </a:prstGeom>
          <a:solidFill>
            <a:srgbClr val="E5E0D5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64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炸鸡块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" y="5047488"/>
            <a:ext cx="1463040" cy="16459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5047488"/>
            <a:ext cx="1255456" cy="164592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5010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883</a:t>
            </a: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次  ·  支持度  </a:t>
            </a: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7.1%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458968"/>
            <a:ext cx="320040" cy="320040"/>
          </a:xfrm>
          <a:prstGeom prst="ellipse">
            <a:avLst/>
          </a:prstGeom>
          <a:solidFill>
            <a:srgbClr val="E5E0D5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458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鸡米花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8680" y="5641848"/>
            <a:ext cx="1463040" cy="16459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" y="5641848"/>
            <a:ext cx="1201427" cy="164592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5605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845</a:t>
            </a: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次  ·  支持度  </a:t>
            </a: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6.8%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80760" y="1920240"/>
            <a:ext cx="18288" cy="420624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 2-项集  ·  商品组合 Top 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2212848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2377440"/>
            <a:ext cx="557784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1228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奥利奥脆脆奶茶</a:t>
            </a: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 </a:t>
            </a: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芝士蛋糕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12280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588 次</a:t>
            </a: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·   </a:t>
            </a:r>
            <a:r>
              <a:rPr lang="en-US" sz="10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 4.7%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3108960"/>
            <a:ext cx="5577840" cy="6400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#2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1228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多多绿茶奶茶</a:t>
            </a: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 </a:t>
            </a: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薯条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122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429 次   ·   </a:t>
            </a:r>
            <a:r>
              <a:rPr lang="en-US" sz="10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 3.4%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3840480"/>
            <a:ext cx="5577840" cy="6400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#3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1228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焦糖布丁奶茶</a:t>
            </a: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 </a:t>
            </a: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鸡米花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12280" y="4206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417 次   ·   </a:t>
            </a:r>
            <a:r>
              <a:rPr lang="en-US" sz="10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 3.3%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4572000"/>
            <a:ext cx="5577840" cy="6400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12280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炸鸡块</a:t>
            </a: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 </a:t>
            </a: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芝士奶盖抹茶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12280" y="4937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396 次   ·   </a:t>
            </a:r>
            <a:r>
              <a:rPr lang="en-US" sz="10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 3.2%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63640" y="5303520"/>
            <a:ext cx="5577840" cy="6400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5486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812280" y="5376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百香果绿茶</a:t>
            </a: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+  </a:t>
            </a: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芒果爆柠奶茶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812280" y="5669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388 次   ·   </a:t>
            </a:r>
            <a:r>
              <a:rPr lang="en-US" sz="10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 3.1%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·  算法建模  · 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关联规则挖掘结果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按置信度降序  ·  Top 6 强规则  ·  置信度 &gt; 47%  ·  提升度 &gt; 6.6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前项 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后项 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业务标签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0972800" cy="530352"/>
          </a:xfrm>
          <a:prstGeom prst="rect">
            <a:avLst/>
          </a:prstGeom>
          <a:solidFill>
            <a:srgbClr val="F8F2E4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860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芝士蛋糕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28600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286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奥利奥脆脆奶茶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4.72%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2860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59.04%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22860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66960" y="2404872"/>
            <a:ext cx="1371600" cy="292608"/>
          </a:xfrm>
          <a:prstGeom prst="rect">
            <a:avLst/>
          </a:prstGeom>
          <a:solidFill>
            <a:srgbClr val="C9A961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404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最强规则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16352"/>
            <a:ext cx="10972800" cy="530352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163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奥利奥脆脆奶茶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8163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66160" y="28163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芝士蛋糕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8163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4.72%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8163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57.14%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28163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7.15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66960" y="2935224"/>
            <a:ext cx="1371600" cy="292608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2935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对称黄金搭档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346704"/>
            <a:ext cx="10972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34670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多多绿茶奶茶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334670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</a:rPr>
              <a:t>→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566160" y="33467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薯条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34670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3.43%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334670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53.83%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0" y="334670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7.43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966960" y="3465576"/>
            <a:ext cx="1371600" cy="292608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3465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饮品+咸小吃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877056"/>
            <a:ext cx="10972800" cy="530352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8770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芝士奶盖抹茶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0" y="387705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</a:rPr>
              <a:t>→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566160" y="3877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炸鸡块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87705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3.17%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0" y="387705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53.01%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86800" y="387705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7.48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966960" y="3995928"/>
            <a:ext cx="1371600" cy="292608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66960" y="3995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饮品+咸小吃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407408"/>
            <a:ext cx="10972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40740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焦糖布丁奶茶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00400" y="44074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</a:rPr>
              <a:t>→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3566160" y="44074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鸡米花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09360" y="44074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3.34%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98080" y="44074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50.85%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86800" y="44074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7.25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966960" y="4526280"/>
            <a:ext cx="1371600" cy="292608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66960" y="4526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饮品+咸小吃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937760"/>
            <a:ext cx="10972800" cy="530352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9377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玫瑰荔枝奶茶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00400" y="49377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</a:rPr>
              <a:t>→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3566160" y="4937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甜甜圈(草莓巧克力)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309360" y="49377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2.98%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498080" y="49377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47.20%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686800" y="49377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7.66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966960" y="5056632"/>
            <a:ext cx="1371600" cy="292608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966960" y="5056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饮品+甜品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·  算法建模  · 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规则分级体系与推荐评分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L1-L4 </a:t>
            </a:r>
            <a:r>
              <a:rPr lang="en-US" sz="1200" i="1" dirty="0" err="1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四级分级</a:t>
            </a: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097280" cy="868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  </a:t>
            </a:r>
            <a:r>
              <a:rPr lang="en-US" sz="13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50%</a:t>
            </a:r>
            <a:r>
              <a:rPr lang="en-US" sz="10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提升度  </a:t>
            </a:r>
            <a:r>
              <a:rPr lang="en-US" sz="13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5.0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240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黄金搭档套餐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688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强关联  ·  可直接用于固定陈列与优先推荐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7315200" cy="8686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07208"/>
            <a:ext cx="1097280" cy="868680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0720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691640" y="2898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  </a:t>
            </a: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30%</a:t>
            </a: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提升度  </a:t>
            </a: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3.0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2186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个性化推荐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447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中等强度  ·  候选池，结合用户行为动态调权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7315200" cy="8686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1097280" cy="86868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8561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691640" y="3877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  </a:t>
            </a: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20%</a:t>
            </a: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提升度  </a:t>
            </a: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2.0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41970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陈列优化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4256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关联较弱  ·  适合结构性运营决策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764024"/>
            <a:ext cx="7315200" cy="86868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64024"/>
            <a:ext cx="1097280" cy="868680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64024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691640" y="4855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  </a:t>
            </a: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10%</a:t>
            </a: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提升度  </a:t>
            </a: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51755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探索性观察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91640" y="54041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弱规则  ·  用于发现潜在新搭配模式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55280" y="1828800"/>
            <a:ext cx="3749040" cy="3886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965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E C O M M E N 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16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推荐评分机制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8160" y="2651760"/>
            <a:ext cx="2743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880360"/>
            <a:ext cx="3383280" cy="731520"/>
          </a:xfrm>
          <a:prstGeom prst="rect">
            <a:avLst/>
          </a:prstGeom>
          <a:solidFill>
            <a:srgbClr val="2B2B2B"/>
          </a:solidFill>
          <a:ln w="1016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880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</a:t>
            </a:r>
            <a:r>
              <a:rPr lang="en-US" sz="1400" b="1" i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 b="1" i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log(lift)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38160" y="37490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兼顾两个维度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置信度 — 规则的可信度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提升度 — 关联强度（取对数避免极值主导）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 字段由 API 返回，前端按降序展示 Top N 推荐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05  ·  模型实验  ·  5.1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模型接口实验与性能评估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18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949914C-8AF0-05D4-091F-C25923FB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2797" y="1927715"/>
            <a:ext cx="7587205" cy="4089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05  ·  可视化系统  ·  5.2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数据可视化系统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Gold Match 规则视图  ·  运营仪表盘  ·  用户画像分析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749040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 ·  关联规则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2331720"/>
            <a:ext cx="9144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关联规则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商品关联网络图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SVG 自定义实现，节点围圆周排列，连线粗细映射共购频次，高频关联以粉红强调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1828800"/>
            <a:ext cx="3749040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82880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 ·  关联规则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31152" y="2331720"/>
            <a:ext cx="9144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Gold Match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62272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强规则表 + 套餐建议卡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62272" y="2834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带业务解读文本的规则表，附自动生成的「黄金搭配套餐」推荐卡片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1584" y="1828800"/>
            <a:ext cx="3749040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82880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 ·  频繁项集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753344" y="2331720"/>
            <a:ext cx="9144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53344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 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84464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 1-项集 / 2-项集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84464" y="2834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卡片式布局展示 Top 5，剩余以列表展开；显示筛选阈值，避免解读歧义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3749040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052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6.3  ·  经营数据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8960" y="4663440"/>
            <a:ext cx="9144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Chart.js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今日概览 + 14 天趋势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51663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今日营收 / 订单数 / 顾客数三大核心指标 + 营收订单双折线对比图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79392" y="4160520"/>
            <a:ext cx="3749040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9392" y="416052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6.3  ·  经营数据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31152" y="4663440"/>
            <a:ext cx="9144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双Y轴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62272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按小时销售趋势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62272" y="51663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 Y 轴图：订单量 + 销售额；明确定位中午 12-14 点、晚间 19 点两大高峰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01584" y="4160520"/>
            <a:ext cx="3749040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01584" y="416052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84464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6.4  ·  用户画像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753344" y="4663440"/>
            <a:ext cx="9144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53344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4象限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84464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性别 / 年龄 / 职业 / 城市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84464" y="51663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四象限画像分布 + 消费区域 Top 3 + 月度会员增长曲线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355080"/>
            <a:ext cx="1124712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06  ·  总结反思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 ·  难点  ·  不足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论文的亮点、遇到的挑战以及需要坦诚面对的局限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0" cy="320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749040" cy="4389120"/>
          </a:xfrm>
          <a:prstGeom prst="rect">
            <a:avLst/>
          </a:prstGeom>
          <a:solidFill>
            <a:srgbClr val="F8F2E4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7490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37490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84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 新 点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365760" cy="3657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807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双源数据结构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0815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公开数据集 + 自研小程序，通过双层映射（keyword + fallback）对齐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完整技术链路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 → 清洗 → 建模 → 接口 → 可视化一条线打通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365760" cy="3657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5001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L1-L4 分级体系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52760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让规则不止是数字，而是可直接指导运营的候选集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79392" y="1828800"/>
            <a:ext cx="3749040" cy="438912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9392" y="1828800"/>
            <a:ext cx="37490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392" y="1828800"/>
            <a:ext cx="3749040" cy="54864"/>
          </a:xfrm>
          <a:prstGeom prst="rect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1984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5C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79392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 点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07992" y="2788920"/>
            <a:ext cx="365760" cy="365760"/>
          </a:xfrm>
          <a:prstGeom prst="ellipse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65192" y="2807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数据来源限制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5192" y="30815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无法大规模现场采集数据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07992" y="3886200"/>
            <a:ext cx="365760" cy="365760"/>
          </a:xfrm>
          <a:prstGeom prst="ellipse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65192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参数调校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5192" y="4178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支持度、置信度、提升度阈值无标准答案，需多轮预实验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07992" y="4983480"/>
            <a:ext cx="365760" cy="365760"/>
          </a:xfrm>
          <a:prstGeom prst="ellipse">
            <a:avLst/>
          </a:prstGeom>
          <a:solidFill>
            <a:srgbClr val="5C3A2E"/>
          </a:solidFill>
          <a:ln w="12700">
            <a:solidFill>
              <a:srgbClr val="5C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07992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5192" y="5001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双源名称对齐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65192" y="52760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商品命名差异大（如「芋泥波波」vs「芋泥波波奶茶」）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01584" y="1828800"/>
            <a:ext cx="3749040" cy="4389120"/>
          </a:xfrm>
          <a:prstGeom prst="rect">
            <a:avLst/>
          </a:prstGeom>
          <a:solidFill>
            <a:srgbClr val="FA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01584" y="1828800"/>
            <a:ext cx="37490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01584" y="1828800"/>
            <a:ext cx="3749040" cy="54864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01584" y="1984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01584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 足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8330184" y="2788920"/>
            <a:ext cx="365760" cy="36576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0184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87384" y="2807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数据规模偏小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87384" y="30815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11,765 笔事务对长尾组合挖掘仍不够；未来可扩展时间窗或接入多门店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330184" y="3886200"/>
            <a:ext cx="365760" cy="36576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0184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787384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仅用 Apriori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87384" y="4178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性能并不突出；后续可对比 FP-Growth / Eclat 的改进版本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30184" y="4983480"/>
            <a:ext cx="365760" cy="36576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0184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787384" y="5001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推荐相对静态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787384" y="52760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尚未接入用户个体行为历史，个性化程度仍有提升空间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537960"/>
            <a:ext cx="228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叶彩莹 YAP CHAI YING  |  毕业论文答辩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A R T    0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答辩到此结束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73152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34708"/>
            <a:ext cx="11247120" cy="2377440"/>
          </a:xfrm>
          <a:prstGeom prst="rect">
            <a:avLst/>
          </a:prstGeom>
          <a:solidFill>
            <a:srgbClr val="2B2B2B"/>
          </a:solidFill>
          <a:ln w="1016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17588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57200" y="41691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  谢  各  位  老  师  的  聆  听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0" y="4717788"/>
            <a:ext cx="2743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549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kern="0" spc="3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 各 位 老 师 批 评 指 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6263640"/>
            <a:ext cx="112471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答辩人：叶彩莹 YAP CHAI YING</a:t>
            </a:r>
            <a:r>
              <a:rPr lang="en-US" sz="1100" dirty="0">
                <a:solidFill>
                  <a:srgbClr val="A8A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·      </a:t>
            </a:r>
            <a:r>
              <a:rPr lang="en-US" sz="11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指导老师：李彦登 老师</a:t>
            </a:r>
            <a:r>
              <a:rPr lang="en-US" sz="1100" dirty="0">
                <a:solidFill>
                  <a:srgbClr val="A8A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·      </a:t>
            </a:r>
            <a:r>
              <a:rPr lang="en-US" sz="1100" dirty="0">
                <a:solidFill>
                  <a:srgbClr val="E8D4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广东工商职业技术大学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1636</Words>
  <Application>Microsoft Office PowerPoint</Application>
  <PresentationFormat>Widescreen</PresentationFormat>
  <Paragraphs>477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微软雅黑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基于关联规则算法的饮品点餐小程序系统设计与实现</dc:title>
  <dc:subject>PptxGenJS Presentation</dc:subject>
  <dc:creator>叶彩莹 YAP CHAI YING</dc:creator>
  <cp:lastModifiedBy>Yap ChaiYing</cp:lastModifiedBy>
  <cp:revision>14</cp:revision>
  <dcterms:created xsi:type="dcterms:W3CDTF">2026-04-21T02:38:42Z</dcterms:created>
  <dcterms:modified xsi:type="dcterms:W3CDTF">2026-04-21T08:53:22Z</dcterms:modified>
</cp:coreProperties>
</file>