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4E6CC"/>
    <a:srgbClr val="F3E4C9"/>
    <a:srgbClr val="F9F8E0"/>
    <a:srgbClr val="FAEEDE"/>
    <a:srgbClr val="54D5E6"/>
    <a:srgbClr val="69DAE9"/>
    <a:srgbClr val="98E6F0"/>
    <a:srgbClr val="66FFFF"/>
    <a:srgbClr val="FF9999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9" d="100"/>
          <a:sy n="89" d="100"/>
        </p:scale>
        <p:origin x="466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</c:v>
                </c:pt>
              </c:strCache>
            </c:strRef>
          </c:tx>
          <c:spPr>
            <a:ln w="28575" cap="rnd">
              <a:solidFill>
                <a:schemeClr val="accent5">
                  <a:lumMod val="60000"/>
                  <a:lumOff val="40000"/>
                </a:schemeClr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Oct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20.399999999999999</c:v>
                </c:pt>
                <c:pt idx="1">
                  <c:v>29.8</c:v>
                </c:pt>
                <c:pt idx="2">
                  <c:v>23.6</c:v>
                </c:pt>
                <c:pt idx="3">
                  <c:v>28.4</c:v>
                </c:pt>
                <c:pt idx="4">
                  <c:v>38.4</c:v>
                </c:pt>
                <c:pt idx="5">
                  <c:v>41.2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C9D-4917-9991-7928711B9B49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2101202207"/>
        <c:axId val="2101202687"/>
      </c:lineChart>
      <c:catAx>
        <c:axId val="2101202207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01202687"/>
        <c:crosses val="autoZero"/>
        <c:auto val="1"/>
        <c:lblAlgn val="ctr"/>
        <c:lblOffset val="100"/>
        <c:noMultiLvlLbl val="0"/>
      </c:catAx>
      <c:valAx>
        <c:axId val="210120268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ysDot"/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01202207"/>
        <c:crossesAt val="1"/>
        <c:crossBetween val="between"/>
      </c:valAx>
      <c:spPr>
        <a:noFill/>
        <a:ln>
          <a:noFill/>
        </a:ln>
        <a:effectLst/>
      </c:spPr>
    </c:plotArea>
    <c:plotVisOnly val="1"/>
    <c:dispBlanksAs val="zero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spPr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Jul</c:v>
                </c:pt>
                <c:pt idx="1">
                  <c:v>Aug</c:v>
                </c:pt>
                <c:pt idx="2">
                  <c:v>Sep</c:v>
                </c:pt>
                <c:pt idx="3">
                  <c:v>Oct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26.3</c:v>
                </c:pt>
                <c:pt idx="1">
                  <c:v>30</c:v>
                </c:pt>
                <c:pt idx="2">
                  <c:v>41.6</c:v>
                </c:pt>
                <c:pt idx="3">
                  <c:v>43.7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9DF-4DA3-BCFC-D04831E15C2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54"/>
        <c:overlap val="-27"/>
        <c:axId val="1911051631"/>
        <c:axId val="1911048751"/>
      </c:barChart>
      <c:catAx>
        <c:axId val="1911051631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11048751"/>
        <c:crosses val="autoZero"/>
        <c:auto val="1"/>
        <c:lblAlgn val="ctr"/>
        <c:lblOffset val="100"/>
        <c:noMultiLvlLbl val="0"/>
      </c:catAx>
      <c:valAx>
        <c:axId val="191104875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ysDot"/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1105163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Percentage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9492-4F26-B0A2-4B83078F34FA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9492-4F26-B0A2-4B83078F34FA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9492-4F26-B0A2-4B83078F34FA}"/>
              </c:ext>
            </c:extLst>
          </c:dPt>
          <c:dLbls>
            <c:spPr>
              <a:solidFill>
                <a:prstClr val="white"/>
              </a:solidFill>
              <a:ln>
                <a:solidFill>
                  <a:prstClr val="black">
                    <a:lumMod val="25000"/>
                    <a:lumOff val="75000"/>
                  </a:prstClr>
                </a:solidFill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</c:ext>
            </c:extLst>
          </c:dLbls>
          <c:cat>
            <c:strRef>
              <c:f>Sheet1!$A$2:$A$4</c:f>
              <c:strCache>
                <c:ptCount val="3"/>
                <c:pt idx="0">
                  <c:v>0-17</c:v>
                </c:pt>
                <c:pt idx="1">
                  <c:v>18-35</c:v>
                </c:pt>
                <c:pt idx="2">
                  <c:v>36-58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17</c:v>
                </c:pt>
                <c:pt idx="1">
                  <c:v>45</c:v>
                </c:pt>
                <c:pt idx="2">
                  <c:v>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EAA-4C97-9D8E-EB298392020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5"/>
      </c:doughnut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Top 8 gold collocation by illustrations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项集1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2F4-4BAC-ADAA-AEB395FE67C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项集2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2F4-4BAC-ADAA-AEB395FE67C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414101568"/>
        <c:axId val="414099648"/>
      </c:barChart>
      <c:catAx>
        <c:axId val="4141015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14099648"/>
        <c:crosses val="autoZero"/>
        <c:auto val="1"/>
        <c:lblAlgn val="ctr"/>
        <c:lblOffset val="100"/>
        <c:noMultiLvlLbl val="0"/>
      </c:catAx>
      <c:valAx>
        <c:axId val="4140996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ysDot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1410156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70B70D-E003-94E9-0170-90B24463AF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3C0CDD-46C9-3FAD-B8F8-AE3FC6C954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AD8EAF-C244-2978-4171-1D23440410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DEF9F-B2A3-4077-A22C-13C02A8FEE45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4C9690-6FD2-3300-2E91-F726D72F76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4655A7-734C-1172-CD6B-267D6C5FD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61CBA-A945-4ED9-B83C-2C87EDF550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09402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92472-7D97-DBAD-8FC5-6322B6401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5CB485-61BB-3EFD-1152-0BAEF14353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F76DD7-92D1-3F0C-E250-BEB50D4576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DEF9F-B2A3-4077-A22C-13C02A8FEE45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E7E9C1-E398-4403-8966-95A094012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C470A2-F213-4879-6B0F-A636C9C29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61CBA-A945-4ED9-B83C-2C87EDF550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77699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15352-8B37-EC57-37F6-266821D468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21FC60-C4B3-2D53-E175-BF82714C02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312DCE-8AF1-6BB4-00EC-7703B28797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DEF9F-B2A3-4077-A22C-13C02A8FEE45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C9807C-6DE0-C9F2-D331-5D3419EA1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4A1291-8058-6083-D8DF-828399558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61CBA-A945-4ED9-B83C-2C87EDF550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07771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42FB3-3E10-5E82-818D-43E525CF1D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C77EA3-3E5C-9DC5-7DB5-8777FD7039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72D23E-4D8D-7314-207A-6B60DABAD8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1BB1F9-47BA-6762-A848-C8DBB26082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DEF9F-B2A3-4077-A22C-13C02A8FEE45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1D79E2-A6E1-0541-B20D-70588141C9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5E9098-F460-612C-A027-0D0340EA9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61CBA-A945-4ED9-B83C-2C87EDF550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5893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6B915-44DC-CD81-BA02-2DD295E17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A0A019-6314-B3C2-07A8-14608B1F54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627E44-9019-D68C-8C5B-1E3C8B2ED2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CA8B0BD-F759-C924-05B3-83ACF6778A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25C7A0-C5AB-C009-6A29-57EB4F2711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761A53-C3FB-9C23-3F29-9A6692484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DEF9F-B2A3-4077-A22C-13C02A8FEE45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D4C7981-B3E5-E43F-2B54-8F70B91E8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A73E3D-A2F4-989D-E429-2EBDC6D1E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61CBA-A945-4ED9-B83C-2C87EDF550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43051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DA0E6-B5CE-8A64-05EF-8B309679CD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29A167-FCF8-67B2-0D4C-8F37B73636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DEF9F-B2A3-4077-A22C-13C02A8FEE45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46A2C2-BD77-1FD5-306E-6C355DE2D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EC8FC6-307F-0166-881F-2E495CE35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61CBA-A945-4ED9-B83C-2C87EDF550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8963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06B056A-ECBA-6E86-E796-D02D2BCBEA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DEF9F-B2A3-4077-A22C-13C02A8FEE45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31CE5F4-BF71-FFAC-18C1-31829F9BD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5D3437-D704-E334-0CD1-F137F6A90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61CBA-A945-4ED9-B83C-2C87EDF550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2777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8BF64-E758-DDC2-85A2-83A112B399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9C180C-84E2-2FE7-D73F-8466F38FBA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C22E7A-F8BC-17D0-FDE5-E818BB9038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12FBC0-4BA6-0CE5-82E8-30787D320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DEF9F-B2A3-4077-A22C-13C02A8FEE45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BAAB35-D006-2CE1-393D-1CE8FE905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90E5E7-3D94-5B84-A4F4-93E98A3A4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61CBA-A945-4ED9-B83C-2C87EDF550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12629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EB4E9-F423-6353-4479-94F7926E5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9E5947-6B52-64B5-48D0-720D51D81A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266373-D606-4C67-E61E-40A4744722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95F433-044C-173A-677C-50FFA5DE9A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DEF9F-B2A3-4077-A22C-13C02A8FEE45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420EBF-A509-BED4-A65B-8790CF5F1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0A5B11-A2B9-D6B3-A46D-CAA999850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61CBA-A945-4ED9-B83C-2C87EDF550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7659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F5E2E-B17D-BE39-BD2D-7E0046F95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6F8BFE-BBB1-C087-A20F-55767C24B2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0D2CDC-58CB-6915-6E2C-E5E054DD3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DEF9F-B2A3-4077-A22C-13C02A8FEE45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4CDCD4-78F3-4D2A-A86C-41B54A555E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7AB2D4-548F-C244-AF5C-274494B78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61CBA-A945-4ED9-B83C-2C87EDF550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318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1A36EE-27F8-81BC-1FED-0AD8B176AC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2A5716-A314-1128-4E56-EA73550C27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D1F8D5-8E15-D4E2-0BDD-4FE41A102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DEF9F-B2A3-4077-A22C-13C02A8FEE45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CDE0D1-2F53-0087-4174-881B20EF70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06A102-127D-F7E3-E0BE-BF4F7B677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61CBA-A945-4ED9-B83C-2C87EDF550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3251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46ADB4A-049B-B762-B770-EA5AF4EC33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F675B5-D4C8-420A-8976-DE4BE59569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279D29-1DB0-3699-BE22-29FA0497FC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CDEF9F-B2A3-4077-A22C-13C02A8FEE45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33CBDF-8FEF-0F7C-D33C-3F423A4236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A65150-E064-04C7-926A-9A8ED00B86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161CBA-A945-4ED9-B83C-2C87EDF550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8859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chart" Target="../charts/chart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19" Type="http://schemas.openxmlformats.org/officeDocument/2006/relationships/chart" Target="../charts/chart1.xml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18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22.png"/><Relationship Id="rId2" Type="http://schemas.openxmlformats.org/officeDocument/2006/relationships/image" Target="../media/image1.png"/><Relationship Id="rId16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20.png"/><Relationship Id="rId10" Type="http://schemas.openxmlformats.org/officeDocument/2006/relationships/image" Target="../media/image9.png"/><Relationship Id="rId4" Type="http://schemas.openxmlformats.org/officeDocument/2006/relationships/image" Target="../media/image19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27.png"/><Relationship Id="rId3" Type="http://schemas.openxmlformats.org/officeDocument/2006/relationships/image" Target="../media/image18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26.png"/><Relationship Id="rId2" Type="http://schemas.openxmlformats.org/officeDocument/2006/relationships/image" Target="../media/image1.png"/><Relationship Id="rId16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23.png"/><Relationship Id="rId15" Type="http://schemas.openxmlformats.org/officeDocument/2006/relationships/image" Target="../media/image2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18.png"/><Relationship Id="rId7" Type="http://schemas.openxmlformats.org/officeDocument/2006/relationships/image" Target="../media/image6.png"/><Relationship Id="rId12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1.png"/><Relationship Id="rId5" Type="http://schemas.openxmlformats.org/officeDocument/2006/relationships/image" Target="../media/image4.png"/><Relationship Id="rId15" Type="http://schemas.openxmlformats.org/officeDocument/2006/relationships/image" Target="../media/image28.png"/><Relationship Id="rId10" Type="http://schemas.openxmlformats.org/officeDocument/2006/relationships/image" Target="../media/image10.png"/><Relationship Id="rId4" Type="http://schemas.openxmlformats.org/officeDocument/2006/relationships/image" Target="../media/image3.png"/><Relationship Id="rId9" Type="http://schemas.openxmlformats.org/officeDocument/2006/relationships/image" Target="../media/image9.png"/><Relationship Id="rId14" Type="http://schemas.openxmlformats.org/officeDocument/2006/relationships/chart" Target="../charts/chart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18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1.png"/><Relationship Id="rId5" Type="http://schemas.openxmlformats.org/officeDocument/2006/relationships/image" Target="../media/image4.png"/><Relationship Id="rId15" Type="http://schemas.openxmlformats.org/officeDocument/2006/relationships/image" Target="../media/image29.png"/><Relationship Id="rId10" Type="http://schemas.openxmlformats.org/officeDocument/2006/relationships/image" Target="../media/image10.png"/><Relationship Id="rId4" Type="http://schemas.openxmlformats.org/officeDocument/2006/relationships/image" Target="../media/image3.png"/><Relationship Id="rId9" Type="http://schemas.openxmlformats.org/officeDocument/2006/relationships/image" Target="../media/image9.png"/><Relationship Id="rId14" Type="http://schemas.openxmlformats.org/officeDocument/2006/relationships/chart" Target="../charts/chart4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3.png"/><Relationship Id="rId3" Type="http://schemas.openxmlformats.org/officeDocument/2006/relationships/image" Target="../media/image18.png"/><Relationship Id="rId7" Type="http://schemas.openxmlformats.org/officeDocument/2006/relationships/image" Target="../media/image6.png"/><Relationship Id="rId12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1.png"/><Relationship Id="rId5" Type="http://schemas.openxmlformats.org/officeDocument/2006/relationships/image" Target="../media/image4.png"/><Relationship Id="rId10" Type="http://schemas.openxmlformats.org/officeDocument/2006/relationships/image" Target="../media/image10.png"/><Relationship Id="rId4" Type="http://schemas.openxmlformats.org/officeDocument/2006/relationships/image" Target="../media/image3.png"/><Relationship Id="rId9" Type="http://schemas.openxmlformats.org/officeDocument/2006/relationships/image" Target="../media/image9.png"/><Relationship Id="rId14" Type="http://schemas.openxmlformats.org/officeDocument/2006/relationships/image" Target="../media/image3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3.png"/><Relationship Id="rId3" Type="http://schemas.openxmlformats.org/officeDocument/2006/relationships/image" Target="../media/image18.png"/><Relationship Id="rId7" Type="http://schemas.openxmlformats.org/officeDocument/2006/relationships/image" Target="../media/image6.png"/><Relationship Id="rId12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1.png"/><Relationship Id="rId5" Type="http://schemas.openxmlformats.org/officeDocument/2006/relationships/image" Target="../media/image4.png"/><Relationship Id="rId10" Type="http://schemas.openxmlformats.org/officeDocument/2006/relationships/image" Target="../media/image10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3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2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1.png"/><Relationship Id="rId2" Type="http://schemas.openxmlformats.org/officeDocument/2006/relationships/image" Target="../media/image32.jpg"/><Relationship Id="rId16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33.gif"/><Relationship Id="rId10" Type="http://schemas.openxmlformats.org/officeDocument/2006/relationships/image" Target="../media/image8.png"/><Relationship Id="rId4" Type="http://schemas.openxmlformats.org/officeDocument/2006/relationships/image" Target="../media/image18.png"/><Relationship Id="rId9" Type="http://schemas.openxmlformats.org/officeDocument/2006/relationships/image" Target="../media/image7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Rectangle: Rounded Corners 141">
            <a:extLst>
              <a:ext uri="{FF2B5EF4-FFF2-40B4-BE49-F238E27FC236}">
                <a16:creationId xmlns:a16="http://schemas.microsoft.com/office/drawing/2014/main" id="{B97F4F1A-3E1C-ED42-15F8-FD50FF737F83}"/>
              </a:ext>
            </a:extLst>
          </p:cNvPr>
          <p:cNvSpPr/>
          <p:nvPr/>
        </p:nvSpPr>
        <p:spPr>
          <a:xfrm>
            <a:off x="78776" y="704023"/>
            <a:ext cx="2236711" cy="581483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" name="Rectangle: Rounded Corners 140">
            <a:extLst>
              <a:ext uri="{FF2B5EF4-FFF2-40B4-BE49-F238E27FC236}">
                <a16:creationId xmlns:a16="http://schemas.microsoft.com/office/drawing/2014/main" id="{8791E24B-653E-F97E-5FC5-CE509584AC4E}"/>
              </a:ext>
            </a:extLst>
          </p:cNvPr>
          <p:cNvSpPr/>
          <p:nvPr/>
        </p:nvSpPr>
        <p:spPr>
          <a:xfrm>
            <a:off x="228276" y="816084"/>
            <a:ext cx="365760" cy="365760"/>
          </a:xfrm>
          <a:prstGeom prst="roundRect">
            <a:avLst/>
          </a:prstGeom>
          <a:gradFill flip="none" rotWithShape="1">
            <a:gsLst>
              <a:gs pos="58000">
                <a:srgbClr val="D735B0">
                  <a:lumMod val="95000"/>
                </a:srgbClr>
              </a:gs>
              <a:gs pos="21000">
                <a:srgbClr val="8638C7"/>
              </a:gs>
              <a:gs pos="87000">
                <a:srgbClr val="FE237E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6463A3D-CAD1-EBD5-9C33-1AC30766FAD5}"/>
              </a:ext>
            </a:extLst>
          </p:cNvPr>
          <p:cNvSpPr/>
          <p:nvPr/>
        </p:nvSpPr>
        <p:spPr>
          <a:xfrm>
            <a:off x="0" y="3177800"/>
            <a:ext cx="2394263" cy="2450592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A45370-BE93-FA91-5DF9-83EF63976B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854" y="227166"/>
            <a:ext cx="320040" cy="32004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E802EE9-1AF3-A4B9-3FB2-FA7B1E2020E4}"/>
              </a:ext>
            </a:extLst>
          </p:cNvPr>
          <p:cNvSpPr txBox="1"/>
          <p:nvPr/>
        </p:nvSpPr>
        <p:spPr>
          <a:xfrm>
            <a:off x="726807" y="227166"/>
            <a:ext cx="15461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chemeClr val="bg2">
                    <a:lumMod val="50000"/>
                  </a:schemeClr>
                </a:solidFill>
              </a:rPr>
              <a:t>UI Dashboard</a:t>
            </a:r>
            <a:endParaRPr lang="en-US" sz="1600" b="1" dirty="0">
              <a:solidFill>
                <a:schemeClr val="bg2">
                  <a:lumMod val="50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65E8F29-40BE-39AE-93A0-DB8D3E8FD81E}"/>
              </a:ext>
            </a:extLst>
          </p:cNvPr>
          <p:cNvCxnSpPr>
            <a:cxnSpLocks/>
          </p:cNvCxnSpPr>
          <p:nvPr/>
        </p:nvCxnSpPr>
        <p:spPr>
          <a:xfrm>
            <a:off x="2394263" y="295275"/>
            <a:ext cx="0" cy="6267450"/>
          </a:xfrm>
          <a:prstGeom prst="line">
            <a:avLst/>
          </a:prstGeom>
          <a:ln w="6350">
            <a:solidFill>
              <a:schemeClr val="bg2">
                <a:lumMod val="9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37B80BE6-8BB6-0D86-E2FF-104A520CBF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79714" y="870550"/>
            <a:ext cx="274320" cy="27432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1774360-8F31-3307-4A59-33598199EA68}"/>
              </a:ext>
            </a:extLst>
          </p:cNvPr>
          <p:cNvSpPr txBox="1"/>
          <p:nvPr/>
        </p:nvSpPr>
        <p:spPr>
          <a:xfrm>
            <a:off x="721093" y="864656"/>
            <a:ext cx="15461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bg2">
                    <a:lumMod val="50000"/>
                  </a:schemeClr>
                </a:solidFill>
              </a:rPr>
              <a:t>Dashboard</a:t>
            </a:r>
            <a:endParaRPr lang="en-US" sz="14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77671016-8F00-D211-D794-757F645679FD}"/>
              </a:ext>
            </a:extLst>
          </p:cNvPr>
          <p:cNvSpPr/>
          <p:nvPr/>
        </p:nvSpPr>
        <p:spPr>
          <a:xfrm>
            <a:off x="233994" y="1441156"/>
            <a:ext cx="365760" cy="36576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9128B5A-F019-7BC6-79EF-3B12AD89A4FF}"/>
              </a:ext>
            </a:extLst>
          </p:cNvPr>
          <p:cNvSpPr txBox="1"/>
          <p:nvPr/>
        </p:nvSpPr>
        <p:spPr>
          <a:xfrm>
            <a:off x="721093" y="1484610"/>
            <a:ext cx="15461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bg2">
                    <a:lumMod val="50000"/>
                  </a:schemeClr>
                </a:solidFill>
              </a:rPr>
              <a:t>Tables</a:t>
            </a:r>
            <a:endParaRPr lang="en-US" sz="1400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248F5906-7E0F-F0E5-5CA6-6541756F7F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2574" y="1509736"/>
            <a:ext cx="228600" cy="228600"/>
          </a:xfrm>
          <a:prstGeom prst="rect">
            <a:avLst/>
          </a:prstGeom>
        </p:spPr>
      </p:pic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3EC6D713-82EA-874D-D171-E4F8BE40916F}"/>
              </a:ext>
            </a:extLst>
          </p:cNvPr>
          <p:cNvSpPr/>
          <p:nvPr/>
        </p:nvSpPr>
        <p:spPr>
          <a:xfrm>
            <a:off x="233994" y="2053794"/>
            <a:ext cx="365760" cy="36576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02296BD-CD75-33B2-5485-A9626B70C48F}"/>
              </a:ext>
            </a:extLst>
          </p:cNvPr>
          <p:cNvSpPr txBox="1"/>
          <p:nvPr/>
        </p:nvSpPr>
        <p:spPr>
          <a:xfrm>
            <a:off x="721093" y="2099333"/>
            <a:ext cx="15461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bg2">
                    <a:lumMod val="50000"/>
                  </a:schemeClr>
                </a:solidFill>
              </a:rPr>
              <a:t>Incomes</a:t>
            </a:r>
            <a:endParaRPr lang="en-US" sz="1400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4A094A5E-A530-4DEA-40C8-529FC4B780E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79714" y="2104010"/>
            <a:ext cx="274320" cy="274320"/>
          </a:xfrm>
          <a:prstGeom prst="rect">
            <a:avLst/>
          </a:prstGeom>
        </p:spPr>
      </p:pic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81BDAD14-ED2F-B926-FA58-0E68AABEDFE1}"/>
              </a:ext>
            </a:extLst>
          </p:cNvPr>
          <p:cNvSpPr/>
          <p:nvPr/>
        </p:nvSpPr>
        <p:spPr>
          <a:xfrm>
            <a:off x="233994" y="2674908"/>
            <a:ext cx="365760" cy="36576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0CCDA8B-39B3-CDD2-3313-3DDBFF25C9C6}"/>
              </a:ext>
            </a:extLst>
          </p:cNvPr>
          <p:cNvSpPr txBox="1"/>
          <p:nvPr/>
        </p:nvSpPr>
        <p:spPr>
          <a:xfrm>
            <a:off x="721093" y="2723124"/>
            <a:ext cx="15461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bg2">
                    <a:lumMod val="50000"/>
                  </a:schemeClr>
                </a:solidFill>
              </a:rPr>
              <a:t>Virtualization  </a:t>
            </a:r>
            <a:r>
              <a:rPr lang="en-US" altLang="zh-CN" sz="800" dirty="0">
                <a:solidFill>
                  <a:schemeClr val="bg2">
                    <a:lumMod val="50000"/>
                  </a:schemeClr>
                </a:solidFill>
                <a:sym typeface="Wingdings 3" panose="05040102010807070707" pitchFamily="18" charset="2"/>
              </a:rPr>
              <a:t></a:t>
            </a:r>
            <a:endParaRPr lang="en-US" sz="1600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0506B572-5BC2-EFB0-6C1B-E0D191E072F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9714" y="2720628"/>
            <a:ext cx="274320" cy="274320"/>
          </a:xfrm>
          <a:prstGeom prst="rect">
            <a:avLst/>
          </a:prstGeom>
        </p:spPr>
      </p:pic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326A60AE-2E89-CEE5-FB47-2FF1D19AC722}"/>
              </a:ext>
            </a:extLst>
          </p:cNvPr>
          <p:cNvSpPr/>
          <p:nvPr/>
        </p:nvSpPr>
        <p:spPr>
          <a:xfrm>
            <a:off x="233994" y="3297360"/>
            <a:ext cx="365760" cy="36576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8042A83-E2C9-0063-9CAE-0984CBCB2D80}"/>
              </a:ext>
            </a:extLst>
          </p:cNvPr>
          <p:cNvSpPr txBox="1"/>
          <p:nvPr/>
        </p:nvSpPr>
        <p:spPr>
          <a:xfrm>
            <a:off x="730417" y="3341740"/>
            <a:ext cx="15461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bg2">
                    <a:lumMod val="50000"/>
                  </a:schemeClr>
                </a:solidFill>
              </a:rPr>
              <a:t>Customer Profile</a:t>
            </a:r>
            <a:endParaRPr lang="en-US" sz="12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0D56B70F-3F27-A251-0815-C61F4F9E8DB9}"/>
              </a:ext>
            </a:extLst>
          </p:cNvPr>
          <p:cNvSpPr/>
          <p:nvPr/>
        </p:nvSpPr>
        <p:spPr>
          <a:xfrm>
            <a:off x="233994" y="4516692"/>
            <a:ext cx="365760" cy="36576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5FD8BFA-9001-BACA-E085-90824599CC08}"/>
              </a:ext>
            </a:extLst>
          </p:cNvPr>
          <p:cNvSpPr txBox="1"/>
          <p:nvPr/>
        </p:nvSpPr>
        <p:spPr>
          <a:xfrm>
            <a:off x="730417" y="4561072"/>
            <a:ext cx="15461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bg2">
                    <a:lumMod val="50000"/>
                  </a:schemeClr>
                </a:solidFill>
              </a:rPr>
              <a:t>User Segmentation</a:t>
            </a:r>
            <a:endParaRPr lang="en-US" sz="16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5F55B823-F3DC-2E09-BDFC-6FBE61636CB3}"/>
              </a:ext>
            </a:extLst>
          </p:cNvPr>
          <p:cNvSpPr/>
          <p:nvPr/>
        </p:nvSpPr>
        <p:spPr>
          <a:xfrm>
            <a:off x="233994" y="3907026"/>
            <a:ext cx="365760" cy="36576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4627EB5-9942-03D5-454C-6CA401541DB9}"/>
              </a:ext>
            </a:extLst>
          </p:cNvPr>
          <p:cNvSpPr txBox="1"/>
          <p:nvPr/>
        </p:nvSpPr>
        <p:spPr>
          <a:xfrm>
            <a:off x="721093" y="3951406"/>
            <a:ext cx="15461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bg2">
                    <a:lumMod val="50000"/>
                  </a:schemeClr>
                </a:solidFill>
              </a:rPr>
              <a:t>Gold Match</a:t>
            </a:r>
            <a:endParaRPr lang="en-US" sz="1600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0451D753-B4D2-B306-6874-F4463210223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9714" y="3951406"/>
            <a:ext cx="274320" cy="274320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F636E43C-BFA8-B1DA-8C5D-6F268F68546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9714" y="3344419"/>
            <a:ext cx="274320" cy="27432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C6C61AB2-D22F-9104-DECA-E794B1AD6A1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9714" y="4565830"/>
            <a:ext cx="274320" cy="274320"/>
          </a:xfrm>
          <a:prstGeom prst="rect">
            <a:avLst/>
          </a:prstGeom>
        </p:spPr>
      </p:pic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DD348B09-C3BE-18DE-DC70-529960A121A1}"/>
              </a:ext>
            </a:extLst>
          </p:cNvPr>
          <p:cNvSpPr/>
          <p:nvPr/>
        </p:nvSpPr>
        <p:spPr>
          <a:xfrm>
            <a:off x="233994" y="5123679"/>
            <a:ext cx="365760" cy="36576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8BF4E00-F270-3123-9E77-B570DF3BC4A6}"/>
              </a:ext>
            </a:extLst>
          </p:cNvPr>
          <p:cNvSpPr txBox="1"/>
          <p:nvPr/>
        </p:nvSpPr>
        <p:spPr>
          <a:xfrm>
            <a:off x="730417" y="5168059"/>
            <a:ext cx="15461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bg2">
                    <a:lumMod val="50000"/>
                  </a:schemeClr>
                </a:solidFill>
              </a:rPr>
              <a:t>Real-time Sales</a:t>
            </a:r>
            <a:endParaRPr lang="en-US" sz="1600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62" name="Picture 61">
            <a:extLst>
              <a:ext uri="{FF2B5EF4-FFF2-40B4-BE49-F238E27FC236}">
                <a16:creationId xmlns:a16="http://schemas.microsoft.com/office/drawing/2014/main" id="{32457526-206D-D37D-37F4-D4DEAFE6040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79714" y="5170738"/>
            <a:ext cx="274320" cy="274320"/>
          </a:xfrm>
          <a:prstGeom prst="rect">
            <a:avLst/>
          </a:prstGeom>
        </p:spPr>
      </p:pic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7F4031DC-D78C-3036-E097-BFD5B7B60918}"/>
              </a:ext>
            </a:extLst>
          </p:cNvPr>
          <p:cNvSpPr/>
          <p:nvPr/>
        </p:nvSpPr>
        <p:spPr>
          <a:xfrm>
            <a:off x="233994" y="5733988"/>
            <a:ext cx="365760" cy="36576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25BF110-74F0-79A8-9882-0FE4DE73ACBF}"/>
              </a:ext>
            </a:extLst>
          </p:cNvPr>
          <p:cNvSpPr txBox="1"/>
          <p:nvPr/>
        </p:nvSpPr>
        <p:spPr>
          <a:xfrm>
            <a:off x="721093" y="5778368"/>
            <a:ext cx="15461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bg2">
                    <a:lumMod val="50000"/>
                  </a:schemeClr>
                </a:solidFill>
              </a:rPr>
              <a:t>Store</a:t>
            </a:r>
            <a:endParaRPr lang="en-US" sz="1600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67" name="Picture 66">
            <a:extLst>
              <a:ext uri="{FF2B5EF4-FFF2-40B4-BE49-F238E27FC236}">
                <a16:creationId xmlns:a16="http://schemas.microsoft.com/office/drawing/2014/main" id="{610ED4C1-709E-E747-FEB3-7AF7580DABC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79714" y="5778368"/>
            <a:ext cx="274320" cy="274320"/>
          </a:xfrm>
          <a:prstGeom prst="rect">
            <a:avLst/>
          </a:prstGeom>
        </p:spPr>
      </p:pic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AAFE4741-DA4C-0E71-8A57-178212DCC8D3}"/>
              </a:ext>
            </a:extLst>
          </p:cNvPr>
          <p:cNvSpPr/>
          <p:nvPr/>
        </p:nvSpPr>
        <p:spPr>
          <a:xfrm>
            <a:off x="233994" y="6356659"/>
            <a:ext cx="365760" cy="36576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296BA4F-9456-F5DB-2C37-E7C67CD3C468}"/>
              </a:ext>
            </a:extLst>
          </p:cNvPr>
          <p:cNvSpPr txBox="1"/>
          <p:nvPr/>
        </p:nvSpPr>
        <p:spPr>
          <a:xfrm>
            <a:off x="721093" y="6401039"/>
            <a:ext cx="15461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50000"/>
                  </a:schemeClr>
                </a:solidFill>
              </a:rPr>
              <a:t>Logout</a:t>
            </a:r>
            <a:endParaRPr lang="en-US" sz="1600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78" name="Picture 77">
            <a:extLst>
              <a:ext uri="{FF2B5EF4-FFF2-40B4-BE49-F238E27FC236}">
                <a16:creationId xmlns:a16="http://schemas.microsoft.com/office/drawing/2014/main" id="{38FDE838-2F45-47F6-EBEB-E08BB5B5B8A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79714" y="6401039"/>
            <a:ext cx="274320" cy="27432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0030712-A69E-9AC9-8E61-2BB85CCEAB6F}"/>
              </a:ext>
            </a:extLst>
          </p:cNvPr>
          <p:cNvSpPr txBox="1"/>
          <p:nvPr/>
        </p:nvSpPr>
        <p:spPr>
          <a:xfrm>
            <a:off x="2583683" y="163378"/>
            <a:ext cx="1923485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00" dirty="0">
                <a:solidFill>
                  <a:schemeClr val="bg2">
                    <a:lumMod val="50000"/>
                  </a:schemeClr>
                </a:solidFill>
              </a:rPr>
              <a:t>Pages  </a:t>
            </a:r>
            <a:r>
              <a:rPr lang="en-US" altLang="zh-CN" sz="1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/  Dashboard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291C9E-6587-C03C-9CD1-156F131CB0FC}"/>
              </a:ext>
            </a:extLst>
          </p:cNvPr>
          <p:cNvSpPr txBox="1"/>
          <p:nvPr/>
        </p:nvSpPr>
        <p:spPr>
          <a:xfrm>
            <a:off x="2583683" y="410046"/>
            <a:ext cx="12404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Dashboard</a:t>
            </a:r>
            <a:endParaRPr lang="en-US" sz="1400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85606C0-B37F-F4B4-768C-2A226C443817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801350" y="280291"/>
            <a:ext cx="228600" cy="2286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3A3B768-A1EA-022B-6257-7D3F41D5EA3D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144250" y="282067"/>
            <a:ext cx="228600" cy="2286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D5D16EC-D637-A4BC-B380-2A68C1397B35}"/>
              </a:ext>
            </a:extLst>
          </p:cNvPr>
          <p:cNvSpPr txBox="1"/>
          <p:nvPr/>
        </p:nvSpPr>
        <p:spPr>
          <a:xfrm>
            <a:off x="11372850" y="233297"/>
            <a:ext cx="7573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bg2">
                    <a:lumMod val="50000"/>
                  </a:schemeClr>
                </a:solidFill>
              </a:rPr>
              <a:t>Admin</a:t>
            </a:r>
            <a:endParaRPr lang="en-US" sz="14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086B0A65-9F6D-A623-7211-3D7A2FC7CA0F}"/>
              </a:ext>
            </a:extLst>
          </p:cNvPr>
          <p:cNvSpPr/>
          <p:nvPr/>
        </p:nvSpPr>
        <p:spPr>
          <a:xfrm>
            <a:off x="2580832" y="946441"/>
            <a:ext cx="2160646" cy="723315"/>
          </a:xfrm>
          <a:prstGeom prst="roundRect">
            <a:avLst>
              <a:gd name="adj" fmla="val 9524"/>
            </a:avLst>
          </a:prstGeom>
          <a:solidFill>
            <a:schemeClr val="bg1"/>
          </a:solidFill>
          <a:ln>
            <a:noFill/>
          </a:ln>
          <a:effectLst>
            <a:outerShdw blurRad="215900" dist="203200" dir="2760000" sx="95000" sy="95000" algn="tl" rotWithShape="0">
              <a:schemeClr val="bg2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1C90E8C-ABBB-8D71-D307-E5954071B6C8}"/>
              </a:ext>
            </a:extLst>
          </p:cNvPr>
          <p:cNvSpPr txBox="1"/>
          <p:nvPr/>
        </p:nvSpPr>
        <p:spPr>
          <a:xfrm>
            <a:off x="2580831" y="975816"/>
            <a:ext cx="1923485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</a:rPr>
              <a:t>Today’s Money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1611403-D309-6237-A5C2-F88FF13B4312}"/>
              </a:ext>
            </a:extLst>
          </p:cNvPr>
          <p:cNvSpPr/>
          <p:nvPr/>
        </p:nvSpPr>
        <p:spPr>
          <a:xfrm>
            <a:off x="4165697" y="1096772"/>
            <a:ext cx="457200" cy="457200"/>
          </a:xfrm>
          <a:prstGeom prst="roundRect">
            <a:avLst/>
          </a:prstGeom>
          <a:gradFill flip="none" rotWithShape="1">
            <a:gsLst>
              <a:gs pos="58000">
                <a:srgbClr val="D735B0">
                  <a:lumMod val="95000"/>
                </a:srgbClr>
              </a:gs>
              <a:gs pos="21000">
                <a:srgbClr val="8638C7"/>
              </a:gs>
              <a:gs pos="87000">
                <a:srgbClr val="FE237E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50DC2088-BCDA-DB3C-3035-E19DE12B6A81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7137" y="1188936"/>
            <a:ext cx="274320" cy="274320"/>
          </a:xfrm>
          <a:prstGeom prst="rect">
            <a:avLst/>
          </a:prstGeom>
        </p:spPr>
      </p:pic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8D5437F2-D70F-0E21-041F-1C74987807EE}"/>
              </a:ext>
            </a:extLst>
          </p:cNvPr>
          <p:cNvSpPr/>
          <p:nvPr/>
        </p:nvSpPr>
        <p:spPr>
          <a:xfrm>
            <a:off x="5004247" y="934574"/>
            <a:ext cx="2160646" cy="723315"/>
          </a:xfrm>
          <a:prstGeom prst="roundRect">
            <a:avLst>
              <a:gd name="adj" fmla="val 9524"/>
            </a:avLst>
          </a:prstGeom>
          <a:solidFill>
            <a:schemeClr val="bg1"/>
          </a:solidFill>
          <a:ln>
            <a:noFill/>
          </a:ln>
          <a:effectLst>
            <a:outerShdw blurRad="215900" dist="203200" dir="2760000" sx="95000" sy="95000" algn="tl" rotWithShape="0">
              <a:schemeClr val="bg2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C92EB503-052E-23E5-3555-00CAE7DF70EC}"/>
              </a:ext>
            </a:extLst>
          </p:cNvPr>
          <p:cNvSpPr/>
          <p:nvPr/>
        </p:nvSpPr>
        <p:spPr>
          <a:xfrm>
            <a:off x="7427662" y="946441"/>
            <a:ext cx="2160646" cy="723315"/>
          </a:xfrm>
          <a:prstGeom prst="roundRect">
            <a:avLst>
              <a:gd name="adj" fmla="val 9524"/>
            </a:avLst>
          </a:prstGeom>
          <a:solidFill>
            <a:schemeClr val="bg1"/>
          </a:solidFill>
          <a:ln>
            <a:noFill/>
          </a:ln>
          <a:effectLst>
            <a:outerShdw blurRad="215900" dist="203200" dir="2760000" sx="95000" sy="95000" algn="tl" rotWithShape="0">
              <a:schemeClr val="bg2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DDFD0135-9966-DEFB-1827-4C6EC0E09564}"/>
              </a:ext>
            </a:extLst>
          </p:cNvPr>
          <p:cNvSpPr/>
          <p:nvPr/>
        </p:nvSpPr>
        <p:spPr>
          <a:xfrm>
            <a:off x="9851077" y="946441"/>
            <a:ext cx="2160646" cy="723315"/>
          </a:xfrm>
          <a:prstGeom prst="roundRect">
            <a:avLst>
              <a:gd name="adj" fmla="val 9524"/>
            </a:avLst>
          </a:prstGeom>
          <a:solidFill>
            <a:schemeClr val="bg1"/>
          </a:solidFill>
          <a:ln>
            <a:noFill/>
          </a:ln>
          <a:effectLst>
            <a:outerShdw blurRad="215900" dist="203200" dir="2760000" sx="95000" sy="95000" algn="tl" rotWithShape="0">
              <a:schemeClr val="bg2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079390F-FDAD-6F39-1647-1CACDF465B51}"/>
              </a:ext>
            </a:extLst>
          </p:cNvPr>
          <p:cNvSpPr txBox="1"/>
          <p:nvPr/>
        </p:nvSpPr>
        <p:spPr>
          <a:xfrm>
            <a:off x="5004246" y="964386"/>
            <a:ext cx="1923485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</a:rPr>
              <a:t>Today’s Customers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B32315FE-8890-F9A1-3013-D34AECB0D048}"/>
              </a:ext>
            </a:extLst>
          </p:cNvPr>
          <p:cNvSpPr/>
          <p:nvPr/>
        </p:nvSpPr>
        <p:spPr>
          <a:xfrm>
            <a:off x="6588303" y="1096772"/>
            <a:ext cx="457200" cy="457200"/>
          </a:xfrm>
          <a:prstGeom prst="roundRect">
            <a:avLst/>
          </a:prstGeom>
          <a:gradFill flip="none" rotWithShape="1">
            <a:gsLst>
              <a:gs pos="58000">
                <a:srgbClr val="D735B0">
                  <a:lumMod val="95000"/>
                </a:srgbClr>
              </a:gs>
              <a:gs pos="21000">
                <a:srgbClr val="8638C7"/>
              </a:gs>
              <a:gs pos="87000">
                <a:srgbClr val="FE237E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0C149ACF-D22C-CD7C-6658-3800E2D4D069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3411" y="1163230"/>
            <a:ext cx="320040" cy="320040"/>
          </a:xfrm>
          <a:prstGeom prst="rect">
            <a:avLst/>
          </a:prstGeom>
        </p:spPr>
      </p:pic>
      <p:sp>
        <p:nvSpPr>
          <p:cNvPr id="60" name="TextBox 59">
            <a:extLst>
              <a:ext uri="{FF2B5EF4-FFF2-40B4-BE49-F238E27FC236}">
                <a16:creationId xmlns:a16="http://schemas.microsoft.com/office/drawing/2014/main" id="{6E1421B8-9F5C-0B77-6C4A-57B584385E6C}"/>
              </a:ext>
            </a:extLst>
          </p:cNvPr>
          <p:cNvSpPr txBox="1"/>
          <p:nvPr/>
        </p:nvSpPr>
        <p:spPr>
          <a:xfrm>
            <a:off x="7427660" y="975816"/>
            <a:ext cx="1923485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</a:rPr>
              <a:t>New Clients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DAD422A6-C291-9547-435C-BE5D01C4E2E7}"/>
              </a:ext>
            </a:extLst>
          </p:cNvPr>
          <p:cNvSpPr/>
          <p:nvPr/>
        </p:nvSpPr>
        <p:spPr>
          <a:xfrm>
            <a:off x="9012527" y="1096772"/>
            <a:ext cx="457200" cy="457200"/>
          </a:xfrm>
          <a:prstGeom prst="roundRect">
            <a:avLst/>
          </a:prstGeom>
          <a:gradFill flip="none" rotWithShape="1">
            <a:gsLst>
              <a:gs pos="58000">
                <a:srgbClr val="D735B0">
                  <a:lumMod val="95000"/>
                </a:srgbClr>
              </a:gs>
              <a:gs pos="21000">
                <a:srgbClr val="8638C7"/>
              </a:gs>
              <a:gs pos="87000">
                <a:srgbClr val="FE237E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0" name="Picture 69">
            <a:extLst>
              <a:ext uri="{FF2B5EF4-FFF2-40B4-BE49-F238E27FC236}">
                <a16:creationId xmlns:a16="http://schemas.microsoft.com/office/drawing/2014/main" id="{35C4EB38-0606-B880-8BF1-F3C2F22AE357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3967" y="1188936"/>
            <a:ext cx="274320" cy="274320"/>
          </a:xfrm>
          <a:prstGeom prst="rect">
            <a:avLst/>
          </a:prstGeom>
        </p:spPr>
      </p:pic>
      <p:sp>
        <p:nvSpPr>
          <p:cNvPr id="71" name="TextBox 70">
            <a:extLst>
              <a:ext uri="{FF2B5EF4-FFF2-40B4-BE49-F238E27FC236}">
                <a16:creationId xmlns:a16="http://schemas.microsoft.com/office/drawing/2014/main" id="{7664C978-62E2-54C9-69F8-AE332AA37650}"/>
              </a:ext>
            </a:extLst>
          </p:cNvPr>
          <p:cNvSpPr txBox="1"/>
          <p:nvPr/>
        </p:nvSpPr>
        <p:spPr>
          <a:xfrm>
            <a:off x="9851076" y="975816"/>
            <a:ext cx="1923485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</a:rPr>
              <a:t>Sales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A16B5346-5A0C-2576-94D6-0597A1FBE50C}"/>
              </a:ext>
            </a:extLst>
          </p:cNvPr>
          <p:cNvSpPr/>
          <p:nvPr/>
        </p:nvSpPr>
        <p:spPr>
          <a:xfrm>
            <a:off x="11435942" y="1100572"/>
            <a:ext cx="457200" cy="457200"/>
          </a:xfrm>
          <a:prstGeom prst="roundRect">
            <a:avLst/>
          </a:prstGeom>
          <a:gradFill flip="none" rotWithShape="1">
            <a:gsLst>
              <a:gs pos="58000">
                <a:srgbClr val="D735B0">
                  <a:lumMod val="95000"/>
                </a:srgbClr>
              </a:gs>
              <a:gs pos="21000">
                <a:srgbClr val="8638C7"/>
              </a:gs>
              <a:gs pos="87000">
                <a:srgbClr val="FE237E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5" name="Picture 74" descr="A white line drawing of a hand holding a graph&#10;&#10;AI-generated content may be incorrect.">
            <a:extLst>
              <a:ext uri="{FF2B5EF4-FFF2-40B4-BE49-F238E27FC236}">
                <a16:creationId xmlns:a16="http://schemas.microsoft.com/office/drawing/2014/main" id="{7BF5BE82-9914-06FF-C8CF-79B717A52809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27382" y="1187036"/>
            <a:ext cx="274320" cy="274320"/>
          </a:xfrm>
          <a:prstGeom prst="rect">
            <a:avLst/>
          </a:prstGeom>
        </p:spPr>
      </p:pic>
      <p:sp>
        <p:nvSpPr>
          <p:cNvPr id="76" name="Rectangle: Rounded Corners 75">
            <a:extLst>
              <a:ext uri="{FF2B5EF4-FFF2-40B4-BE49-F238E27FC236}">
                <a16:creationId xmlns:a16="http://schemas.microsoft.com/office/drawing/2014/main" id="{B7D44489-501F-AF4D-B340-FCB41B92E448}"/>
              </a:ext>
            </a:extLst>
          </p:cNvPr>
          <p:cNvSpPr/>
          <p:nvPr/>
        </p:nvSpPr>
        <p:spPr>
          <a:xfrm>
            <a:off x="2574577" y="1898374"/>
            <a:ext cx="5746461" cy="2525538"/>
          </a:xfrm>
          <a:prstGeom prst="roundRect">
            <a:avLst>
              <a:gd name="adj" fmla="val 3714"/>
            </a:avLst>
          </a:prstGeom>
          <a:solidFill>
            <a:schemeClr val="bg1"/>
          </a:solidFill>
          <a:ln>
            <a:noFill/>
          </a:ln>
          <a:effectLst>
            <a:outerShdw blurRad="215900" dist="203200" dir="2760000" sx="95000" sy="95000" algn="tl" rotWithShape="0">
              <a:schemeClr val="bg2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7" name="Rectangle: Rounded Corners 76">
            <a:extLst>
              <a:ext uri="{FF2B5EF4-FFF2-40B4-BE49-F238E27FC236}">
                <a16:creationId xmlns:a16="http://schemas.microsoft.com/office/drawing/2014/main" id="{F3BEFEB4-BCFA-5EB4-FF23-D92F4797ACC5}"/>
              </a:ext>
            </a:extLst>
          </p:cNvPr>
          <p:cNvSpPr/>
          <p:nvPr/>
        </p:nvSpPr>
        <p:spPr>
          <a:xfrm>
            <a:off x="8556529" y="1897431"/>
            <a:ext cx="3455194" cy="2525538"/>
          </a:xfrm>
          <a:prstGeom prst="roundRect">
            <a:avLst>
              <a:gd name="adj" fmla="val 4287"/>
            </a:avLst>
          </a:prstGeom>
          <a:solidFill>
            <a:schemeClr val="bg1"/>
          </a:solidFill>
          <a:ln>
            <a:noFill/>
          </a:ln>
          <a:effectLst>
            <a:outerShdw blurRad="215900" dist="203200" dir="2760000" sx="95000" sy="95000" algn="tl" rotWithShape="0">
              <a:schemeClr val="bg2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A86C1724-2601-0B8D-CA22-EB16588CDC33}"/>
              </a:ext>
            </a:extLst>
          </p:cNvPr>
          <p:cNvSpPr txBox="1"/>
          <p:nvPr/>
        </p:nvSpPr>
        <p:spPr>
          <a:xfrm>
            <a:off x="2631727" y="1916634"/>
            <a:ext cx="1923485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</a:rPr>
              <a:t>OVERVIEW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6EC18137-39DA-E6B0-FCA8-E1BB80AEFB5E}"/>
              </a:ext>
            </a:extLst>
          </p:cNvPr>
          <p:cNvSpPr txBox="1"/>
          <p:nvPr/>
        </p:nvSpPr>
        <p:spPr>
          <a:xfrm>
            <a:off x="2631726" y="2136200"/>
            <a:ext cx="1923485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</a:rPr>
              <a:t>Sales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1" name="Rectangle: Rounded Corners 80">
            <a:extLst>
              <a:ext uri="{FF2B5EF4-FFF2-40B4-BE49-F238E27FC236}">
                <a16:creationId xmlns:a16="http://schemas.microsoft.com/office/drawing/2014/main" id="{B4F276E2-7434-CFD1-DD26-F7EDBC667FD1}"/>
              </a:ext>
            </a:extLst>
          </p:cNvPr>
          <p:cNvSpPr/>
          <p:nvPr/>
        </p:nvSpPr>
        <p:spPr>
          <a:xfrm>
            <a:off x="7455143" y="2061732"/>
            <a:ext cx="733492" cy="292388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Month</a:t>
            </a:r>
          </a:p>
        </p:txBody>
      </p:sp>
      <p:sp>
        <p:nvSpPr>
          <p:cNvPr id="82" name="Rectangle: Rounded Corners 81">
            <a:extLst>
              <a:ext uri="{FF2B5EF4-FFF2-40B4-BE49-F238E27FC236}">
                <a16:creationId xmlns:a16="http://schemas.microsoft.com/office/drawing/2014/main" id="{3D0F41D3-B676-6CCB-9AAE-CA38D4E43D87}"/>
              </a:ext>
            </a:extLst>
          </p:cNvPr>
          <p:cNvSpPr/>
          <p:nvPr/>
        </p:nvSpPr>
        <p:spPr>
          <a:xfrm>
            <a:off x="6603906" y="2061732"/>
            <a:ext cx="733492" cy="29238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Week</a:t>
            </a:r>
          </a:p>
        </p:txBody>
      </p:sp>
      <p:graphicFrame>
        <p:nvGraphicFramePr>
          <p:cNvPr id="86" name="Chart 85">
            <a:extLst>
              <a:ext uri="{FF2B5EF4-FFF2-40B4-BE49-F238E27FC236}">
                <a16:creationId xmlns:a16="http://schemas.microsoft.com/office/drawing/2014/main" id="{0DE3D3E5-3EB7-EC97-7B0A-BA4D7337D96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73679127"/>
              </p:ext>
            </p:extLst>
          </p:nvPr>
        </p:nvGraphicFramePr>
        <p:xfrm>
          <a:off x="2693014" y="2481230"/>
          <a:ext cx="5509585" cy="189342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9"/>
          </a:graphicData>
        </a:graphic>
      </p:graphicFrame>
      <p:sp>
        <p:nvSpPr>
          <p:cNvPr id="87" name="TextBox 86">
            <a:extLst>
              <a:ext uri="{FF2B5EF4-FFF2-40B4-BE49-F238E27FC236}">
                <a16:creationId xmlns:a16="http://schemas.microsoft.com/office/drawing/2014/main" id="{C5552D8B-AECF-CA1E-3FD7-0259AB65C1EA}"/>
              </a:ext>
            </a:extLst>
          </p:cNvPr>
          <p:cNvSpPr txBox="1"/>
          <p:nvPr/>
        </p:nvSpPr>
        <p:spPr>
          <a:xfrm>
            <a:off x="8644251" y="1963633"/>
            <a:ext cx="1923485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</a:rPr>
              <a:t>PERFORMANCE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D478616F-5A05-C89C-1971-0EA7B10EC5B2}"/>
              </a:ext>
            </a:extLst>
          </p:cNvPr>
          <p:cNvSpPr txBox="1"/>
          <p:nvPr/>
        </p:nvSpPr>
        <p:spPr>
          <a:xfrm>
            <a:off x="8644250" y="2183199"/>
            <a:ext cx="1923485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</a:rPr>
              <a:t>Total orders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aphicFrame>
        <p:nvGraphicFramePr>
          <p:cNvPr id="91" name="Chart 90">
            <a:extLst>
              <a:ext uri="{FF2B5EF4-FFF2-40B4-BE49-F238E27FC236}">
                <a16:creationId xmlns:a16="http://schemas.microsoft.com/office/drawing/2014/main" id="{7F64BE6C-AD00-E3F1-04C3-8D32A52295F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43659267"/>
              </p:ext>
            </p:extLst>
          </p:nvPr>
        </p:nvGraphicFramePr>
        <p:xfrm>
          <a:off x="8659679" y="2477347"/>
          <a:ext cx="3248893" cy="18973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0"/>
          </a:graphicData>
        </a:graphic>
      </p:graphicFrame>
      <p:sp>
        <p:nvSpPr>
          <p:cNvPr id="92" name="Rectangle: Rounded Corners 91">
            <a:extLst>
              <a:ext uri="{FF2B5EF4-FFF2-40B4-BE49-F238E27FC236}">
                <a16:creationId xmlns:a16="http://schemas.microsoft.com/office/drawing/2014/main" id="{F34897A1-9BB4-0F83-8616-D92232BBE3E5}"/>
              </a:ext>
            </a:extLst>
          </p:cNvPr>
          <p:cNvSpPr/>
          <p:nvPr/>
        </p:nvSpPr>
        <p:spPr>
          <a:xfrm>
            <a:off x="2583683" y="4653930"/>
            <a:ext cx="4608576" cy="1986581"/>
          </a:xfrm>
          <a:prstGeom prst="roundRect">
            <a:avLst>
              <a:gd name="adj" fmla="val 3714"/>
            </a:avLst>
          </a:prstGeom>
          <a:solidFill>
            <a:schemeClr val="bg1"/>
          </a:solidFill>
          <a:ln>
            <a:noFill/>
          </a:ln>
          <a:effectLst>
            <a:outerShdw blurRad="215900" dist="203200" dir="2760000" sx="95000" sy="95000" algn="tl" rotWithShape="0">
              <a:schemeClr val="bg2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7" name="Rectangle: Rounded Corners 96">
            <a:extLst>
              <a:ext uri="{FF2B5EF4-FFF2-40B4-BE49-F238E27FC236}">
                <a16:creationId xmlns:a16="http://schemas.microsoft.com/office/drawing/2014/main" id="{E9F136B0-0DB0-4FB9-07D7-D4D68FF52C76}"/>
              </a:ext>
            </a:extLst>
          </p:cNvPr>
          <p:cNvSpPr/>
          <p:nvPr/>
        </p:nvSpPr>
        <p:spPr>
          <a:xfrm>
            <a:off x="6312011" y="4761694"/>
            <a:ext cx="733492" cy="292388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See all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D1F0D4CE-3758-791C-099B-ACEC9B51C588}"/>
              </a:ext>
            </a:extLst>
          </p:cNvPr>
          <p:cNvSpPr txBox="1"/>
          <p:nvPr/>
        </p:nvSpPr>
        <p:spPr>
          <a:xfrm>
            <a:off x="2631746" y="4691877"/>
            <a:ext cx="1923485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</a:rPr>
              <a:t>REAL-TIME REVENUE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3" name="Rectangle: Rounded Corners 102">
            <a:extLst>
              <a:ext uri="{FF2B5EF4-FFF2-40B4-BE49-F238E27FC236}">
                <a16:creationId xmlns:a16="http://schemas.microsoft.com/office/drawing/2014/main" id="{EB6E9839-DA8F-932D-1BFA-F4B744D595BB}"/>
              </a:ext>
            </a:extLst>
          </p:cNvPr>
          <p:cNvSpPr/>
          <p:nvPr/>
        </p:nvSpPr>
        <p:spPr>
          <a:xfrm>
            <a:off x="7403147" y="4649695"/>
            <a:ext cx="4608576" cy="1986581"/>
          </a:xfrm>
          <a:prstGeom prst="roundRect">
            <a:avLst>
              <a:gd name="adj" fmla="val 3714"/>
            </a:avLst>
          </a:prstGeom>
          <a:solidFill>
            <a:schemeClr val="bg1"/>
          </a:solidFill>
          <a:ln>
            <a:noFill/>
          </a:ln>
          <a:effectLst>
            <a:outerShdw blurRad="215900" dist="203200" dir="2760000" sx="95000" sy="95000" algn="tl" rotWithShape="0">
              <a:schemeClr val="bg2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4" name="Rectangle: Rounded Corners 103">
            <a:extLst>
              <a:ext uri="{FF2B5EF4-FFF2-40B4-BE49-F238E27FC236}">
                <a16:creationId xmlns:a16="http://schemas.microsoft.com/office/drawing/2014/main" id="{A98FC168-3D11-AB4E-50FA-6B27C85A128F}"/>
              </a:ext>
            </a:extLst>
          </p:cNvPr>
          <p:cNvSpPr/>
          <p:nvPr/>
        </p:nvSpPr>
        <p:spPr>
          <a:xfrm>
            <a:off x="11131475" y="4757459"/>
            <a:ext cx="733492" cy="292388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See all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9AD95E2B-74F9-E5FA-3215-B3270CAD10A2}"/>
              </a:ext>
            </a:extLst>
          </p:cNvPr>
          <p:cNvSpPr txBox="1"/>
          <p:nvPr/>
        </p:nvSpPr>
        <p:spPr>
          <a:xfrm>
            <a:off x="7451210" y="4687642"/>
            <a:ext cx="1923485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</a:rPr>
              <a:t>SOCIAL TRAFFIC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55104B7A-7FE6-9EBE-B0D3-73048F62C79B}"/>
              </a:ext>
            </a:extLst>
          </p:cNvPr>
          <p:cNvSpPr txBox="1"/>
          <p:nvPr/>
        </p:nvSpPr>
        <p:spPr>
          <a:xfrm>
            <a:off x="2628011" y="5046478"/>
            <a:ext cx="869569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/>
              <a:t>Store ID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341D9157-2022-1122-4EBC-9407E179660A}"/>
              </a:ext>
            </a:extLst>
          </p:cNvPr>
          <p:cNvSpPr txBox="1"/>
          <p:nvPr/>
        </p:nvSpPr>
        <p:spPr>
          <a:xfrm>
            <a:off x="2631726" y="5350597"/>
            <a:ext cx="109728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</a:rPr>
              <a:t>ST452162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187067C4-95BF-2B91-FD41-EF7E73CD306B}"/>
              </a:ext>
            </a:extLst>
          </p:cNvPr>
          <p:cNvSpPr txBox="1"/>
          <p:nvPr/>
        </p:nvSpPr>
        <p:spPr>
          <a:xfrm>
            <a:off x="2636830" y="5642985"/>
            <a:ext cx="109728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</a:rPr>
              <a:t>ST455486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453B59C2-B91B-1A79-52F9-96E94192140C}"/>
              </a:ext>
            </a:extLst>
          </p:cNvPr>
          <p:cNvSpPr txBox="1"/>
          <p:nvPr/>
        </p:nvSpPr>
        <p:spPr>
          <a:xfrm>
            <a:off x="2635790" y="5937866"/>
            <a:ext cx="109728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</a:rPr>
              <a:t>ST452162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E74BA397-B3B9-FF27-8E66-A80FA512B4DC}"/>
              </a:ext>
            </a:extLst>
          </p:cNvPr>
          <p:cNvSpPr txBox="1"/>
          <p:nvPr/>
        </p:nvSpPr>
        <p:spPr>
          <a:xfrm>
            <a:off x="2631726" y="6223639"/>
            <a:ext cx="109728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</a:rPr>
              <a:t>ST451256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94E46EF1-27A4-275D-349B-3C1BC4F4C7DD}"/>
              </a:ext>
            </a:extLst>
          </p:cNvPr>
          <p:cNvSpPr txBox="1"/>
          <p:nvPr/>
        </p:nvSpPr>
        <p:spPr>
          <a:xfrm>
            <a:off x="4064738" y="5049847"/>
            <a:ext cx="869569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/>
              <a:t>City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29415308-1661-7865-92DE-D5B1F2F29BE8}"/>
              </a:ext>
            </a:extLst>
          </p:cNvPr>
          <p:cNvSpPr txBox="1"/>
          <p:nvPr/>
        </p:nvSpPr>
        <p:spPr>
          <a:xfrm>
            <a:off x="4064738" y="5350972"/>
            <a:ext cx="109728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 err="1">
                <a:solidFill>
                  <a:schemeClr val="bg2">
                    <a:lumMod val="50000"/>
                  </a:schemeClr>
                </a:solidFill>
              </a:rPr>
              <a:t>Cheras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E3C774BB-1023-4D4A-27F2-A7D9D9400B24}"/>
              </a:ext>
            </a:extLst>
          </p:cNvPr>
          <p:cNvSpPr txBox="1"/>
          <p:nvPr/>
        </p:nvSpPr>
        <p:spPr>
          <a:xfrm>
            <a:off x="4060811" y="5642985"/>
            <a:ext cx="109728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</a:rPr>
              <a:t>Sri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</a:rPr>
              <a:t>Petaling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0CB191D1-60FC-AAFB-B523-BC8E59FAD3B4}"/>
              </a:ext>
            </a:extLst>
          </p:cNvPr>
          <p:cNvSpPr txBox="1"/>
          <p:nvPr/>
        </p:nvSpPr>
        <p:spPr>
          <a:xfrm>
            <a:off x="4064738" y="5937866"/>
            <a:ext cx="109728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 err="1">
                <a:solidFill>
                  <a:schemeClr val="bg2">
                    <a:lumMod val="50000"/>
                  </a:schemeClr>
                </a:solidFill>
              </a:rPr>
              <a:t>Cheras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108F6633-B084-DC1E-9B6F-13F199053333}"/>
              </a:ext>
            </a:extLst>
          </p:cNvPr>
          <p:cNvSpPr txBox="1"/>
          <p:nvPr/>
        </p:nvSpPr>
        <p:spPr>
          <a:xfrm>
            <a:off x="4060811" y="6233036"/>
            <a:ext cx="109728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</a:rPr>
              <a:t>Kuchai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AC3C190B-5478-5DB4-DE07-B8615DE02F92}"/>
              </a:ext>
            </a:extLst>
          </p:cNvPr>
          <p:cNvSpPr txBox="1"/>
          <p:nvPr/>
        </p:nvSpPr>
        <p:spPr>
          <a:xfrm>
            <a:off x="5501465" y="5046478"/>
            <a:ext cx="869569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/>
              <a:t>Sales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ECF0C1C4-C0A8-FA1F-4F47-5DC70A8E21E3}"/>
              </a:ext>
            </a:extLst>
          </p:cNvPr>
          <p:cNvSpPr txBox="1"/>
          <p:nvPr/>
        </p:nvSpPr>
        <p:spPr>
          <a:xfrm>
            <a:off x="5506626" y="5336004"/>
            <a:ext cx="109728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solidFill>
                  <a:srgbClr val="00B050"/>
                </a:solidFill>
              </a:rPr>
              <a:t>+ 200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4E9CB96B-CCAA-3B56-3527-971F71A1E10D}"/>
              </a:ext>
            </a:extLst>
          </p:cNvPr>
          <p:cNvSpPr txBox="1"/>
          <p:nvPr/>
        </p:nvSpPr>
        <p:spPr>
          <a:xfrm>
            <a:off x="5506626" y="5645671"/>
            <a:ext cx="109728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solidFill>
                  <a:srgbClr val="00B050"/>
                </a:solidFill>
              </a:rPr>
              <a:t>+ 165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C305328A-6E80-4676-3E04-0DCFF2781BD2}"/>
              </a:ext>
            </a:extLst>
          </p:cNvPr>
          <p:cNvSpPr txBox="1"/>
          <p:nvPr/>
        </p:nvSpPr>
        <p:spPr>
          <a:xfrm>
            <a:off x="5506626" y="5937866"/>
            <a:ext cx="109728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solidFill>
                  <a:srgbClr val="00B050"/>
                </a:solidFill>
              </a:rPr>
              <a:t>+ 142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8791BB72-58D7-CE14-17F4-75BD4E3D7353}"/>
              </a:ext>
            </a:extLst>
          </p:cNvPr>
          <p:cNvSpPr txBox="1"/>
          <p:nvPr/>
        </p:nvSpPr>
        <p:spPr>
          <a:xfrm>
            <a:off x="5506626" y="6232186"/>
            <a:ext cx="109728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solidFill>
                  <a:srgbClr val="00B050"/>
                </a:solidFill>
              </a:rPr>
              <a:t>+ 156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1D291483-6191-F192-CD69-9B846DB29B5F}"/>
              </a:ext>
            </a:extLst>
          </p:cNvPr>
          <p:cNvSpPr txBox="1"/>
          <p:nvPr/>
        </p:nvSpPr>
        <p:spPr>
          <a:xfrm>
            <a:off x="2588504" y="1271322"/>
            <a:ext cx="12404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RM 53,000</a:t>
            </a:r>
            <a:endParaRPr lang="en-US" sz="1400" b="1" dirty="0"/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97A449D9-9ECB-41FC-9EBE-44F36573D4D0}"/>
              </a:ext>
            </a:extLst>
          </p:cNvPr>
          <p:cNvSpPr txBox="1"/>
          <p:nvPr/>
        </p:nvSpPr>
        <p:spPr>
          <a:xfrm>
            <a:off x="3495210" y="1308448"/>
            <a:ext cx="5245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+20%</a:t>
            </a:r>
            <a:endParaRPr lang="en-US" sz="11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2B53B932-9398-F3B2-8777-5D4C51D9DE2B}"/>
              </a:ext>
            </a:extLst>
          </p:cNvPr>
          <p:cNvSpPr txBox="1"/>
          <p:nvPr/>
        </p:nvSpPr>
        <p:spPr>
          <a:xfrm>
            <a:off x="5004246" y="1286586"/>
            <a:ext cx="12404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2,300</a:t>
            </a:r>
            <a:endParaRPr lang="en-US" sz="1400" b="1" dirty="0"/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BE3E4B8A-89A3-D42C-8BCE-FB3769C75324}"/>
              </a:ext>
            </a:extLst>
          </p:cNvPr>
          <p:cNvSpPr txBox="1"/>
          <p:nvPr/>
        </p:nvSpPr>
        <p:spPr>
          <a:xfrm>
            <a:off x="5534037" y="1323250"/>
            <a:ext cx="5245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+3%</a:t>
            </a:r>
            <a:endParaRPr lang="en-US" sz="11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B4F69DD1-F689-F66C-2BE6-D6E167CF904D}"/>
              </a:ext>
            </a:extLst>
          </p:cNvPr>
          <p:cNvSpPr txBox="1"/>
          <p:nvPr/>
        </p:nvSpPr>
        <p:spPr>
          <a:xfrm>
            <a:off x="7427660" y="1286238"/>
            <a:ext cx="12404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+1,200</a:t>
            </a:r>
            <a:endParaRPr lang="en-US" sz="1400" b="1" dirty="0"/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A3F1DCD4-3D4D-EC94-017B-B53D19112517}"/>
              </a:ext>
            </a:extLst>
          </p:cNvPr>
          <p:cNvSpPr txBox="1"/>
          <p:nvPr/>
        </p:nvSpPr>
        <p:spPr>
          <a:xfrm>
            <a:off x="8028946" y="1322935"/>
            <a:ext cx="5245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b="1" dirty="0">
                <a:solidFill>
                  <a:srgbClr val="C00000"/>
                </a:solidFill>
              </a:rPr>
              <a:t>-2%</a:t>
            </a:r>
            <a:endParaRPr lang="en-US" sz="1100" b="1" dirty="0">
              <a:solidFill>
                <a:srgbClr val="C00000"/>
              </a:solidFill>
            </a:endParaRP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5A58FB44-25C8-6401-5C9E-35A3B35D2857}"/>
              </a:ext>
            </a:extLst>
          </p:cNvPr>
          <p:cNvSpPr txBox="1"/>
          <p:nvPr/>
        </p:nvSpPr>
        <p:spPr>
          <a:xfrm>
            <a:off x="9851076" y="1287267"/>
            <a:ext cx="12404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RM 13,430</a:t>
            </a:r>
            <a:endParaRPr lang="en-US" sz="1400" b="1" dirty="0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81F0827D-5AC9-C709-EAE3-3F02A6880100}"/>
              </a:ext>
            </a:extLst>
          </p:cNvPr>
          <p:cNvSpPr txBox="1"/>
          <p:nvPr/>
        </p:nvSpPr>
        <p:spPr>
          <a:xfrm>
            <a:off x="10749288" y="1323250"/>
            <a:ext cx="5245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+5%</a:t>
            </a:r>
            <a:endParaRPr lang="en-US" sz="11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609C2F5B-7920-E055-528A-6C086E6F5F7F}"/>
              </a:ext>
            </a:extLst>
          </p:cNvPr>
          <p:cNvSpPr txBox="1"/>
          <p:nvPr/>
        </p:nvSpPr>
        <p:spPr>
          <a:xfrm>
            <a:off x="7451470" y="5062166"/>
            <a:ext cx="869569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/>
              <a:t>Referral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EA36CF39-4F0A-3AB3-5BDE-C126C648D9EE}"/>
              </a:ext>
            </a:extLst>
          </p:cNvPr>
          <p:cNvSpPr txBox="1"/>
          <p:nvPr/>
        </p:nvSpPr>
        <p:spPr>
          <a:xfrm>
            <a:off x="7455185" y="5366285"/>
            <a:ext cx="109728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</a:rPr>
              <a:t>Facebook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36FD8351-CD6A-DBBD-EDA1-CD0BFABDDDCC}"/>
              </a:ext>
            </a:extLst>
          </p:cNvPr>
          <p:cNvSpPr txBox="1"/>
          <p:nvPr/>
        </p:nvSpPr>
        <p:spPr>
          <a:xfrm>
            <a:off x="7460289" y="5658673"/>
            <a:ext cx="109728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</a:rPr>
              <a:t>Google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074DC4E3-947B-788C-13A3-0A5F8990BF2C}"/>
              </a:ext>
            </a:extLst>
          </p:cNvPr>
          <p:cNvSpPr txBox="1"/>
          <p:nvPr/>
        </p:nvSpPr>
        <p:spPr>
          <a:xfrm>
            <a:off x="7459249" y="5953554"/>
            <a:ext cx="109728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</a:rPr>
              <a:t>Instagram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15670C51-0036-75AC-0B88-1DC7BECD2502}"/>
              </a:ext>
            </a:extLst>
          </p:cNvPr>
          <p:cNvSpPr txBox="1"/>
          <p:nvPr/>
        </p:nvSpPr>
        <p:spPr>
          <a:xfrm>
            <a:off x="7455185" y="6239327"/>
            <a:ext cx="109728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</a:rPr>
              <a:t>Twitter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AB2BECEB-4D4E-3C89-23BD-9934BCD81754}"/>
              </a:ext>
            </a:extLst>
          </p:cNvPr>
          <p:cNvSpPr txBox="1"/>
          <p:nvPr/>
        </p:nvSpPr>
        <p:spPr>
          <a:xfrm>
            <a:off x="9002497" y="5065535"/>
            <a:ext cx="869569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/>
              <a:t>Visitors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E179186F-52B1-1BA6-99D3-36A533824CA2}"/>
              </a:ext>
            </a:extLst>
          </p:cNvPr>
          <p:cNvSpPr txBox="1"/>
          <p:nvPr/>
        </p:nvSpPr>
        <p:spPr>
          <a:xfrm>
            <a:off x="9002497" y="5366660"/>
            <a:ext cx="109728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</a:rPr>
              <a:t>7,659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0131839B-BB8F-3D6C-550E-C4170EA98DB7}"/>
              </a:ext>
            </a:extLst>
          </p:cNvPr>
          <p:cNvSpPr txBox="1"/>
          <p:nvPr/>
        </p:nvSpPr>
        <p:spPr>
          <a:xfrm>
            <a:off x="8998570" y="5658673"/>
            <a:ext cx="109728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</a:rPr>
              <a:t>10,879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03A6B8CC-789C-B383-74AA-F884D6BAE861}"/>
              </a:ext>
            </a:extLst>
          </p:cNvPr>
          <p:cNvSpPr txBox="1"/>
          <p:nvPr/>
        </p:nvSpPr>
        <p:spPr>
          <a:xfrm>
            <a:off x="9002497" y="5953554"/>
            <a:ext cx="109728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</a:rPr>
              <a:t>5,671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00096DEC-4A7B-DFDC-D05A-FB265EAE6892}"/>
              </a:ext>
            </a:extLst>
          </p:cNvPr>
          <p:cNvSpPr txBox="1"/>
          <p:nvPr/>
        </p:nvSpPr>
        <p:spPr>
          <a:xfrm>
            <a:off x="8998570" y="6248724"/>
            <a:ext cx="109728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</a:rPr>
              <a:t>3,426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75828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Rectangle: Rounded Corners 113">
            <a:extLst>
              <a:ext uri="{FF2B5EF4-FFF2-40B4-BE49-F238E27FC236}">
                <a16:creationId xmlns:a16="http://schemas.microsoft.com/office/drawing/2014/main" id="{BFB4BD2F-A019-7FC6-6A58-418846E5B38A}"/>
              </a:ext>
            </a:extLst>
          </p:cNvPr>
          <p:cNvSpPr/>
          <p:nvPr/>
        </p:nvSpPr>
        <p:spPr>
          <a:xfrm>
            <a:off x="84313" y="1333358"/>
            <a:ext cx="2236711" cy="581483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Rectangle: Rounded Corners 112">
            <a:extLst>
              <a:ext uri="{FF2B5EF4-FFF2-40B4-BE49-F238E27FC236}">
                <a16:creationId xmlns:a16="http://schemas.microsoft.com/office/drawing/2014/main" id="{024B3AE6-8791-DEA3-3272-8E57E3E493E2}"/>
              </a:ext>
            </a:extLst>
          </p:cNvPr>
          <p:cNvSpPr/>
          <p:nvPr/>
        </p:nvSpPr>
        <p:spPr>
          <a:xfrm>
            <a:off x="228276" y="1440540"/>
            <a:ext cx="365760" cy="365760"/>
          </a:xfrm>
          <a:prstGeom prst="roundRect">
            <a:avLst/>
          </a:prstGeom>
          <a:gradFill flip="none" rotWithShape="1">
            <a:gsLst>
              <a:gs pos="58000">
                <a:srgbClr val="D735B0">
                  <a:lumMod val="95000"/>
                </a:srgbClr>
              </a:gs>
              <a:gs pos="21000">
                <a:srgbClr val="8638C7"/>
              </a:gs>
              <a:gs pos="87000">
                <a:srgbClr val="FE237E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6463A3D-CAD1-EBD5-9C33-1AC30766FAD5}"/>
              </a:ext>
            </a:extLst>
          </p:cNvPr>
          <p:cNvSpPr/>
          <p:nvPr/>
        </p:nvSpPr>
        <p:spPr>
          <a:xfrm>
            <a:off x="0" y="3177800"/>
            <a:ext cx="2394263" cy="2450592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A45370-BE93-FA91-5DF9-83EF63976B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854" y="227166"/>
            <a:ext cx="320040" cy="32004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E802EE9-1AF3-A4B9-3FB2-FA7B1E2020E4}"/>
              </a:ext>
            </a:extLst>
          </p:cNvPr>
          <p:cNvSpPr txBox="1"/>
          <p:nvPr/>
        </p:nvSpPr>
        <p:spPr>
          <a:xfrm>
            <a:off x="726807" y="227166"/>
            <a:ext cx="15461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chemeClr val="bg2">
                    <a:lumMod val="50000"/>
                  </a:schemeClr>
                </a:solidFill>
              </a:rPr>
              <a:t>UI Dashboard</a:t>
            </a:r>
            <a:endParaRPr lang="en-US" sz="1600" b="1" dirty="0">
              <a:solidFill>
                <a:schemeClr val="bg2">
                  <a:lumMod val="50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65E8F29-40BE-39AE-93A0-DB8D3E8FD81E}"/>
              </a:ext>
            </a:extLst>
          </p:cNvPr>
          <p:cNvCxnSpPr>
            <a:cxnSpLocks/>
          </p:cNvCxnSpPr>
          <p:nvPr/>
        </p:nvCxnSpPr>
        <p:spPr>
          <a:xfrm>
            <a:off x="2394263" y="295275"/>
            <a:ext cx="0" cy="6267450"/>
          </a:xfrm>
          <a:prstGeom prst="line">
            <a:avLst/>
          </a:prstGeom>
          <a:ln w="6350">
            <a:solidFill>
              <a:schemeClr val="bg2">
                <a:lumMod val="9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D4C0878-8D53-F3DC-CAC1-64E20C58E45E}"/>
              </a:ext>
            </a:extLst>
          </p:cNvPr>
          <p:cNvSpPr/>
          <p:nvPr/>
        </p:nvSpPr>
        <p:spPr>
          <a:xfrm>
            <a:off x="233994" y="824830"/>
            <a:ext cx="365760" cy="36576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7B80BE6-8BB6-0D86-E2FF-104A520CBF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714" y="870550"/>
            <a:ext cx="274320" cy="27432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1774360-8F31-3307-4A59-33598199EA68}"/>
              </a:ext>
            </a:extLst>
          </p:cNvPr>
          <p:cNvSpPr txBox="1"/>
          <p:nvPr/>
        </p:nvSpPr>
        <p:spPr>
          <a:xfrm>
            <a:off x="721093" y="864656"/>
            <a:ext cx="15461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bg2">
                    <a:lumMod val="50000"/>
                  </a:schemeClr>
                </a:solidFill>
              </a:rPr>
              <a:t>Dashboard</a:t>
            </a:r>
            <a:endParaRPr lang="en-US" sz="14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9128B5A-F019-7BC6-79EF-3B12AD89A4FF}"/>
              </a:ext>
            </a:extLst>
          </p:cNvPr>
          <p:cNvSpPr txBox="1"/>
          <p:nvPr/>
        </p:nvSpPr>
        <p:spPr>
          <a:xfrm>
            <a:off x="721093" y="1484610"/>
            <a:ext cx="15461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bg2">
                    <a:lumMod val="50000"/>
                  </a:schemeClr>
                </a:solidFill>
              </a:rPr>
              <a:t>Tables</a:t>
            </a:r>
            <a:endParaRPr lang="en-US" sz="1400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248F5906-7E0F-F0E5-5CA6-6541756F7F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2574" y="1509736"/>
            <a:ext cx="228600" cy="228600"/>
          </a:xfrm>
          <a:prstGeom prst="rect">
            <a:avLst/>
          </a:prstGeom>
        </p:spPr>
      </p:pic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3EC6D713-82EA-874D-D171-E4F8BE40916F}"/>
              </a:ext>
            </a:extLst>
          </p:cNvPr>
          <p:cNvSpPr/>
          <p:nvPr/>
        </p:nvSpPr>
        <p:spPr>
          <a:xfrm>
            <a:off x="233994" y="2053794"/>
            <a:ext cx="365760" cy="36576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02296BD-CD75-33B2-5485-A9626B70C48F}"/>
              </a:ext>
            </a:extLst>
          </p:cNvPr>
          <p:cNvSpPr txBox="1"/>
          <p:nvPr/>
        </p:nvSpPr>
        <p:spPr>
          <a:xfrm>
            <a:off x="721093" y="2099333"/>
            <a:ext cx="15461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bg2">
                    <a:lumMod val="50000"/>
                  </a:schemeClr>
                </a:solidFill>
              </a:rPr>
              <a:t>Incomes</a:t>
            </a:r>
            <a:endParaRPr lang="en-US" sz="1400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4A094A5E-A530-4DEA-40C8-529FC4B780E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79714" y="2104010"/>
            <a:ext cx="274320" cy="274320"/>
          </a:xfrm>
          <a:prstGeom prst="rect">
            <a:avLst/>
          </a:prstGeom>
        </p:spPr>
      </p:pic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81BDAD14-ED2F-B926-FA58-0E68AABEDFE1}"/>
              </a:ext>
            </a:extLst>
          </p:cNvPr>
          <p:cNvSpPr/>
          <p:nvPr/>
        </p:nvSpPr>
        <p:spPr>
          <a:xfrm>
            <a:off x="233994" y="2674908"/>
            <a:ext cx="365760" cy="36576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0CCDA8B-39B3-CDD2-3313-3DDBFF25C9C6}"/>
              </a:ext>
            </a:extLst>
          </p:cNvPr>
          <p:cNvSpPr txBox="1"/>
          <p:nvPr/>
        </p:nvSpPr>
        <p:spPr>
          <a:xfrm>
            <a:off x="721093" y="2723124"/>
            <a:ext cx="15461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bg2">
                    <a:lumMod val="50000"/>
                  </a:schemeClr>
                </a:solidFill>
              </a:rPr>
              <a:t>Virtualization  </a:t>
            </a:r>
            <a:r>
              <a:rPr lang="en-US" altLang="zh-CN" sz="800" dirty="0">
                <a:solidFill>
                  <a:schemeClr val="bg2">
                    <a:lumMod val="50000"/>
                  </a:schemeClr>
                </a:solidFill>
                <a:sym typeface="Wingdings 3" panose="05040102010807070707" pitchFamily="18" charset="2"/>
              </a:rPr>
              <a:t></a:t>
            </a:r>
            <a:endParaRPr lang="en-US" sz="1600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0506B572-5BC2-EFB0-6C1B-E0D191E072F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9714" y="2720628"/>
            <a:ext cx="274320" cy="274320"/>
          </a:xfrm>
          <a:prstGeom prst="rect">
            <a:avLst/>
          </a:prstGeom>
        </p:spPr>
      </p:pic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326A60AE-2E89-CEE5-FB47-2FF1D19AC722}"/>
              </a:ext>
            </a:extLst>
          </p:cNvPr>
          <p:cNvSpPr/>
          <p:nvPr/>
        </p:nvSpPr>
        <p:spPr>
          <a:xfrm>
            <a:off x="233994" y="3297360"/>
            <a:ext cx="365760" cy="36576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8042A83-E2C9-0063-9CAE-0984CBCB2D80}"/>
              </a:ext>
            </a:extLst>
          </p:cNvPr>
          <p:cNvSpPr txBox="1"/>
          <p:nvPr/>
        </p:nvSpPr>
        <p:spPr>
          <a:xfrm>
            <a:off x="730417" y="3341740"/>
            <a:ext cx="15461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bg2">
                    <a:lumMod val="50000"/>
                  </a:schemeClr>
                </a:solidFill>
              </a:rPr>
              <a:t>Customer Profile</a:t>
            </a:r>
            <a:endParaRPr lang="en-US" sz="12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0D56B70F-3F27-A251-0815-C61F4F9E8DB9}"/>
              </a:ext>
            </a:extLst>
          </p:cNvPr>
          <p:cNvSpPr/>
          <p:nvPr/>
        </p:nvSpPr>
        <p:spPr>
          <a:xfrm>
            <a:off x="233994" y="4516692"/>
            <a:ext cx="365760" cy="36576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5FD8BFA-9001-BACA-E085-90824599CC08}"/>
              </a:ext>
            </a:extLst>
          </p:cNvPr>
          <p:cNvSpPr txBox="1"/>
          <p:nvPr/>
        </p:nvSpPr>
        <p:spPr>
          <a:xfrm>
            <a:off x="730417" y="4561072"/>
            <a:ext cx="15461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bg2">
                    <a:lumMod val="50000"/>
                  </a:schemeClr>
                </a:solidFill>
              </a:rPr>
              <a:t>User Segmentation</a:t>
            </a:r>
            <a:endParaRPr lang="en-US" sz="16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5F55B823-F3DC-2E09-BDFC-6FBE61636CB3}"/>
              </a:ext>
            </a:extLst>
          </p:cNvPr>
          <p:cNvSpPr/>
          <p:nvPr/>
        </p:nvSpPr>
        <p:spPr>
          <a:xfrm>
            <a:off x="233994" y="3907026"/>
            <a:ext cx="365760" cy="36576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4627EB5-9942-03D5-454C-6CA401541DB9}"/>
              </a:ext>
            </a:extLst>
          </p:cNvPr>
          <p:cNvSpPr txBox="1"/>
          <p:nvPr/>
        </p:nvSpPr>
        <p:spPr>
          <a:xfrm>
            <a:off x="721093" y="3951406"/>
            <a:ext cx="15461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bg2">
                    <a:lumMod val="50000"/>
                  </a:schemeClr>
                </a:solidFill>
              </a:rPr>
              <a:t>Gold Match</a:t>
            </a:r>
            <a:endParaRPr lang="en-US" sz="1600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0451D753-B4D2-B306-6874-F4463210223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9714" y="3951406"/>
            <a:ext cx="274320" cy="274320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F636E43C-BFA8-B1DA-8C5D-6F268F68546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9714" y="3344419"/>
            <a:ext cx="274320" cy="27432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C6C61AB2-D22F-9104-DECA-E794B1AD6A1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9714" y="4565830"/>
            <a:ext cx="274320" cy="274320"/>
          </a:xfrm>
          <a:prstGeom prst="rect">
            <a:avLst/>
          </a:prstGeom>
        </p:spPr>
      </p:pic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DD348B09-C3BE-18DE-DC70-529960A121A1}"/>
              </a:ext>
            </a:extLst>
          </p:cNvPr>
          <p:cNvSpPr/>
          <p:nvPr/>
        </p:nvSpPr>
        <p:spPr>
          <a:xfrm>
            <a:off x="233994" y="5123679"/>
            <a:ext cx="365760" cy="36576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8BF4E00-F270-3123-9E77-B570DF3BC4A6}"/>
              </a:ext>
            </a:extLst>
          </p:cNvPr>
          <p:cNvSpPr txBox="1"/>
          <p:nvPr/>
        </p:nvSpPr>
        <p:spPr>
          <a:xfrm>
            <a:off x="730417" y="5168059"/>
            <a:ext cx="15461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bg2">
                    <a:lumMod val="50000"/>
                  </a:schemeClr>
                </a:solidFill>
              </a:rPr>
              <a:t>Real-time Sales</a:t>
            </a:r>
            <a:endParaRPr lang="en-US" sz="1600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62" name="Picture 61">
            <a:extLst>
              <a:ext uri="{FF2B5EF4-FFF2-40B4-BE49-F238E27FC236}">
                <a16:creationId xmlns:a16="http://schemas.microsoft.com/office/drawing/2014/main" id="{32457526-206D-D37D-37F4-D4DEAFE6040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79714" y="5170738"/>
            <a:ext cx="274320" cy="274320"/>
          </a:xfrm>
          <a:prstGeom prst="rect">
            <a:avLst/>
          </a:prstGeom>
        </p:spPr>
      </p:pic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7F4031DC-D78C-3036-E097-BFD5B7B60918}"/>
              </a:ext>
            </a:extLst>
          </p:cNvPr>
          <p:cNvSpPr/>
          <p:nvPr/>
        </p:nvSpPr>
        <p:spPr>
          <a:xfrm>
            <a:off x="233994" y="5733988"/>
            <a:ext cx="365760" cy="36576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25BF110-74F0-79A8-9882-0FE4DE73ACBF}"/>
              </a:ext>
            </a:extLst>
          </p:cNvPr>
          <p:cNvSpPr txBox="1"/>
          <p:nvPr/>
        </p:nvSpPr>
        <p:spPr>
          <a:xfrm>
            <a:off x="721093" y="5778368"/>
            <a:ext cx="15461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bg2">
                    <a:lumMod val="50000"/>
                  </a:schemeClr>
                </a:solidFill>
              </a:rPr>
              <a:t>Store</a:t>
            </a:r>
            <a:endParaRPr lang="en-US" sz="1600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67" name="Picture 66">
            <a:extLst>
              <a:ext uri="{FF2B5EF4-FFF2-40B4-BE49-F238E27FC236}">
                <a16:creationId xmlns:a16="http://schemas.microsoft.com/office/drawing/2014/main" id="{610ED4C1-709E-E747-FEB3-7AF7580DABC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79714" y="5778368"/>
            <a:ext cx="274320" cy="274320"/>
          </a:xfrm>
          <a:prstGeom prst="rect">
            <a:avLst/>
          </a:prstGeom>
        </p:spPr>
      </p:pic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AAFE4741-DA4C-0E71-8A57-178212DCC8D3}"/>
              </a:ext>
            </a:extLst>
          </p:cNvPr>
          <p:cNvSpPr/>
          <p:nvPr/>
        </p:nvSpPr>
        <p:spPr>
          <a:xfrm>
            <a:off x="233994" y="6356659"/>
            <a:ext cx="365760" cy="36576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296BA4F-9456-F5DB-2C37-E7C67CD3C468}"/>
              </a:ext>
            </a:extLst>
          </p:cNvPr>
          <p:cNvSpPr txBox="1"/>
          <p:nvPr/>
        </p:nvSpPr>
        <p:spPr>
          <a:xfrm>
            <a:off x="721093" y="6401039"/>
            <a:ext cx="15461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50000"/>
                  </a:schemeClr>
                </a:solidFill>
              </a:rPr>
              <a:t>Logout</a:t>
            </a:r>
            <a:endParaRPr lang="en-US" sz="1600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78" name="Picture 77">
            <a:extLst>
              <a:ext uri="{FF2B5EF4-FFF2-40B4-BE49-F238E27FC236}">
                <a16:creationId xmlns:a16="http://schemas.microsoft.com/office/drawing/2014/main" id="{38FDE838-2F45-47F6-EBEB-E08BB5B5B8A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79714" y="6401039"/>
            <a:ext cx="274320" cy="27432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A33CEA1B-8EA7-D5FC-5F25-E8E7F7D2B89E}"/>
              </a:ext>
            </a:extLst>
          </p:cNvPr>
          <p:cNvSpPr txBox="1"/>
          <p:nvPr/>
        </p:nvSpPr>
        <p:spPr>
          <a:xfrm>
            <a:off x="2583683" y="163378"/>
            <a:ext cx="1923485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00" dirty="0">
                <a:solidFill>
                  <a:schemeClr val="bg2">
                    <a:lumMod val="50000"/>
                  </a:schemeClr>
                </a:solidFill>
              </a:rPr>
              <a:t>Pages  </a:t>
            </a:r>
            <a:r>
              <a:rPr lang="en-US" altLang="zh-CN" sz="1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/  Tables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54EAFCD-8F5A-D1EB-90B2-E66E301A2C63}"/>
              </a:ext>
            </a:extLst>
          </p:cNvPr>
          <p:cNvSpPr txBox="1"/>
          <p:nvPr/>
        </p:nvSpPr>
        <p:spPr>
          <a:xfrm>
            <a:off x="2583683" y="410046"/>
            <a:ext cx="12404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Tables</a:t>
            </a:r>
            <a:endParaRPr lang="en-US" sz="1400" b="1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8443DEA4-1144-01E2-0DCB-888CBC00F4AA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801350" y="280291"/>
            <a:ext cx="228600" cy="22860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E44A43CC-0F9C-CF55-D4E2-D5FD02E23F8D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144250" y="282067"/>
            <a:ext cx="228600" cy="228600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DE9CE401-2F36-75F5-FE00-7BA40C94C548}"/>
              </a:ext>
            </a:extLst>
          </p:cNvPr>
          <p:cNvSpPr txBox="1"/>
          <p:nvPr/>
        </p:nvSpPr>
        <p:spPr>
          <a:xfrm>
            <a:off x="11372850" y="233297"/>
            <a:ext cx="7573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bg2">
                    <a:lumMod val="50000"/>
                  </a:schemeClr>
                </a:solidFill>
              </a:rPr>
              <a:t>Admin</a:t>
            </a:r>
            <a:endParaRPr lang="en-US" sz="14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3E4F3EC-A250-6131-075B-C889ED154674}"/>
              </a:ext>
            </a:extLst>
          </p:cNvPr>
          <p:cNvSpPr/>
          <p:nvPr/>
        </p:nvSpPr>
        <p:spPr>
          <a:xfrm>
            <a:off x="2580830" y="946441"/>
            <a:ext cx="9430891" cy="2350919"/>
          </a:xfrm>
          <a:prstGeom prst="roundRect">
            <a:avLst>
              <a:gd name="adj" fmla="val 3714"/>
            </a:avLst>
          </a:prstGeom>
          <a:solidFill>
            <a:schemeClr val="bg1"/>
          </a:solidFill>
          <a:ln>
            <a:noFill/>
          </a:ln>
          <a:effectLst>
            <a:outerShdw blurRad="215900" dist="203200" dir="2760000" sx="95000" sy="95000" algn="tl" rotWithShape="0">
              <a:schemeClr val="bg2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D37396-D3A6-0BEE-E5EA-252E3C98AD1C}"/>
              </a:ext>
            </a:extLst>
          </p:cNvPr>
          <p:cNvSpPr txBox="1"/>
          <p:nvPr/>
        </p:nvSpPr>
        <p:spPr>
          <a:xfrm>
            <a:off x="2631727" y="967944"/>
            <a:ext cx="1923485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</a:rPr>
              <a:t>MANAGER TABLE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AA09EC4-09E1-0C9F-7BC0-77AE66984862}"/>
              </a:ext>
            </a:extLst>
          </p:cNvPr>
          <p:cNvSpPr txBox="1"/>
          <p:nvPr/>
        </p:nvSpPr>
        <p:spPr>
          <a:xfrm>
            <a:off x="2628011" y="1320298"/>
            <a:ext cx="869569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/>
              <a:t>Manager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9E865BE-4889-961A-DDB7-1D481D36F74F}"/>
              </a:ext>
            </a:extLst>
          </p:cNvPr>
          <p:cNvSpPr txBox="1"/>
          <p:nvPr/>
        </p:nvSpPr>
        <p:spPr>
          <a:xfrm>
            <a:off x="5059148" y="1323667"/>
            <a:ext cx="869569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/>
              <a:t>Duty In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E60B6C2-2B7F-1183-0E5E-B441AA57DC02}"/>
              </a:ext>
            </a:extLst>
          </p:cNvPr>
          <p:cNvSpPr txBox="1"/>
          <p:nvPr/>
        </p:nvSpPr>
        <p:spPr>
          <a:xfrm>
            <a:off x="6708409" y="1320298"/>
            <a:ext cx="869569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/>
              <a:t>Start 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F463779-9E6E-1BA1-4BFA-F231E0431B2A}"/>
              </a:ext>
            </a:extLst>
          </p:cNvPr>
          <p:cNvSpPr txBox="1"/>
          <p:nvPr/>
        </p:nvSpPr>
        <p:spPr>
          <a:xfrm>
            <a:off x="8523675" y="1320298"/>
            <a:ext cx="869569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/>
              <a:t>Salary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3A1C3887-DC08-6F49-4A18-359DF702A04C}"/>
              </a:ext>
            </a:extLst>
          </p:cNvPr>
          <p:cNvSpPr/>
          <p:nvPr/>
        </p:nvSpPr>
        <p:spPr>
          <a:xfrm>
            <a:off x="2742755" y="1718372"/>
            <a:ext cx="365760" cy="365760"/>
          </a:xfrm>
          <a:prstGeom prst="roundRect">
            <a:avLst/>
          </a:prstGeom>
          <a:solidFill>
            <a:srgbClr val="6EC0F4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17CF058E-B5FF-C1B5-505B-3F8FB62DC468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788475" y="1769938"/>
            <a:ext cx="274320" cy="274320"/>
          </a:xfrm>
          <a:prstGeom prst="rect">
            <a:avLst/>
          </a:prstGeom>
        </p:spPr>
      </p:pic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87835A78-6D59-BDFD-2420-28594AF962CE}"/>
              </a:ext>
            </a:extLst>
          </p:cNvPr>
          <p:cNvSpPr/>
          <p:nvPr/>
        </p:nvSpPr>
        <p:spPr>
          <a:xfrm>
            <a:off x="2742755" y="2266745"/>
            <a:ext cx="365760" cy="365760"/>
          </a:xfrm>
          <a:prstGeom prst="roundRect">
            <a:avLst/>
          </a:prstGeom>
          <a:solidFill>
            <a:srgbClr val="F44C69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1148D9C3-36AF-DFB0-AE43-703AA8FD838F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788475" y="2312750"/>
            <a:ext cx="274320" cy="274320"/>
          </a:xfrm>
          <a:prstGeom prst="rect">
            <a:avLst/>
          </a:prstGeom>
        </p:spPr>
      </p:pic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F65DF1B5-809B-9974-69AB-CDE976CC3273}"/>
              </a:ext>
            </a:extLst>
          </p:cNvPr>
          <p:cNvSpPr/>
          <p:nvPr/>
        </p:nvSpPr>
        <p:spPr>
          <a:xfrm>
            <a:off x="2742755" y="2817338"/>
            <a:ext cx="365760" cy="365760"/>
          </a:xfrm>
          <a:prstGeom prst="roundRect">
            <a:avLst/>
          </a:prstGeom>
          <a:solidFill>
            <a:srgbClr val="FFDD4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0CBF0E38-1F88-44CD-325E-83DFE5B74C31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788475" y="2862963"/>
            <a:ext cx="274320" cy="274320"/>
          </a:xfrm>
          <a:prstGeom prst="rect">
            <a:avLst/>
          </a:prstGeom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EA1BA003-063A-DA7D-CB16-11146A977397}"/>
              </a:ext>
            </a:extLst>
          </p:cNvPr>
          <p:cNvSpPr txBox="1"/>
          <p:nvPr/>
        </p:nvSpPr>
        <p:spPr>
          <a:xfrm>
            <a:off x="3203921" y="1751007"/>
            <a:ext cx="1303246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</a:rPr>
              <a:t>Ryan Lee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9CF7D35-92B8-9530-99FC-15BBC68D7D14}"/>
              </a:ext>
            </a:extLst>
          </p:cNvPr>
          <p:cNvSpPr txBox="1"/>
          <p:nvPr/>
        </p:nvSpPr>
        <p:spPr>
          <a:xfrm>
            <a:off x="3203920" y="2301273"/>
            <a:ext cx="1303247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</a:rPr>
              <a:t>Stephanie Hu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4A460F8-FBE2-534F-03B6-937F4441CC48}"/>
              </a:ext>
            </a:extLst>
          </p:cNvPr>
          <p:cNvSpPr txBox="1"/>
          <p:nvPr/>
        </p:nvSpPr>
        <p:spPr>
          <a:xfrm>
            <a:off x="3203921" y="2848754"/>
            <a:ext cx="1303246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</a:rPr>
              <a:t>Mike Wong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42B1C11-66E0-902B-8601-EA8B8E8E258C}"/>
              </a:ext>
            </a:extLst>
          </p:cNvPr>
          <p:cNvSpPr txBox="1"/>
          <p:nvPr/>
        </p:nvSpPr>
        <p:spPr>
          <a:xfrm>
            <a:off x="5059148" y="1751007"/>
            <a:ext cx="109728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 err="1">
                <a:solidFill>
                  <a:schemeClr val="bg2">
                    <a:lumMod val="50000"/>
                  </a:schemeClr>
                </a:solidFill>
              </a:rPr>
              <a:t>Cheras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464F07A-9D19-696C-5CB3-221C99EF11F7}"/>
              </a:ext>
            </a:extLst>
          </p:cNvPr>
          <p:cNvSpPr txBox="1"/>
          <p:nvPr/>
        </p:nvSpPr>
        <p:spPr>
          <a:xfrm>
            <a:off x="5059148" y="2844895"/>
            <a:ext cx="109728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</a:rPr>
              <a:t>Sri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</a:rPr>
              <a:t>Petaling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28148E9-037F-2E3D-B5B0-7696BD10E245}"/>
              </a:ext>
            </a:extLst>
          </p:cNvPr>
          <p:cNvSpPr txBox="1"/>
          <p:nvPr/>
        </p:nvSpPr>
        <p:spPr>
          <a:xfrm>
            <a:off x="5059148" y="2301273"/>
            <a:ext cx="109728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</a:rPr>
              <a:t>Kuchai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10D3C5EA-C331-D523-FDEA-91ACD53CA788}"/>
              </a:ext>
            </a:extLst>
          </p:cNvPr>
          <p:cNvSpPr txBox="1"/>
          <p:nvPr/>
        </p:nvSpPr>
        <p:spPr>
          <a:xfrm>
            <a:off x="6708409" y="1751007"/>
            <a:ext cx="126897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</a:rPr>
              <a:t>09 / 03 / 2018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5F36CAA-E351-2EB5-6627-1F4E97694952}"/>
              </a:ext>
            </a:extLst>
          </p:cNvPr>
          <p:cNvSpPr txBox="1"/>
          <p:nvPr/>
        </p:nvSpPr>
        <p:spPr>
          <a:xfrm>
            <a:off x="6708409" y="2303481"/>
            <a:ext cx="126897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</a:rPr>
              <a:t>17 / 04 / 2019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6E8EC281-F5F5-DB35-096A-EB40F53F675F}"/>
              </a:ext>
            </a:extLst>
          </p:cNvPr>
          <p:cNvSpPr txBox="1"/>
          <p:nvPr/>
        </p:nvSpPr>
        <p:spPr>
          <a:xfrm>
            <a:off x="6708409" y="2853929"/>
            <a:ext cx="126897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</a:rPr>
              <a:t>21 / 10 / 2019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10F117BC-96DF-E740-F174-24600BA01CDC}"/>
              </a:ext>
            </a:extLst>
          </p:cNvPr>
          <p:cNvSpPr txBox="1"/>
          <p:nvPr/>
        </p:nvSpPr>
        <p:spPr>
          <a:xfrm>
            <a:off x="8523675" y="1755420"/>
            <a:ext cx="109728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</a:rPr>
              <a:t>RM 4,500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63DD6026-D16D-44ED-4D22-2F6A9FD5C588}"/>
              </a:ext>
            </a:extLst>
          </p:cNvPr>
          <p:cNvSpPr txBox="1"/>
          <p:nvPr/>
        </p:nvSpPr>
        <p:spPr>
          <a:xfrm>
            <a:off x="8523862" y="2297302"/>
            <a:ext cx="109728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</a:rPr>
              <a:t>RM 3,800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13A6007-66CC-C614-78F5-CB5C911C6B01}"/>
              </a:ext>
            </a:extLst>
          </p:cNvPr>
          <p:cNvSpPr txBox="1"/>
          <p:nvPr/>
        </p:nvSpPr>
        <p:spPr>
          <a:xfrm>
            <a:off x="8523675" y="2839184"/>
            <a:ext cx="109728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</a:rPr>
              <a:t>RM 3,200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A99EE6C0-B433-23BE-271B-013053079F82}"/>
              </a:ext>
            </a:extLst>
          </p:cNvPr>
          <p:cNvSpPr txBox="1"/>
          <p:nvPr/>
        </p:nvSpPr>
        <p:spPr>
          <a:xfrm>
            <a:off x="10681541" y="1751007"/>
            <a:ext cx="109728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3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Edit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8797077F-CDEC-2E95-F058-2B57DD744C90}"/>
              </a:ext>
            </a:extLst>
          </p:cNvPr>
          <p:cNvSpPr txBox="1"/>
          <p:nvPr/>
        </p:nvSpPr>
        <p:spPr>
          <a:xfrm>
            <a:off x="10681541" y="2305163"/>
            <a:ext cx="109728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3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Edit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801AA3A6-24B8-DE3D-9818-655E1767FB88}"/>
              </a:ext>
            </a:extLst>
          </p:cNvPr>
          <p:cNvSpPr txBox="1"/>
          <p:nvPr/>
        </p:nvSpPr>
        <p:spPr>
          <a:xfrm>
            <a:off x="10681541" y="2848754"/>
            <a:ext cx="109728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3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Edit</a:t>
            </a:r>
          </a:p>
        </p:txBody>
      </p:sp>
      <p:sp>
        <p:nvSpPr>
          <p:cNvPr id="81" name="Rectangle: Rounded Corners 80">
            <a:extLst>
              <a:ext uri="{FF2B5EF4-FFF2-40B4-BE49-F238E27FC236}">
                <a16:creationId xmlns:a16="http://schemas.microsoft.com/office/drawing/2014/main" id="{D7076F4A-6D7C-EED2-2596-26E7986ABC76}"/>
              </a:ext>
            </a:extLst>
          </p:cNvPr>
          <p:cNvSpPr/>
          <p:nvPr/>
        </p:nvSpPr>
        <p:spPr>
          <a:xfrm>
            <a:off x="2580830" y="3524111"/>
            <a:ext cx="9430891" cy="3100592"/>
          </a:xfrm>
          <a:prstGeom prst="roundRect">
            <a:avLst>
              <a:gd name="adj" fmla="val 3714"/>
            </a:avLst>
          </a:prstGeom>
          <a:solidFill>
            <a:schemeClr val="bg1"/>
          </a:solidFill>
          <a:ln>
            <a:noFill/>
          </a:ln>
          <a:effectLst>
            <a:outerShdw blurRad="215900" dist="203200" dir="2760000" sx="95000" sy="95000" algn="tl" rotWithShape="0">
              <a:schemeClr val="bg2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6167056F-A885-000E-4BBE-4F34A70754E5}"/>
              </a:ext>
            </a:extLst>
          </p:cNvPr>
          <p:cNvSpPr txBox="1"/>
          <p:nvPr/>
        </p:nvSpPr>
        <p:spPr>
          <a:xfrm>
            <a:off x="2631727" y="3546871"/>
            <a:ext cx="1923485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</a:rPr>
              <a:t>ORDER TABLE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4" name="Rectangle: Rounded Corners 83">
            <a:extLst>
              <a:ext uri="{FF2B5EF4-FFF2-40B4-BE49-F238E27FC236}">
                <a16:creationId xmlns:a16="http://schemas.microsoft.com/office/drawing/2014/main" id="{2F1D8194-E2CC-60FC-F70D-58364C5C36E8}"/>
              </a:ext>
            </a:extLst>
          </p:cNvPr>
          <p:cNvSpPr/>
          <p:nvPr/>
        </p:nvSpPr>
        <p:spPr>
          <a:xfrm>
            <a:off x="10548545" y="3614638"/>
            <a:ext cx="1316422" cy="292388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January 2025</a:t>
            </a:r>
            <a:endParaRPr lang="en-US" sz="1400" dirty="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54ABF43D-6F2B-5C97-C0C7-8D97E944457D}"/>
              </a:ext>
            </a:extLst>
          </p:cNvPr>
          <p:cNvSpPr txBox="1"/>
          <p:nvPr/>
        </p:nvSpPr>
        <p:spPr>
          <a:xfrm>
            <a:off x="9854887" y="3614638"/>
            <a:ext cx="657525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</a:rPr>
              <a:t>Pick : 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0B3BDA4A-3EFB-05CF-1D99-C37DFD8D5EE3}"/>
              </a:ext>
            </a:extLst>
          </p:cNvPr>
          <p:cNvSpPr txBox="1"/>
          <p:nvPr/>
        </p:nvSpPr>
        <p:spPr>
          <a:xfrm>
            <a:off x="2628011" y="3896133"/>
            <a:ext cx="869569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/>
              <a:t>Order ID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6CEDFDDF-04AB-F643-E248-24D700B0AD68}"/>
              </a:ext>
            </a:extLst>
          </p:cNvPr>
          <p:cNvSpPr txBox="1"/>
          <p:nvPr/>
        </p:nvSpPr>
        <p:spPr>
          <a:xfrm>
            <a:off x="4887698" y="3899502"/>
            <a:ext cx="869569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/>
              <a:t>User ID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9154E0AE-069A-2E2D-FFFE-9D005D2B1A0E}"/>
              </a:ext>
            </a:extLst>
          </p:cNvPr>
          <p:cNvSpPr txBox="1"/>
          <p:nvPr/>
        </p:nvSpPr>
        <p:spPr>
          <a:xfrm>
            <a:off x="2628011" y="4259354"/>
            <a:ext cx="1879156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</a:rPr>
              <a:t>CR20250105AX0154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B82E2B2D-09CB-7CCB-49A4-BB7BACC96708}"/>
              </a:ext>
            </a:extLst>
          </p:cNvPr>
          <p:cNvSpPr txBox="1"/>
          <p:nvPr/>
        </p:nvSpPr>
        <p:spPr>
          <a:xfrm>
            <a:off x="2628011" y="4589357"/>
            <a:ext cx="1879156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</a:rPr>
              <a:t>SP20250112AX0245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26616D4D-BBD1-3A36-0A1A-D4FA892BB647}"/>
              </a:ext>
            </a:extLst>
          </p:cNvPr>
          <p:cNvSpPr txBox="1"/>
          <p:nvPr/>
        </p:nvSpPr>
        <p:spPr>
          <a:xfrm>
            <a:off x="2628011" y="4928213"/>
            <a:ext cx="1879156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</a:rPr>
              <a:t>KC20250115AX1054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0DB8C975-F491-9810-27FA-8616898D842B}"/>
              </a:ext>
            </a:extLst>
          </p:cNvPr>
          <p:cNvSpPr txBox="1"/>
          <p:nvPr/>
        </p:nvSpPr>
        <p:spPr>
          <a:xfrm>
            <a:off x="2628011" y="5267069"/>
            <a:ext cx="1879156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</a:rPr>
              <a:t>KC20250117AX0034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54884949-CD36-8E92-6984-17D8A6DF8E5B}"/>
              </a:ext>
            </a:extLst>
          </p:cNvPr>
          <p:cNvSpPr txBox="1"/>
          <p:nvPr/>
        </p:nvSpPr>
        <p:spPr>
          <a:xfrm>
            <a:off x="2628011" y="5597668"/>
            <a:ext cx="1879156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</a:rPr>
              <a:t>SP20250120AX0803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43AB1A2F-DA13-3636-1F8F-7B29E763D496}"/>
              </a:ext>
            </a:extLst>
          </p:cNvPr>
          <p:cNvSpPr txBox="1"/>
          <p:nvPr/>
        </p:nvSpPr>
        <p:spPr>
          <a:xfrm>
            <a:off x="2628011" y="5930694"/>
            <a:ext cx="1879156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</a:rPr>
              <a:t>KC20250122AX0484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430F3063-760A-192D-44C2-C076D200D651}"/>
              </a:ext>
            </a:extLst>
          </p:cNvPr>
          <p:cNvSpPr txBox="1"/>
          <p:nvPr/>
        </p:nvSpPr>
        <p:spPr>
          <a:xfrm>
            <a:off x="2628011" y="6268671"/>
            <a:ext cx="1879156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</a:rPr>
              <a:t>CR20250126AX1452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F5F3504D-F487-D583-2D18-57770D69E785}"/>
              </a:ext>
            </a:extLst>
          </p:cNvPr>
          <p:cNvSpPr txBox="1"/>
          <p:nvPr/>
        </p:nvSpPr>
        <p:spPr>
          <a:xfrm>
            <a:off x="4887698" y="4272786"/>
            <a:ext cx="109728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</a:rPr>
              <a:t>U1248456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0E2DF35D-59ED-5E03-8514-D6906761CB3D}"/>
              </a:ext>
            </a:extLst>
          </p:cNvPr>
          <p:cNvSpPr txBox="1"/>
          <p:nvPr/>
        </p:nvSpPr>
        <p:spPr>
          <a:xfrm>
            <a:off x="4887698" y="4589357"/>
            <a:ext cx="109728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</a:rPr>
              <a:t>U0155264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98E20A52-E2D1-14B3-888D-085692ABB0C9}"/>
              </a:ext>
            </a:extLst>
          </p:cNvPr>
          <p:cNvSpPr txBox="1"/>
          <p:nvPr/>
        </p:nvSpPr>
        <p:spPr>
          <a:xfrm>
            <a:off x="4887698" y="4928213"/>
            <a:ext cx="109728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</a:rPr>
              <a:t>U4521658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F1716F98-3EF1-2738-1863-AAE950C4F2B7}"/>
              </a:ext>
            </a:extLst>
          </p:cNvPr>
          <p:cNvSpPr txBox="1"/>
          <p:nvPr/>
        </p:nvSpPr>
        <p:spPr>
          <a:xfrm>
            <a:off x="4887698" y="5267069"/>
            <a:ext cx="109728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</a:rPr>
              <a:t>U1142658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B0A7C4FB-4BD9-B08C-6520-1F63B4F2C06D}"/>
              </a:ext>
            </a:extLst>
          </p:cNvPr>
          <p:cNvSpPr txBox="1"/>
          <p:nvPr/>
        </p:nvSpPr>
        <p:spPr>
          <a:xfrm>
            <a:off x="4887698" y="5597668"/>
            <a:ext cx="109728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</a:rPr>
              <a:t>U6251442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9CC74DFC-88D7-0396-828A-4C46E0C53825}"/>
              </a:ext>
            </a:extLst>
          </p:cNvPr>
          <p:cNvSpPr txBox="1"/>
          <p:nvPr/>
        </p:nvSpPr>
        <p:spPr>
          <a:xfrm>
            <a:off x="4887698" y="5942124"/>
            <a:ext cx="109728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</a:rPr>
              <a:t>U1142658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8E58EFDF-3255-CDBE-43B9-44B95A0CC3F2}"/>
              </a:ext>
            </a:extLst>
          </p:cNvPr>
          <p:cNvSpPr txBox="1"/>
          <p:nvPr/>
        </p:nvSpPr>
        <p:spPr>
          <a:xfrm>
            <a:off x="4887698" y="6254845"/>
            <a:ext cx="109728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</a:rPr>
              <a:t>U1248456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5E779CF8-CA14-7F90-2C3B-DECEFBD86D5B}"/>
              </a:ext>
            </a:extLst>
          </p:cNvPr>
          <p:cNvSpPr txBox="1"/>
          <p:nvPr/>
        </p:nvSpPr>
        <p:spPr>
          <a:xfrm>
            <a:off x="6384916" y="3896133"/>
            <a:ext cx="869569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/>
              <a:t>Price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7E3B0512-149A-6668-8C51-FA6650987E09}"/>
              </a:ext>
            </a:extLst>
          </p:cNvPr>
          <p:cNvSpPr txBox="1"/>
          <p:nvPr/>
        </p:nvSpPr>
        <p:spPr>
          <a:xfrm>
            <a:off x="6394204" y="4272786"/>
            <a:ext cx="109728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</a:rPr>
              <a:t>RM 23.00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29937706-53CA-F450-86B9-777C8DCA0BF0}"/>
              </a:ext>
            </a:extLst>
          </p:cNvPr>
          <p:cNvSpPr txBox="1"/>
          <p:nvPr/>
        </p:nvSpPr>
        <p:spPr>
          <a:xfrm>
            <a:off x="6393305" y="4603376"/>
            <a:ext cx="109728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</a:rPr>
              <a:t>RM 66.00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42D3675C-63D5-26F4-04F0-13C13E430949}"/>
              </a:ext>
            </a:extLst>
          </p:cNvPr>
          <p:cNvSpPr txBox="1"/>
          <p:nvPr/>
        </p:nvSpPr>
        <p:spPr>
          <a:xfrm>
            <a:off x="6393305" y="4928213"/>
            <a:ext cx="109728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</a:rPr>
              <a:t>RM 38.00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8B3FC2A7-F8B6-1A9E-CA1F-E4A184469CC0}"/>
              </a:ext>
            </a:extLst>
          </p:cNvPr>
          <p:cNvSpPr txBox="1"/>
          <p:nvPr/>
        </p:nvSpPr>
        <p:spPr>
          <a:xfrm>
            <a:off x="6393305" y="5289416"/>
            <a:ext cx="109728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</a:rPr>
              <a:t>RM 53.00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160A4F0E-2B2A-07B8-6CE6-4AC4DCCD27A8}"/>
              </a:ext>
            </a:extLst>
          </p:cNvPr>
          <p:cNvSpPr txBox="1"/>
          <p:nvPr/>
        </p:nvSpPr>
        <p:spPr>
          <a:xfrm>
            <a:off x="6393305" y="5609314"/>
            <a:ext cx="109728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</a:rPr>
              <a:t>RM 61.00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1A515F28-F6C1-53CE-55E6-C3301F792DCA}"/>
              </a:ext>
            </a:extLst>
          </p:cNvPr>
          <p:cNvSpPr txBox="1"/>
          <p:nvPr/>
        </p:nvSpPr>
        <p:spPr>
          <a:xfrm>
            <a:off x="6393305" y="5942124"/>
            <a:ext cx="109728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</a:rPr>
              <a:t>RM 74.00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9DEE0415-5D09-BB83-A4C0-C47FA01992CC}"/>
              </a:ext>
            </a:extLst>
          </p:cNvPr>
          <p:cNvSpPr txBox="1"/>
          <p:nvPr/>
        </p:nvSpPr>
        <p:spPr>
          <a:xfrm>
            <a:off x="6393305" y="6280101"/>
            <a:ext cx="109728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</a:rPr>
              <a:t>RM 31.00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D6C39747-E8B8-1FDD-1D52-57C29F90B97E}"/>
              </a:ext>
            </a:extLst>
          </p:cNvPr>
          <p:cNvSpPr txBox="1"/>
          <p:nvPr/>
        </p:nvSpPr>
        <p:spPr>
          <a:xfrm>
            <a:off x="7848120" y="3896133"/>
            <a:ext cx="869569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/>
              <a:t>City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60C02D4-3688-FE5E-4614-AF2FBCA0A184}"/>
              </a:ext>
            </a:extLst>
          </p:cNvPr>
          <p:cNvSpPr txBox="1"/>
          <p:nvPr/>
        </p:nvSpPr>
        <p:spPr>
          <a:xfrm>
            <a:off x="7850194" y="4259096"/>
            <a:ext cx="109728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 err="1">
                <a:solidFill>
                  <a:schemeClr val="bg2">
                    <a:lumMod val="50000"/>
                  </a:schemeClr>
                </a:solidFill>
              </a:rPr>
              <a:t>Cheras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A5918D-4591-3AA8-0848-FE0401BCC3E3}"/>
              </a:ext>
            </a:extLst>
          </p:cNvPr>
          <p:cNvSpPr txBox="1"/>
          <p:nvPr/>
        </p:nvSpPr>
        <p:spPr>
          <a:xfrm>
            <a:off x="7850986" y="4594877"/>
            <a:ext cx="109728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</a:rPr>
              <a:t>Sri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</a:rPr>
              <a:t>Petaling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66C6F6-2C73-3178-D575-087FE4DD293D}"/>
              </a:ext>
            </a:extLst>
          </p:cNvPr>
          <p:cNvSpPr txBox="1"/>
          <p:nvPr/>
        </p:nvSpPr>
        <p:spPr>
          <a:xfrm>
            <a:off x="7854004" y="4928213"/>
            <a:ext cx="109728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</a:rPr>
              <a:t>Kuchai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DBED53F-D45A-4917-3B9C-3C68CBDD0E2A}"/>
              </a:ext>
            </a:extLst>
          </p:cNvPr>
          <p:cNvSpPr txBox="1"/>
          <p:nvPr/>
        </p:nvSpPr>
        <p:spPr>
          <a:xfrm>
            <a:off x="7849749" y="5267069"/>
            <a:ext cx="109728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</a:rPr>
              <a:t>Kuchai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6E628CB-F175-BF3D-198F-1C5A82202903}"/>
              </a:ext>
            </a:extLst>
          </p:cNvPr>
          <p:cNvSpPr txBox="1"/>
          <p:nvPr/>
        </p:nvSpPr>
        <p:spPr>
          <a:xfrm>
            <a:off x="7850194" y="5597956"/>
            <a:ext cx="109728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</a:rPr>
              <a:t>Sri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</a:rPr>
              <a:t>Petaling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4F6736C-5D1A-6862-E78D-18799709D00C}"/>
              </a:ext>
            </a:extLst>
          </p:cNvPr>
          <p:cNvSpPr txBox="1"/>
          <p:nvPr/>
        </p:nvSpPr>
        <p:spPr>
          <a:xfrm>
            <a:off x="7857244" y="5942124"/>
            <a:ext cx="109728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</a:rPr>
              <a:t>Kuchai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CA63741-21C1-63A0-79E1-42A05DEB11FC}"/>
              </a:ext>
            </a:extLst>
          </p:cNvPr>
          <p:cNvSpPr txBox="1"/>
          <p:nvPr/>
        </p:nvSpPr>
        <p:spPr>
          <a:xfrm>
            <a:off x="7851853" y="6270337"/>
            <a:ext cx="109728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 err="1">
                <a:solidFill>
                  <a:schemeClr val="bg2">
                    <a:lumMod val="50000"/>
                  </a:schemeClr>
                </a:solidFill>
              </a:rPr>
              <a:t>Cheras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26401B5-DA1C-BADA-BEA7-FE0F881D67BB}"/>
              </a:ext>
            </a:extLst>
          </p:cNvPr>
          <p:cNvSpPr txBox="1"/>
          <p:nvPr/>
        </p:nvSpPr>
        <p:spPr>
          <a:xfrm>
            <a:off x="9303131" y="3896133"/>
            <a:ext cx="869569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00" dirty="0"/>
              <a:t>Time</a:t>
            </a:r>
            <a:endParaRPr lang="en-US" sz="130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4ADD786-06EE-9936-4804-E2229B78C273}"/>
              </a:ext>
            </a:extLst>
          </p:cNvPr>
          <p:cNvSpPr txBox="1"/>
          <p:nvPr/>
        </p:nvSpPr>
        <p:spPr>
          <a:xfrm>
            <a:off x="9302675" y="4272786"/>
            <a:ext cx="1473108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</a:rPr>
              <a:t>05/01/2025 15:45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CA4ED31-4F9C-11BD-1751-36CA70A7AA10}"/>
              </a:ext>
            </a:extLst>
          </p:cNvPr>
          <p:cNvSpPr txBox="1"/>
          <p:nvPr/>
        </p:nvSpPr>
        <p:spPr>
          <a:xfrm>
            <a:off x="9307609" y="4589357"/>
            <a:ext cx="1473108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</a:rPr>
              <a:t>12/01/2025 10:05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35D3643-D8FF-712C-A8C2-14EE9232FED9}"/>
              </a:ext>
            </a:extLst>
          </p:cNvPr>
          <p:cNvSpPr txBox="1"/>
          <p:nvPr/>
        </p:nvSpPr>
        <p:spPr>
          <a:xfrm>
            <a:off x="9305382" y="4920314"/>
            <a:ext cx="1473108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</a:rPr>
              <a:t>15/01/2025 16:18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2600658-64EF-E3FB-AA9B-F956304D18C0}"/>
              </a:ext>
            </a:extLst>
          </p:cNvPr>
          <p:cNvSpPr txBox="1"/>
          <p:nvPr/>
        </p:nvSpPr>
        <p:spPr>
          <a:xfrm>
            <a:off x="9305382" y="5267069"/>
            <a:ext cx="1473108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</a:rPr>
              <a:t>17/01/2025 12:01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9385787-0793-2229-03DD-CD1B401F6EBF}"/>
              </a:ext>
            </a:extLst>
          </p:cNvPr>
          <p:cNvSpPr txBox="1"/>
          <p:nvPr/>
        </p:nvSpPr>
        <p:spPr>
          <a:xfrm>
            <a:off x="9305382" y="5601199"/>
            <a:ext cx="1473108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</a:rPr>
              <a:t>20/01/2025 17:26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0079D232-604A-EA3E-44D8-A96F76E6E414}"/>
              </a:ext>
            </a:extLst>
          </p:cNvPr>
          <p:cNvSpPr txBox="1"/>
          <p:nvPr/>
        </p:nvSpPr>
        <p:spPr>
          <a:xfrm>
            <a:off x="9307609" y="5942124"/>
            <a:ext cx="1473108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</a:rPr>
              <a:t>22/01/2025 19:52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12FD70E4-5D05-1CA2-41DE-7D1AF4BB7FA9}"/>
              </a:ext>
            </a:extLst>
          </p:cNvPr>
          <p:cNvSpPr txBox="1"/>
          <p:nvPr/>
        </p:nvSpPr>
        <p:spPr>
          <a:xfrm>
            <a:off x="9307755" y="6270337"/>
            <a:ext cx="1473108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</a:rPr>
              <a:t>26/01/2025 14:18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95A46B4A-FC87-CB01-7E66-FA7C4B08FEF5}"/>
              </a:ext>
            </a:extLst>
          </p:cNvPr>
          <p:cNvSpPr txBox="1"/>
          <p:nvPr/>
        </p:nvSpPr>
        <p:spPr>
          <a:xfrm>
            <a:off x="11057223" y="4268684"/>
            <a:ext cx="721598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3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Check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98851293-1D1F-2AF5-FE85-901954B20C2E}"/>
              </a:ext>
            </a:extLst>
          </p:cNvPr>
          <p:cNvSpPr txBox="1"/>
          <p:nvPr/>
        </p:nvSpPr>
        <p:spPr>
          <a:xfrm>
            <a:off x="11057223" y="4589357"/>
            <a:ext cx="721598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3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Check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531FFC26-3FB7-B144-962B-D658C879D377}"/>
              </a:ext>
            </a:extLst>
          </p:cNvPr>
          <p:cNvSpPr txBox="1"/>
          <p:nvPr/>
        </p:nvSpPr>
        <p:spPr>
          <a:xfrm>
            <a:off x="11057223" y="4928213"/>
            <a:ext cx="721598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3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Check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534EE8E1-45B4-05F3-5B93-D33AF3C225D9}"/>
              </a:ext>
            </a:extLst>
          </p:cNvPr>
          <p:cNvSpPr txBox="1"/>
          <p:nvPr/>
        </p:nvSpPr>
        <p:spPr>
          <a:xfrm>
            <a:off x="11057223" y="5267069"/>
            <a:ext cx="721598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3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Check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5E178F63-C838-2FAB-C190-412E36B260E2}"/>
              </a:ext>
            </a:extLst>
          </p:cNvPr>
          <p:cNvSpPr txBox="1"/>
          <p:nvPr/>
        </p:nvSpPr>
        <p:spPr>
          <a:xfrm>
            <a:off x="11057223" y="5597668"/>
            <a:ext cx="721598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3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Check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784AF428-F0F5-6F79-78BE-6BFDD9492954}"/>
              </a:ext>
            </a:extLst>
          </p:cNvPr>
          <p:cNvSpPr txBox="1"/>
          <p:nvPr/>
        </p:nvSpPr>
        <p:spPr>
          <a:xfrm>
            <a:off x="11057223" y="5947690"/>
            <a:ext cx="721598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3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Check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71F0E1E1-68CD-E509-81C4-EBA17B7E06C2}"/>
              </a:ext>
            </a:extLst>
          </p:cNvPr>
          <p:cNvSpPr txBox="1"/>
          <p:nvPr/>
        </p:nvSpPr>
        <p:spPr>
          <a:xfrm>
            <a:off x="11057223" y="6280101"/>
            <a:ext cx="721598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3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Check</a:t>
            </a:r>
          </a:p>
        </p:txBody>
      </p:sp>
    </p:spTree>
    <p:extLst>
      <p:ext uri="{BB962C8B-B14F-4D97-AF65-F5344CB8AC3E}">
        <p14:creationId xmlns:p14="http://schemas.microsoft.com/office/powerpoint/2010/main" val="42459944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Rectangle: Rounded Corners 161">
            <a:extLst>
              <a:ext uri="{FF2B5EF4-FFF2-40B4-BE49-F238E27FC236}">
                <a16:creationId xmlns:a16="http://schemas.microsoft.com/office/drawing/2014/main" id="{F9315867-3A9C-95F6-F2C3-9CBF835374D9}"/>
              </a:ext>
            </a:extLst>
          </p:cNvPr>
          <p:cNvSpPr/>
          <p:nvPr/>
        </p:nvSpPr>
        <p:spPr>
          <a:xfrm>
            <a:off x="78775" y="1941126"/>
            <a:ext cx="2236711" cy="581483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1" name="Rectangle: Rounded Corners 160">
            <a:extLst>
              <a:ext uri="{FF2B5EF4-FFF2-40B4-BE49-F238E27FC236}">
                <a16:creationId xmlns:a16="http://schemas.microsoft.com/office/drawing/2014/main" id="{C2916937-C68B-B9AB-77DD-9E346C05216E}"/>
              </a:ext>
            </a:extLst>
          </p:cNvPr>
          <p:cNvSpPr/>
          <p:nvPr/>
        </p:nvSpPr>
        <p:spPr>
          <a:xfrm>
            <a:off x="233994" y="2067771"/>
            <a:ext cx="365760" cy="365760"/>
          </a:xfrm>
          <a:prstGeom prst="roundRect">
            <a:avLst/>
          </a:prstGeom>
          <a:gradFill flip="none" rotWithShape="1">
            <a:gsLst>
              <a:gs pos="58000">
                <a:srgbClr val="D735B0">
                  <a:lumMod val="95000"/>
                </a:srgbClr>
              </a:gs>
              <a:gs pos="21000">
                <a:srgbClr val="8638C7"/>
              </a:gs>
              <a:gs pos="87000">
                <a:srgbClr val="FE237E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6463A3D-CAD1-EBD5-9C33-1AC30766FAD5}"/>
              </a:ext>
            </a:extLst>
          </p:cNvPr>
          <p:cNvSpPr/>
          <p:nvPr/>
        </p:nvSpPr>
        <p:spPr>
          <a:xfrm>
            <a:off x="0" y="3177800"/>
            <a:ext cx="2394263" cy="2450592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A45370-BE93-FA91-5DF9-83EF63976B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854" y="227166"/>
            <a:ext cx="320040" cy="32004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E802EE9-1AF3-A4B9-3FB2-FA7B1E2020E4}"/>
              </a:ext>
            </a:extLst>
          </p:cNvPr>
          <p:cNvSpPr txBox="1"/>
          <p:nvPr/>
        </p:nvSpPr>
        <p:spPr>
          <a:xfrm>
            <a:off x="726807" y="227166"/>
            <a:ext cx="15461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chemeClr val="bg2">
                    <a:lumMod val="50000"/>
                  </a:schemeClr>
                </a:solidFill>
              </a:rPr>
              <a:t>UI Dashboard</a:t>
            </a:r>
            <a:endParaRPr lang="en-US" sz="1600" b="1" dirty="0">
              <a:solidFill>
                <a:schemeClr val="bg2">
                  <a:lumMod val="50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65E8F29-40BE-39AE-93A0-DB8D3E8FD81E}"/>
              </a:ext>
            </a:extLst>
          </p:cNvPr>
          <p:cNvCxnSpPr>
            <a:cxnSpLocks/>
          </p:cNvCxnSpPr>
          <p:nvPr/>
        </p:nvCxnSpPr>
        <p:spPr>
          <a:xfrm>
            <a:off x="2394263" y="295275"/>
            <a:ext cx="0" cy="6267450"/>
          </a:xfrm>
          <a:prstGeom prst="line">
            <a:avLst/>
          </a:prstGeom>
          <a:ln w="6350">
            <a:solidFill>
              <a:schemeClr val="bg2">
                <a:lumMod val="9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D4C0878-8D53-F3DC-CAC1-64E20C58E45E}"/>
              </a:ext>
            </a:extLst>
          </p:cNvPr>
          <p:cNvSpPr/>
          <p:nvPr/>
        </p:nvSpPr>
        <p:spPr>
          <a:xfrm>
            <a:off x="233994" y="824830"/>
            <a:ext cx="365760" cy="36576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7B80BE6-8BB6-0D86-E2FF-104A520CBF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714" y="870550"/>
            <a:ext cx="274320" cy="27432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1774360-8F31-3307-4A59-33598199EA68}"/>
              </a:ext>
            </a:extLst>
          </p:cNvPr>
          <p:cNvSpPr txBox="1"/>
          <p:nvPr/>
        </p:nvSpPr>
        <p:spPr>
          <a:xfrm>
            <a:off x="721093" y="864656"/>
            <a:ext cx="15461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bg2">
                    <a:lumMod val="50000"/>
                  </a:schemeClr>
                </a:solidFill>
              </a:rPr>
              <a:t>Dashboard</a:t>
            </a:r>
            <a:endParaRPr lang="en-US" sz="14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77671016-8F00-D211-D794-757F645679FD}"/>
              </a:ext>
            </a:extLst>
          </p:cNvPr>
          <p:cNvSpPr/>
          <p:nvPr/>
        </p:nvSpPr>
        <p:spPr>
          <a:xfrm>
            <a:off x="233994" y="1441156"/>
            <a:ext cx="365760" cy="36576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9128B5A-F019-7BC6-79EF-3B12AD89A4FF}"/>
              </a:ext>
            </a:extLst>
          </p:cNvPr>
          <p:cNvSpPr txBox="1"/>
          <p:nvPr/>
        </p:nvSpPr>
        <p:spPr>
          <a:xfrm>
            <a:off x="721093" y="1484610"/>
            <a:ext cx="15461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bg2">
                    <a:lumMod val="50000"/>
                  </a:schemeClr>
                </a:solidFill>
              </a:rPr>
              <a:t>Tables</a:t>
            </a:r>
            <a:endParaRPr lang="en-US" sz="1400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248F5906-7E0F-F0E5-5CA6-6541756F7F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2574" y="1509736"/>
            <a:ext cx="228600" cy="22860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002296BD-CD75-33B2-5485-A9626B70C48F}"/>
              </a:ext>
            </a:extLst>
          </p:cNvPr>
          <p:cNvSpPr txBox="1"/>
          <p:nvPr/>
        </p:nvSpPr>
        <p:spPr>
          <a:xfrm>
            <a:off x="721093" y="2099333"/>
            <a:ext cx="15461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bg2">
                    <a:lumMod val="50000"/>
                  </a:schemeClr>
                </a:solidFill>
              </a:rPr>
              <a:t>Incomes</a:t>
            </a:r>
            <a:endParaRPr lang="en-US" sz="1400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4A094A5E-A530-4DEA-40C8-529FC4B780E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79714" y="2104010"/>
            <a:ext cx="274320" cy="274320"/>
          </a:xfrm>
          <a:prstGeom prst="rect">
            <a:avLst/>
          </a:prstGeom>
        </p:spPr>
      </p:pic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81BDAD14-ED2F-B926-FA58-0E68AABEDFE1}"/>
              </a:ext>
            </a:extLst>
          </p:cNvPr>
          <p:cNvSpPr/>
          <p:nvPr/>
        </p:nvSpPr>
        <p:spPr>
          <a:xfrm>
            <a:off x="233994" y="2674908"/>
            <a:ext cx="365760" cy="36576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0CCDA8B-39B3-CDD2-3313-3DDBFF25C9C6}"/>
              </a:ext>
            </a:extLst>
          </p:cNvPr>
          <p:cNvSpPr txBox="1"/>
          <p:nvPr/>
        </p:nvSpPr>
        <p:spPr>
          <a:xfrm>
            <a:off x="721093" y="2723124"/>
            <a:ext cx="15461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bg2">
                    <a:lumMod val="50000"/>
                  </a:schemeClr>
                </a:solidFill>
              </a:rPr>
              <a:t>Virtualization  </a:t>
            </a:r>
            <a:r>
              <a:rPr lang="en-US" altLang="zh-CN" sz="800" dirty="0">
                <a:solidFill>
                  <a:schemeClr val="bg2">
                    <a:lumMod val="50000"/>
                  </a:schemeClr>
                </a:solidFill>
                <a:sym typeface="Wingdings 3" panose="05040102010807070707" pitchFamily="18" charset="2"/>
              </a:rPr>
              <a:t></a:t>
            </a:r>
            <a:endParaRPr lang="en-US" sz="1600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0506B572-5BC2-EFB0-6C1B-E0D191E072F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9714" y="2720628"/>
            <a:ext cx="274320" cy="274320"/>
          </a:xfrm>
          <a:prstGeom prst="rect">
            <a:avLst/>
          </a:prstGeom>
        </p:spPr>
      </p:pic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326A60AE-2E89-CEE5-FB47-2FF1D19AC722}"/>
              </a:ext>
            </a:extLst>
          </p:cNvPr>
          <p:cNvSpPr/>
          <p:nvPr/>
        </p:nvSpPr>
        <p:spPr>
          <a:xfrm>
            <a:off x="233994" y="3297360"/>
            <a:ext cx="365760" cy="36576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8042A83-E2C9-0063-9CAE-0984CBCB2D80}"/>
              </a:ext>
            </a:extLst>
          </p:cNvPr>
          <p:cNvSpPr txBox="1"/>
          <p:nvPr/>
        </p:nvSpPr>
        <p:spPr>
          <a:xfrm>
            <a:off x="730417" y="3341740"/>
            <a:ext cx="15461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bg2">
                    <a:lumMod val="50000"/>
                  </a:schemeClr>
                </a:solidFill>
              </a:rPr>
              <a:t>Customer Profile</a:t>
            </a:r>
            <a:endParaRPr lang="en-US" sz="12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0D56B70F-3F27-A251-0815-C61F4F9E8DB9}"/>
              </a:ext>
            </a:extLst>
          </p:cNvPr>
          <p:cNvSpPr/>
          <p:nvPr/>
        </p:nvSpPr>
        <p:spPr>
          <a:xfrm>
            <a:off x="233994" y="4516692"/>
            <a:ext cx="365760" cy="36576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5FD8BFA-9001-BACA-E085-90824599CC08}"/>
              </a:ext>
            </a:extLst>
          </p:cNvPr>
          <p:cNvSpPr txBox="1"/>
          <p:nvPr/>
        </p:nvSpPr>
        <p:spPr>
          <a:xfrm>
            <a:off x="730417" y="4561072"/>
            <a:ext cx="15461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bg2">
                    <a:lumMod val="50000"/>
                  </a:schemeClr>
                </a:solidFill>
              </a:rPr>
              <a:t>User Segmentation</a:t>
            </a:r>
            <a:endParaRPr lang="en-US" sz="16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5F55B823-F3DC-2E09-BDFC-6FBE61636CB3}"/>
              </a:ext>
            </a:extLst>
          </p:cNvPr>
          <p:cNvSpPr/>
          <p:nvPr/>
        </p:nvSpPr>
        <p:spPr>
          <a:xfrm>
            <a:off x="233994" y="3907026"/>
            <a:ext cx="365760" cy="36576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4627EB5-9942-03D5-454C-6CA401541DB9}"/>
              </a:ext>
            </a:extLst>
          </p:cNvPr>
          <p:cNvSpPr txBox="1"/>
          <p:nvPr/>
        </p:nvSpPr>
        <p:spPr>
          <a:xfrm>
            <a:off x="721093" y="3951406"/>
            <a:ext cx="15461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bg2">
                    <a:lumMod val="50000"/>
                  </a:schemeClr>
                </a:solidFill>
              </a:rPr>
              <a:t>Gold Match</a:t>
            </a:r>
            <a:endParaRPr lang="en-US" sz="1600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0451D753-B4D2-B306-6874-F4463210223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9714" y="3951406"/>
            <a:ext cx="274320" cy="274320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F636E43C-BFA8-B1DA-8C5D-6F268F68546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9714" y="3344419"/>
            <a:ext cx="274320" cy="27432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C6C61AB2-D22F-9104-DECA-E794B1AD6A1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9714" y="4565830"/>
            <a:ext cx="274320" cy="274320"/>
          </a:xfrm>
          <a:prstGeom prst="rect">
            <a:avLst/>
          </a:prstGeom>
        </p:spPr>
      </p:pic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DD348B09-C3BE-18DE-DC70-529960A121A1}"/>
              </a:ext>
            </a:extLst>
          </p:cNvPr>
          <p:cNvSpPr/>
          <p:nvPr/>
        </p:nvSpPr>
        <p:spPr>
          <a:xfrm>
            <a:off x="233994" y="5123679"/>
            <a:ext cx="365760" cy="36576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8BF4E00-F270-3123-9E77-B570DF3BC4A6}"/>
              </a:ext>
            </a:extLst>
          </p:cNvPr>
          <p:cNvSpPr txBox="1"/>
          <p:nvPr/>
        </p:nvSpPr>
        <p:spPr>
          <a:xfrm>
            <a:off x="730417" y="5168059"/>
            <a:ext cx="15461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bg2">
                    <a:lumMod val="50000"/>
                  </a:schemeClr>
                </a:solidFill>
              </a:rPr>
              <a:t>Real-time Sales</a:t>
            </a:r>
            <a:endParaRPr lang="en-US" sz="1600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62" name="Picture 61">
            <a:extLst>
              <a:ext uri="{FF2B5EF4-FFF2-40B4-BE49-F238E27FC236}">
                <a16:creationId xmlns:a16="http://schemas.microsoft.com/office/drawing/2014/main" id="{32457526-206D-D37D-37F4-D4DEAFE6040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79714" y="5170738"/>
            <a:ext cx="274320" cy="274320"/>
          </a:xfrm>
          <a:prstGeom prst="rect">
            <a:avLst/>
          </a:prstGeom>
        </p:spPr>
      </p:pic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7F4031DC-D78C-3036-E097-BFD5B7B60918}"/>
              </a:ext>
            </a:extLst>
          </p:cNvPr>
          <p:cNvSpPr/>
          <p:nvPr/>
        </p:nvSpPr>
        <p:spPr>
          <a:xfrm>
            <a:off x="233994" y="5733988"/>
            <a:ext cx="365760" cy="36576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25BF110-74F0-79A8-9882-0FE4DE73ACBF}"/>
              </a:ext>
            </a:extLst>
          </p:cNvPr>
          <p:cNvSpPr txBox="1"/>
          <p:nvPr/>
        </p:nvSpPr>
        <p:spPr>
          <a:xfrm>
            <a:off x="721093" y="5778368"/>
            <a:ext cx="15461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bg2">
                    <a:lumMod val="50000"/>
                  </a:schemeClr>
                </a:solidFill>
              </a:rPr>
              <a:t>Store</a:t>
            </a:r>
            <a:endParaRPr lang="en-US" sz="1600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67" name="Picture 66">
            <a:extLst>
              <a:ext uri="{FF2B5EF4-FFF2-40B4-BE49-F238E27FC236}">
                <a16:creationId xmlns:a16="http://schemas.microsoft.com/office/drawing/2014/main" id="{610ED4C1-709E-E747-FEB3-7AF7580DABC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79714" y="5778368"/>
            <a:ext cx="274320" cy="274320"/>
          </a:xfrm>
          <a:prstGeom prst="rect">
            <a:avLst/>
          </a:prstGeom>
        </p:spPr>
      </p:pic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AAFE4741-DA4C-0E71-8A57-178212DCC8D3}"/>
              </a:ext>
            </a:extLst>
          </p:cNvPr>
          <p:cNvSpPr/>
          <p:nvPr/>
        </p:nvSpPr>
        <p:spPr>
          <a:xfrm>
            <a:off x="233994" y="6356659"/>
            <a:ext cx="365760" cy="36576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296BA4F-9456-F5DB-2C37-E7C67CD3C468}"/>
              </a:ext>
            </a:extLst>
          </p:cNvPr>
          <p:cNvSpPr txBox="1"/>
          <p:nvPr/>
        </p:nvSpPr>
        <p:spPr>
          <a:xfrm>
            <a:off x="721093" y="6401039"/>
            <a:ext cx="15461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50000"/>
                  </a:schemeClr>
                </a:solidFill>
              </a:rPr>
              <a:t>Logout</a:t>
            </a:r>
            <a:endParaRPr lang="en-US" sz="1600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78" name="Picture 77">
            <a:extLst>
              <a:ext uri="{FF2B5EF4-FFF2-40B4-BE49-F238E27FC236}">
                <a16:creationId xmlns:a16="http://schemas.microsoft.com/office/drawing/2014/main" id="{38FDE838-2F45-47F6-EBEB-E08BB5B5B8A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79714" y="6401039"/>
            <a:ext cx="274320" cy="27432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A33CEA1B-8EA7-D5FC-5F25-E8E7F7D2B89E}"/>
              </a:ext>
            </a:extLst>
          </p:cNvPr>
          <p:cNvSpPr txBox="1"/>
          <p:nvPr/>
        </p:nvSpPr>
        <p:spPr>
          <a:xfrm>
            <a:off x="2583683" y="163378"/>
            <a:ext cx="1923485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00" dirty="0">
                <a:solidFill>
                  <a:schemeClr val="bg2">
                    <a:lumMod val="50000"/>
                  </a:schemeClr>
                </a:solidFill>
              </a:rPr>
              <a:t>Pages  </a:t>
            </a:r>
            <a:r>
              <a:rPr lang="en-US" altLang="zh-CN" sz="1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/  Incomes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54EAFCD-8F5A-D1EB-90B2-E66E301A2C63}"/>
              </a:ext>
            </a:extLst>
          </p:cNvPr>
          <p:cNvSpPr txBox="1"/>
          <p:nvPr/>
        </p:nvSpPr>
        <p:spPr>
          <a:xfrm>
            <a:off x="2583683" y="410046"/>
            <a:ext cx="12404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Incomes</a:t>
            </a:r>
            <a:endParaRPr lang="en-US" sz="1400" b="1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8443DEA4-1144-01E2-0DCB-888CBC00F4AA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801350" y="280291"/>
            <a:ext cx="228600" cy="22860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E44A43CC-0F9C-CF55-D4E2-D5FD02E23F8D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144250" y="282067"/>
            <a:ext cx="228600" cy="228600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DE9CE401-2F36-75F5-FE00-7BA40C94C548}"/>
              </a:ext>
            </a:extLst>
          </p:cNvPr>
          <p:cNvSpPr txBox="1"/>
          <p:nvPr/>
        </p:nvSpPr>
        <p:spPr>
          <a:xfrm>
            <a:off x="11372850" y="233297"/>
            <a:ext cx="7573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bg2">
                    <a:lumMod val="50000"/>
                  </a:schemeClr>
                </a:solidFill>
              </a:rPr>
              <a:t>Admin</a:t>
            </a:r>
            <a:endParaRPr lang="en-US" sz="14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FA05D054-4BA8-5F7D-D382-3B343AB3D379}"/>
              </a:ext>
            </a:extLst>
          </p:cNvPr>
          <p:cNvSpPr/>
          <p:nvPr/>
        </p:nvSpPr>
        <p:spPr>
          <a:xfrm>
            <a:off x="2580832" y="946441"/>
            <a:ext cx="4265738" cy="2231359"/>
          </a:xfrm>
          <a:prstGeom prst="roundRect">
            <a:avLst>
              <a:gd name="adj" fmla="val 3714"/>
            </a:avLst>
          </a:prstGeom>
          <a:solidFill>
            <a:schemeClr val="bg1"/>
          </a:solidFill>
          <a:ln>
            <a:noFill/>
          </a:ln>
          <a:effectLst>
            <a:outerShdw blurRad="215900" dist="203200" dir="2760000" sx="95000" sy="95000" algn="tl" rotWithShape="0">
              <a:schemeClr val="bg2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C8062D4-22C7-687A-20D3-F05259E6252E}"/>
              </a:ext>
            </a:extLst>
          </p:cNvPr>
          <p:cNvSpPr/>
          <p:nvPr/>
        </p:nvSpPr>
        <p:spPr>
          <a:xfrm>
            <a:off x="7101718" y="946441"/>
            <a:ext cx="1927982" cy="2231359"/>
          </a:xfrm>
          <a:prstGeom prst="roundRect">
            <a:avLst>
              <a:gd name="adj" fmla="val 4287"/>
            </a:avLst>
          </a:prstGeom>
          <a:solidFill>
            <a:schemeClr val="bg1"/>
          </a:solidFill>
          <a:ln>
            <a:noFill/>
          </a:ln>
          <a:effectLst>
            <a:outerShdw blurRad="215900" dist="203200" dir="2760000" sx="95000" sy="95000" algn="tl" rotWithShape="0">
              <a:schemeClr val="bg2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A0813FB-3009-641A-FFD9-450F69C2A7E9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940677" y="1303996"/>
            <a:ext cx="411480" cy="411480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A8FD3605-E6F6-617E-FABA-3B9BC2D50481}"/>
              </a:ext>
            </a:extLst>
          </p:cNvPr>
          <p:cNvSpPr txBox="1"/>
          <p:nvPr/>
        </p:nvSpPr>
        <p:spPr>
          <a:xfrm>
            <a:off x="3443597" y="1294962"/>
            <a:ext cx="19234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Tea Stories</a:t>
            </a:r>
            <a:endParaRPr lang="en-US" sz="1400" b="1" dirty="0"/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8B885886-B1B1-9BDD-A24E-0168487BFD19}"/>
              </a:ext>
            </a:extLst>
          </p:cNvPr>
          <p:cNvSpPr/>
          <p:nvPr/>
        </p:nvSpPr>
        <p:spPr>
          <a:xfrm>
            <a:off x="3524188" y="1577495"/>
            <a:ext cx="1005840" cy="184114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/>
              <a:t>Sri </a:t>
            </a:r>
            <a:r>
              <a:rPr lang="en-US" sz="1000" b="1" dirty="0" err="1"/>
              <a:t>Petaling</a:t>
            </a:r>
            <a:r>
              <a:rPr lang="en-US" sz="1000" b="1" dirty="0"/>
              <a:t>  </a:t>
            </a:r>
            <a:r>
              <a:rPr lang="en-US" sz="600" b="1" dirty="0">
                <a:sym typeface="Wingdings 3" panose="05040102010807070707" pitchFamily="18" charset="2"/>
              </a:rPr>
              <a:t></a:t>
            </a:r>
            <a:endParaRPr lang="en-US" sz="1000" b="1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404EDAC-67EB-1743-F7F4-9DC2599E97D9}"/>
              </a:ext>
            </a:extLst>
          </p:cNvPr>
          <p:cNvSpPr txBox="1"/>
          <p:nvPr/>
        </p:nvSpPr>
        <p:spPr>
          <a:xfrm>
            <a:off x="2842260" y="1971543"/>
            <a:ext cx="137160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00" b="1" dirty="0">
                <a:solidFill>
                  <a:schemeClr val="bg2">
                    <a:lumMod val="50000"/>
                  </a:schemeClr>
                </a:solidFill>
              </a:rPr>
              <a:t>Store ID</a:t>
            </a:r>
            <a:endParaRPr lang="en-US" sz="13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C03B842-C052-6DA0-8112-51131A8B79ED}"/>
              </a:ext>
            </a:extLst>
          </p:cNvPr>
          <p:cNvSpPr txBox="1"/>
          <p:nvPr/>
        </p:nvSpPr>
        <p:spPr>
          <a:xfrm>
            <a:off x="2842260" y="2262341"/>
            <a:ext cx="137160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00" b="1" dirty="0">
                <a:solidFill>
                  <a:schemeClr val="bg2">
                    <a:lumMod val="50000"/>
                  </a:schemeClr>
                </a:solidFill>
              </a:rPr>
              <a:t>Register Date</a:t>
            </a:r>
            <a:endParaRPr lang="en-US" sz="13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3D7D59D-D682-4C69-2E94-202B66A70869}"/>
              </a:ext>
            </a:extLst>
          </p:cNvPr>
          <p:cNvSpPr txBox="1"/>
          <p:nvPr/>
        </p:nvSpPr>
        <p:spPr>
          <a:xfrm>
            <a:off x="2849237" y="2573908"/>
            <a:ext cx="137160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00" b="1" dirty="0">
                <a:solidFill>
                  <a:schemeClr val="bg2">
                    <a:lumMod val="50000"/>
                  </a:schemeClr>
                </a:solidFill>
              </a:rPr>
              <a:t>Manager</a:t>
            </a:r>
            <a:endParaRPr lang="en-US" sz="13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6A1ABA4-4142-5519-DFCA-0A21E4D97091}"/>
              </a:ext>
            </a:extLst>
          </p:cNvPr>
          <p:cNvSpPr txBox="1"/>
          <p:nvPr/>
        </p:nvSpPr>
        <p:spPr>
          <a:xfrm>
            <a:off x="4583308" y="1971543"/>
            <a:ext cx="164592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</a:rPr>
              <a:t>ST455486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D78ED07-576B-191A-9BA0-2D371169B1C5}"/>
              </a:ext>
            </a:extLst>
          </p:cNvPr>
          <p:cNvSpPr txBox="1"/>
          <p:nvPr/>
        </p:nvSpPr>
        <p:spPr>
          <a:xfrm>
            <a:off x="4583308" y="2273360"/>
            <a:ext cx="164592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</a:rPr>
              <a:t>05 November 2003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44279CC-BFA1-5100-BBB2-EBF46E32F93C}"/>
              </a:ext>
            </a:extLst>
          </p:cNvPr>
          <p:cNvSpPr txBox="1"/>
          <p:nvPr/>
        </p:nvSpPr>
        <p:spPr>
          <a:xfrm>
            <a:off x="4583308" y="2573908"/>
            <a:ext cx="164592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</a:rPr>
              <a:t>Mike Wong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5553F246-C9EF-11BE-C782-6F0BC4CA7FA1}"/>
              </a:ext>
            </a:extLst>
          </p:cNvPr>
          <p:cNvSpPr/>
          <p:nvPr/>
        </p:nvSpPr>
        <p:spPr>
          <a:xfrm>
            <a:off x="7745669" y="1267310"/>
            <a:ext cx="640080" cy="640080"/>
          </a:xfrm>
          <a:prstGeom prst="roundRect">
            <a:avLst/>
          </a:prstGeom>
          <a:gradFill flip="none" rotWithShape="1">
            <a:gsLst>
              <a:gs pos="58000">
                <a:srgbClr val="D735B0">
                  <a:lumMod val="95000"/>
                </a:srgbClr>
              </a:gs>
              <a:gs pos="21000">
                <a:srgbClr val="8638C7"/>
              </a:gs>
              <a:gs pos="87000">
                <a:srgbClr val="FE237E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2" name="Picture 51" descr="A hand holding money&#10;&#10;AI-generated content may be incorrect.">
            <a:extLst>
              <a:ext uri="{FF2B5EF4-FFF2-40B4-BE49-F238E27FC236}">
                <a16:creationId xmlns:a16="http://schemas.microsoft.com/office/drawing/2014/main" id="{CE911E5B-0B38-F2A7-6DC1-9E1F7F2BB263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7109" y="1360038"/>
            <a:ext cx="457200" cy="457200"/>
          </a:xfrm>
          <a:prstGeom prst="rect">
            <a:avLst/>
          </a:prstGeom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801239A1-1D1F-D6BD-9781-901B08E811C6}"/>
              </a:ext>
            </a:extLst>
          </p:cNvPr>
          <p:cNvSpPr txBox="1"/>
          <p:nvPr/>
        </p:nvSpPr>
        <p:spPr>
          <a:xfrm>
            <a:off x="7667945" y="2236674"/>
            <a:ext cx="7955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Income</a:t>
            </a:r>
            <a:endParaRPr lang="en-US" sz="1400" b="1" dirty="0"/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36CAE46A-F4A2-6A23-3E66-2123D446EF86}"/>
              </a:ext>
            </a:extLst>
          </p:cNvPr>
          <p:cNvCxnSpPr/>
          <p:nvPr/>
        </p:nvCxnSpPr>
        <p:spPr>
          <a:xfrm>
            <a:off x="7469505" y="2644544"/>
            <a:ext cx="1123828" cy="0"/>
          </a:xfrm>
          <a:prstGeom prst="line">
            <a:avLst/>
          </a:prstGeom>
          <a:ln w="317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02FEAB4F-8588-73B6-B01A-9DBAF9394CEC}"/>
              </a:ext>
            </a:extLst>
          </p:cNvPr>
          <p:cNvSpPr txBox="1"/>
          <p:nvPr/>
        </p:nvSpPr>
        <p:spPr>
          <a:xfrm>
            <a:off x="7517069" y="2744638"/>
            <a:ext cx="10972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B050"/>
                </a:solidFill>
              </a:rPr>
              <a:t>+ RM 2,000</a:t>
            </a: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D79FA251-8AF9-A0D6-7A9D-779D767CAB3C}"/>
              </a:ext>
            </a:extLst>
          </p:cNvPr>
          <p:cNvSpPr/>
          <p:nvPr/>
        </p:nvSpPr>
        <p:spPr>
          <a:xfrm>
            <a:off x="9284907" y="946441"/>
            <a:ext cx="2726815" cy="3708193"/>
          </a:xfrm>
          <a:prstGeom prst="roundRect">
            <a:avLst>
              <a:gd name="adj" fmla="val 3714"/>
            </a:avLst>
          </a:prstGeom>
          <a:solidFill>
            <a:schemeClr val="bg1"/>
          </a:solidFill>
          <a:ln>
            <a:noFill/>
          </a:ln>
          <a:effectLst>
            <a:outerShdw blurRad="215900" dist="203200" dir="2760000" sx="95000" sy="95000" algn="tl" rotWithShape="0">
              <a:schemeClr val="bg2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1" name="Rectangle: Rounded Corners 70">
            <a:extLst>
              <a:ext uri="{FF2B5EF4-FFF2-40B4-BE49-F238E27FC236}">
                <a16:creationId xmlns:a16="http://schemas.microsoft.com/office/drawing/2014/main" id="{6504E678-8CF4-8262-0AD4-9802856F1D9B}"/>
              </a:ext>
            </a:extLst>
          </p:cNvPr>
          <p:cNvSpPr/>
          <p:nvPr/>
        </p:nvSpPr>
        <p:spPr>
          <a:xfrm>
            <a:off x="2580831" y="3420194"/>
            <a:ext cx="6448867" cy="1234440"/>
          </a:xfrm>
          <a:prstGeom prst="roundRect">
            <a:avLst>
              <a:gd name="adj" fmla="val 3714"/>
            </a:avLst>
          </a:prstGeom>
          <a:solidFill>
            <a:schemeClr val="bg1"/>
          </a:solidFill>
          <a:ln>
            <a:noFill/>
          </a:ln>
          <a:effectLst>
            <a:outerShdw blurRad="215900" dist="203200" dir="2760000" sx="95000" sy="95000" algn="tl" rotWithShape="0">
              <a:schemeClr val="bg2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6B53648-01C8-A141-69F2-A19BB12E7B52}"/>
              </a:ext>
            </a:extLst>
          </p:cNvPr>
          <p:cNvSpPr txBox="1"/>
          <p:nvPr/>
        </p:nvSpPr>
        <p:spPr>
          <a:xfrm>
            <a:off x="2631727" y="3444001"/>
            <a:ext cx="1923485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</a:rPr>
              <a:t>BANK ACCOUNT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1A98D77-CB20-6ADB-B544-7614B0CFB9EB}"/>
              </a:ext>
            </a:extLst>
          </p:cNvPr>
          <p:cNvSpPr txBox="1"/>
          <p:nvPr/>
        </p:nvSpPr>
        <p:spPr>
          <a:xfrm>
            <a:off x="2628257" y="3663120"/>
            <a:ext cx="1923485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</a:rPr>
              <a:t>Bank Type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87CF0D0-3A67-0D34-4AB3-3B3917656816}"/>
              </a:ext>
            </a:extLst>
          </p:cNvPr>
          <p:cNvSpPr txBox="1"/>
          <p:nvPr/>
        </p:nvSpPr>
        <p:spPr>
          <a:xfrm>
            <a:off x="5886328" y="3663120"/>
            <a:ext cx="1923485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</a:rPr>
              <a:t>Bank </a:t>
            </a:r>
            <a:r>
              <a:rPr lang="en-US" altLang="zh-CN" sz="1300" dirty="0">
                <a:solidFill>
                  <a:schemeClr val="bg2">
                    <a:lumMod val="50000"/>
                  </a:schemeClr>
                </a:solidFill>
              </a:rPr>
              <a:t>Number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15073ADC-257C-9465-A354-CE724558626F}"/>
              </a:ext>
            </a:extLst>
          </p:cNvPr>
          <p:cNvSpPr/>
          <p:nvPr/>
        </p:nvSpPr>
        <p:spPr>
          <a:xfrm>
            <a:off x="2713863" y="3956899"/>
            <a:ext cx="2489139" cy="507081"/>
          </a:xfrm>
          <a:prstGeom prst="roundRect">
            <a:avLst>
              <a:gd name="adj" fmla="val 9524"/>
            </a:avLst>
          </a:prstGeom>
          <a:solidFill>
            <a:schemeClr val="bg1">
              <a:lumMod val="95000"/>
            </a:schemeClr>
          </a:solidFill>
          <a:ln w="12700">
            <a:noFill/>
            <a:prstDash val="sysDot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2BDC6ABB-ECDE-3774-AB61-2DDF677299E7}"/>
              </a:ext>
            </a:extLst>
          </p:cNvPr>
          <p:cNvSpPr txBox="1"/>
          <p:nvPr/>
        </p:nvSpPr>
        <p:spPr>
          <a:xfrm>
            <a:off x="2996689" y="4079532"/>
            <a:ext cx="1923485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</a:rPr>
              <a:t>MAYBANK                      </a:t>
            </a:r>
            <a:r>
              <a:rPr lang="en-US" sz="1050" dirty="0">
                <a:solidFill>
                  <a:schemeClr val="bg2">
                    <a:lumMod val="50000"/>
                  </a:schemeClr>
                </a:solidFill>
                <a:sym typeface="Wingdings 3" panose="05040102010807070707" pitchFamily="18" charset="2"/>
              </a:rPr>
              <a:t>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7" name="Rectangle: Rounded Corners 76">
            <a:extLst>
              <a:ext uri="{FF2B5EF4-FFF2-40B4-BE49-F238E27FC236}">
                <a16:creationId xmlns:a16="http://schemas.microsoft.com/office/drawing/2014/main" id="{0963EC3B-C8B5-DC5E-35BC-4183394AC1CE}"/>
              </a:ext>
            </a:extLst>
          </p:cNvPr>
          <p:cNvSpPr/>
          <p:nvPr/>
        </p:nvSpPr>
        <p:spPr>
          <a:xfrm>
            <a:off x="5965190" y="3951406"/>
            <a:ext cx="2813050" cy="507081"/>
          </a:xfrm>
          <a:prstGeom prst="roundRect">
            <a:avLst>
              <a:gd name="adj" fmla="val 9524"/>
            </a:avLst>
          </a:prstGeom>
          <a:solidFill>
            <a:schemeClr val="bg1">
              <a:lumMod val="95000"/>
            </a:schemeClr>
          </a:solidFill>
          <a:ln w="12700">
            <a:noFill/>
            <a:prstDash val="sysDot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F898E537-8215-45FA-DBC7-89C8A41C48C0}"/>
              </a:ext>
            </a:extLst>
          </p:cNvPr>
          <p:cNvSpPr txBox="1"/>
          <p:nvPr/>
        </p:nvSpPr>
        <p:spPr>
          <a:xfrm>
            <a:off x="6266273" y="4079532"/>
            <a:ext cx="2210884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</a:rPr>
              <a:t>1526      ****      ****     5466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392F3EE-118A-E15E-15E8-7D1A856B64CA}"/>
              </a:ext>
            </a:extLst>
          </p:cNvPr>
          <p:cNvSpPr txBox="1"/>
          <p:nvPr/>
        </p:nvSpPr>
        <p:spPr>
          <a:xfrm>
            <a:off x="9335065" y="1028002"/>
            <a:ext cx="1923485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</a:rPr>
              <a:t>INVOICES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1" name="Rectangle: Rounded Corners 80">
            <a:extLst>
              <a:ext uri="{FF2B5EF4-FFF2-40B4-BE49-F238E27FC236}">
                <a16:creationId xmlns:a16="http://schemas.microsoft.com/office/drawing/2014/main" id="{3C731904-8170-7A5B-0DAB-2581695359E7}"/>
              </a:ext>
            </a:extLst>
          </p:cNvPr>
          <p:cNvSpPr/>
          <p:nvPr/>
        </p:nvSpPr>
        <p:spPr>
          <a:xfrm>
            <a:off x="11258550" y="1044396"/>
            <a:ext cx="640080" cy="2596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View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AB8D0E5D-0398-D131-7475-8906B68227B3}"/>
              </a:ext>
            </a:extLst>
          </p:cNvPr>
          <p:cNvSpPr txBox="1"/>
          <p:nvPr/>
        </p:nvSpPr>
        <p:spPr>
          <a:xfrm>
            <a:off x="9335065" y="1569282"/>
            <a:ext cx="164592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</a:rPr>
              <a:t>March 01,  2020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28141F8D-8152-72E2-8CED-E69A1FCFCE8C}"/>
              </a:ext>
            </a:extLst>
          </p:cNvPr>
          <p:cNvSpPr txBox="1"/>
          <p:nvPr/>
        </p:nvSpPr>
        <p:spPr>
          <a:xfrm>
            <a:off x="9335065" y="1907390"/>
            <a:ext cx="164592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</a:rPr>
              <a:t>March 02,  2020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6419BB80-7137-1818-A72A-D61A4F33A48B}"/>
              </a:ext>
            </a:extLst>
          </p:cNvPr>
          <p:cNvSpPr txBox="1"/>
          <p:nvPr/>
        </p:nvSpPr>
        <p:spPr>
          <a:xfrm>
            <a:off x="9335065" y="2245498"/>
            <a:ext cx="164592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</a:rPr>
              <a:t>March 03,  2020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A242F02B-744C-67F5-E729-B3A0E45DC2FA}"/>
              </a:ext>
            </a:extLst>
          </p:cNvPr>
          <p:cNvSpPr txBox="1"/>
          <p:nvPr/>
        </p:nvSpPr>
        <p:spPr>
          <a:xfrm>
            <a:off x="9335065" y="2577431"/>
            <a:ext cx="164592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</a:rPr>
              <a:t>March 04,  2020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4C7B3EDE-4424-6DB6-A96F-4AD06942F4D5}"/>
              </a:ext>
            </a:extLst>
          </p:cNvPr>
          <p:cNvSpPr txBox="1"/>
          <p:nvPr/>
        </p:nvSpPr>
        <p:spPr>
          <a:xfrm>
            <a:off x="9335065" y="2909364"/>
            <a:ext cx="164592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</a:rPr>
              <a:t>March 05,  2020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186D344D-9723-C38B-4415-FC3099B7BC23}"/>
              </a:ext>
            </a:extLst>
          </p:cNvPr>
          <p:cNvSpPr txBox="1"/>
          <p:nvPr/>
        </p:nvSpPr>
        <p:spPr>
          <a:xfrm>
            <a:off x="9329107" y="3241297"/>
            <a:ext cx="164592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</a:rPr>
              <a:t>March 06,  2020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FBB80945-80DB-FC70-8DAD-25769DAA51BF}"/>
              </a:ext>
            </a:extLst>
          </p:cNvPr>
          <p:cNvSpPr txBox="1"/>
          <p:nvPr/>
        </p:nvSpPr>
        <p:spPr>
          <a:xfrm>
            <a:off x="9329107" y="3573230"/>
            <a:ext cx="164592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</a:rPr>
              <a:t>March 07,  2020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5F0A021B-7743-6E33-D67E-7B32B8209F9B}"/>
              </a:ext>
            </a:extLst>
          </p:cNvPr>
          <p:cNvSpPr txBox="1"/>
          <p:nvPr/>
        </p:nvSpPr>
        <p:spPr>
          <a:xfrm>
            <a:off x="9329107" y="3904492"/>
            <a:ext cx="164592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</a:rPr>
              <a:t>March 08,  2020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37467A84-77D4-78CB-0786-A102303049F6}"/>
              </a:ext>
            </a:extLst>
          </p:cNvPr>
          <p:cNvSpPr txBox="1"/>
          <p:nvPr/>
        </p:nvSpPr>
        <p:spPr>
          <a:xfrm>
            <a:off x="9329107" y="4232961"/>
            <a:ext cx="164592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</a:rPr>
              <a:t>March 09,  2020</a:t>
            </a:r>
          </a:p>
        </p:txBody>
      </p:sp>
      <p:sp>
        <p:nvSpPr>
          <p:cNvPr id="91" name="Rectangle: Rounded Corners 90">
            <a:extLst>
              <a:ext uri="{FF2B5EF4-FFF2-40B4-BE49-F238E27FC236}">
                <a16:creationId xmlns:a16="http://schemas.microsoft.com/office/drawing/2014/main" id="{30F9E1ED-8944-B8CD-CBA3-4BA1E9B6B3CB}"/>
              </a:ext>
            </a:extLst>
          </p:cNvPr>
          <p:cNvSpPr/>
          <p:nvPr/>
        </p:nvSpPr>
        <p:spPr>
          <a:xfrm>
            <a:off x="11144250" y="1569062"/>
            <a:ext cx="672143" cy="292608"/>
          </a:xfrm>
          <a:prstGeom prst="roundRect">
            <a:avLst/>
          </a:prstGeom>
          <a:solidFill>
            <a:srgbClr val="FF9F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   PDF</a:t>
            </a:r>
          </a:p>
        </p:txBody>
      </p:sp>
      <p:pic>
        <p:nvPicPr>
          <p:cNvPr id="95" name="Picture 94" descr="A white line on a black background&#10;&#10;AI-generated content may be incorrect.">
            <a:extLst>
              <a:ext uri="{FF2B5EF4-FFF2-40B4-BE49-F238E27FC236}">
                <a16:creationId xmlns:a16="http://schemas.microsoft.com/office/drawing/2014/main" id="{8C5EC084-2B6B-A491-38DF-307140798443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7778" y="1622340"/>
            <a:ext cx="182880" cy="182880"/>
          </a:xfrm>
          <a:prstGeom prst="rect">
            <a:avLst/>
          </a:prstGeom>
        </p:spPr>
      </p:pic>
      <p:sp>
        <p:nvSpPr>
          <p:cNvPr id="96" name="Rectangle: Rounded Corners 95">
            <a:extLst>
              <a:ext uri="{FF2B5EF4-FFF2-40B4-BE49-F238E27FC236}">
                <a16:creationId xmlns:a16="http://schemas.microsoft.com/office/drawing/2014/main" id="{C6EAF07A-04B1-9F01-B1C8-C9060C600155}"/>
              </a:ext>
            </a:extLst>
          </p:cNvPr>
          <p:cNvSpPr/>
          <p:nvPr/>
        </p:nvSpPr>
        <p:spPr>
          <a:xfrm>
            <a:off x="11144250" y="1907170"/>
            <a:ext cx="672143" cy="292608"/>
          </a:xfrm>
          <a:prstGeom prst="roundRect">
            <a:avLst/>
          </a:prstGeom>
          <a:solidFill>
            <a:srgbClr val="FF9F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   PDF</a:t>
            </a:r>
          </a:p>
        </p:txBody>
      </p:sp>
      <p:pic>
        <p:nvPicPr>
          <p:cNvPr id="97" name="Picture 96" descr="A white line on a black background&#10;&#10;AI-generated content may be incorrect.">
            <a:extLst>
              <a:ext uri="{FF2B5EF4-FFF2-40B4-BE49-F238E27FC236}">
                <a16:creationId xmlns:a16="http://schemas.microsoft.com/office/drawing/2014/main" id="{88483141-CD1C-103C-DA70-206C9258B59E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7778" y="1960448"/>
            <a:ext cx="182880" cy="182880"/>
          </a:xfrm>
          <a:prstGeom prst="rect">
            <a:avLst/>
          </a:prstGeom>
        </p:spPr>
      </p:pic>
      <p:sp>
        <p:nvSpPr>
          <p:cNvPr id="98" name="Rectangle: Rounded Corners 97">
            <a:extLst>
              <a:ext uri="{FF2B5EF4-FFF2-40B4-BE49-F238E27FC236}">
                <a16:creationId xmlns:a16="http://schemas.microsoft.com/office/drawing/2014/main" id="{AE90F529-5EA4-5C64-C8D7-78496BC2B6CF}"/>
              </a:ext>
            </a:extLst>
          </p:cNvPr>
          <p:cNvSpPr/>
          <p:nvPr/>
        </p:nvSpPr>
        <p:spPr>
          <a:xfrm>
            <a:off x="11144250" y="2243004"/>
            <a:ext cx="672143" cy="292608"/>
          </a:xfrm>
          <a:prstGeom prst="roundRect">
            <a:avLst/>
          </a:prstGeom>
          <a:solidFill>
            <a:srgbClr val="FF9F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   PDF</a:t>
            </a:r>
          </a:p>
        </p:txBody>
      </p:sp>
      <p:pic>
        <p:nvPicPr>
          <p:cNvPr id="99" name="Picture 98" descr="A white line on a black background&#10;&#10;AI-generated content may be incorrect.">
            <a:extLst>
              <a:ext uri="{FF2B5EF4-FFF2-40B4-BE49-F238E27FC236}">
                <a16:creationId xmlns:a16="http://schemas.microsoft.com/office/drawing/2014/main" id="{06492E79-070A-262B-DDB3-DF3D618E1B59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7778" y="2296282"/>
            <a:ext cx="182880" cy="182880"/>
          </a:xfrm>
          <a:prstGeom prst="rect">
            <a:avLst/>
          </a:prstGeom>
        </p:spPr>
      </p:pic>
      <p:sp>
        <p:nvSpPr>
          <p:cNvPr id="100" name="Rectangle: Rounded Corners 99">
            <a:extLst>
              <a:ext uri="{FF2B5EF4-FFF2-40B4-BE49-F238E27FC236}">
                <a16:creationId xmlns:a16="http://schemas.microsoft.com/office/drawing/2014/main" id="{F49BD0AD-CB31-09D9-8979-93A35F35B4CD}"/>
              </a:ext>
            </a:extLst>
          </p:cNvPr>
          <p:cNvSpPr/>
          <p:nvPr/>
        </p:nvSpPr>
        <p:spPr>
          <a:xfrm>
            <a:off x="11144250" y="2572172"/>
            <a:ext cx="672143" cy="292608"/>
          </a:xfrm>
          <a:prstGeom prst="roundRect">
            <a:avLst/>
          </a:prstGeom>
          <a:solidFill>
            <a:srgbClr val="FF9F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   PDF</a:t>
            </a:r>
          </a:p>
        </p:txBody>
      </p:sp>
      <p:pic>
        <p:nvPicPr>
          <p:cNvPr id="101" name="Picture 100" descr="A white line on a black background&#10;&#10;AI-generated content may be incorrect.">
            <a:extLst>
              <a:ext uri="{FF2B5EF4-FFF2-40B4-BE49-F238E27FC236}">
                <a16:creationId xmlns:a16="http://schemas.microsoft.com/office/drawing/2014/main" id="{823B1512-3D87-CE9C-957D-EFB7A224031A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7778" y="2625450"/>
            <a:ext cx="182880" cy="182880"/>
          </a:xfrm>
          <a:prstGeom prst="rect">
            <a:avLst/>
          </a:prstGeom>
        </p:spPr>
      </p:pic>
      <p:sp>
        <p:nvSpPr>
          <p:cNvPr id="102" name="Rectangle: Rounded Corners 101">
            <a:extLst>
              <a:ext uri="{FF2B5EF4-FFF2-40B4-BE49-F238E27FC236}">
                <a16:creationId xmlns:a16="http://schemas.microsoft.com/office/drawing/2014/main" id="{1FB856AC-D6A1-DCCF-7A5F-D87B0DF3AEEF}"/>
              </a:ext>
            </a:extLst>
          </p:cNvPr>
          <p:cNvSpPr/>
          <p:nvPr/>
        </p:nvSpPr>
        <p:spPr>
          <a:xfrm>
            <a:off x="11144250" y="2909364"/>
            <a:ext cx="672143" cy="292608"/>
          </a:xfrm>
          <a:prstGeom prst="roundRect">
            <a:avLst/>
          </a:prstGeom>
          <a:solidFill>
            <a:srgbClr val="FF9F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   PDF</a:t>
            </a:r>
          </a:p>
        </p:txBody>
      </p:sp>
      <p:pic>
        <p:nvPicPr>
          <p:cNvPr id="103" name="Picture 102" descr="A white line on a black background&#10;&#10;AI-generated content may be incorrect.">
            <a:extLst>
              <a:ext uri="{FF2B5EF4-FFF2-40B4-BE49-F238E27FC236}">
                <a16:creationId xmlns:a16="http://schemas.microsoft.com/office/drawing/2014/main" id="{A6D6906D-76A8-DCA5-2D94-891D1E0D0812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7778" y="2962642"/>
            <a:ext cx="182880" cy="182880"/>
          </a:xfrm>
          <a:prstGeom prst="rect">
            <a:avLst/>
          </a:prstGeom>
        </p:spPr>
      </p:pic>
      <p:sp>
        <p:nvSpPr>
          <p:cNvPr id="104" name="Rectangle: Rounded Corners 103">
            <a:extLst>
              <a:ext uri="{FF2B5EF4-FFF2-40B4-BE49-F238E27FC236}">
                <a16:creationId xmlns:a16="http://schemas.microsoft.com/office/drawing/2014/main" id="{E181CAC9-28B8-83A7-AA66-DF873FD93228}"/>
              </a:ext>
            </a:extLst>
          </p:cNvPr>
          <p:cNvSpPr/>
          <p:nvPr/>
        </p:nvSpPr>
        <p:spPr>
          <a:xfrm>
            <a:off x="11144250" y="3241077"/>
            <a:ext cx="672143" cy="292608"/>
          </a:xfrm>
          <a:prstGeom prst="roundRect">
            <a:avLst/>
          </a:prstGeom>
          <a:solidFill>
            <a:srgbClr val="FF9F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   PDF</a:t>
            </a:r>
          </a:p>
        </p:txBody>
      </p:sp>
      <p:pic>
        <p:nvPicPr>
          <p:cNvPr id="105" name="Picture 104" descr="A white line on a black background&#10;&#10;AI-generated content may be incorrect.">
            <a:extLst>
              <a:ext uri="{FF2B5EF4-FFF2-40B4-BE49-F238E27FC236}">
                <a16:creationId xmlns:a16="http://schemas.microsoft.com/office/drawing/2014/main" id="{D4BBE6A5-E164-D597-96CF-2BC440ADE930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7778" y="3294355"/>
            <a:ext cx="182880" cy="182880"/>
          </a:xfrm>
          <a:prstGeom prst="rect">
            <a:avLst/>
          </a:prstGeom>
        </p:spPr>
      </p:pic>
      <p:sp>
        <p:nvSpPr>
          <p:cNvPr id="106" name="Rectangle: Rounded Corners 105">
            <a:extLst>
              <a:ext uri="{FF2B5EF4-FFF2-40B4-BE49-F238E27FC236}">
                <a16:creationId xmlns:a16="http://schemas.microsoft.com/office/drawing/2014/main" id="{35D4F960-CD03-7931-69FC-F219E421502C}"/>
              </a:ext>
            </a:extLst>
          </p:cNvPr>
          <p:cNvSpPr/>
          <p:nvPr/>
        </p:nvSpPr>
        <p:spPr>
          <a:xfrm>
            <a:off x="11144250" y="3573230"/>
            <a:ext cx="672143" cy="292608"/>
          </a:xfrm>
          <a:prstGeom prst="roundRect">
            <a:avLst/>
          </a:prstGeom>
          <a:solidFill>
            <a:srgbClr val="FF9F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   PDF</a:t>
            </a:r>
          </a:p>
        </p:txBody>
      </p:sp>
      <p:pic>
        <p:nvPicPr>
          <p:cNvPr id="107" name="Picture 106" descr="A white line on a black background&#10;&#10;AI-generated content may be incorrect.">
            <a:extLst>
              <a:ext uri="{FF2B5EF4-FFF2-40B4-BE49-F238E27FC236}">
                <a16:creationId xmlns:a16="http://schemas.microsoft.com/office/drawing/2014/main" id="{D6D3184B-99C0-CC17-4E1A-246FF62392CF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7778" y="3626508"/>
            <a:ext cx="182880" cy="182880"/>
          </a:xfrm>
          <a:prstGeom prst="rect">
            <a:avLst/>
          </a:prstGeom>
        </p:spPr>
      </p:pic>
      <p:sp>
        <p:nvSpPr>
          <p:cNvPr id="110" name="Rectangle: Rounded Corners 109">
            <a:extLst>
              <a:ext uri="{FF2B5EF4-FFF2-40B4-BE49-F238E27FC236}">
                <a16:creationId xmlns:a16="http://schemas.microsoft.com/office/drawing/2014/main" id="{B2AB299F-D951-BD6D-D467-7C598AB5038F}"/>
              </a:ext>
            </a:extLst>
          </p:cNvPr>
          <p:cNvSpPr/>
          <p:nvPr/>
        </p:nvSpPr>
        <p:spPr>
          <a:xfrm>
            <a:off x="11144250" y="3904272"/>
            <a:ext cx="672143" cy="292608"/>
          </a:xfrm>
          <a:prstGeom prst="roundRect">
            <a:avLst/>
          </a:prstGeom>
          <a:solidFill>
            <a:srgbClr val="FF9F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   PDF</a:t>
            </a:r>
          </a:p>
        </p:txBody>
      </p:sp>
      <p:pic>
        <p:nvPicPr>
          <p:cNvPr id="111" name="Picture 110" descr="A white line on a black background&#10;&#10;AI-generated content may be incorrect.">
            <a:extLst>
              <a:ext uri="{FF2B5EF4-FFF2-40B4-BE49-F238E27FC236}">
                <a16:creationId xmlns:a16="http://schemas.microsoft.com/office/drawing/2014/main" id="{20B508B6-2A31-9698-01FA-A4A916884085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7778" y="3957550"/>
            <a:ext cx="182880" cy="182880"/>
          </a:xfrm>
          <a:prstGeom prst="rect">
            <a:avLst/>
          </a:prstGeom>
        </p:spPr>
      </p:pic>
      <p:sp>
        <p:nvSpPr>
          <p:cNvPr id="112" name="Rectangle: Rounded Corners 111">
            <a:extLst>
              <a:ext uri="{FF2B5EF4-FFF2-40B4-BE49-F238E27FC236}">
                <a16:creationId xmlns:a16="http://schemas.microsoft.com/office/drawing/2014/main" id="{48B9C836-A08B-7622-157C-FE5FFF1A8408}"/>
              </a:ext>
            </a:extLst>
          </p:cNvPr>
          <p:cNvSpPr/>
          <p:nvPr/>
        </p:nvSpPr>
        <p:spPr>
          <a:xfrm>
            <a:off x="11144250" y="4232741"/>
            <a:ext cx="672143" cy="292608"/>
          </a:xfrm>
          <a:prstGeom prst="roundRect">
            <a:avLst/>
          </a:prstGeom>
          <a:solidFill>
            <a:srgbClr val="FF9F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   PDF</a:t>
            </a:r>
          </a:p>
        </p:txBody>
      </p:sp>
      <p:pic>
        <p:nvPicPr>
          <p:cNvPr id="113" name="Picture 112" descr="A white line on a black background&#10;&#10;AI-generated content may be incorrect.">
            <a:extLst>
              <a:ext uri="{FF2B5EF4-FFF2-40B4-BE49-F238E27FC236}">
                <a16:creationId xmlns:a16="http://schemas.microsoft.com/office/drawing/2014/main" id="{AE969F70-AC63-81FE-395F-A7AA9B181833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7778" y="4286019"/>
            <a:ext cx="182880" cy="182880"/>
          </a:xfrm>
          <a:prstGeom prst="rect">
            <a:avLst/>
          </a:prstGeom>
        </p:spPr>
      </p:pic>
      <p:sp>
        <p:nvSpPr>
          <p:cNvPr id="114" name="Rectangle: Rounded Corners 113">
            <a:extLst>
              <a:ext uri="{FF2B5EF4-FFF2-40B4-BE49-F238E27FC236}">
                <a16:creationId xmlns:a16="http://schemas.microsoft.com/office/drawing/2014/main" id="{435C6296-4D49-7F8B-AD58-63DCE0887774}"/>
              </a:ext>
            </a:extLst>
          </p:cNvPr>
          <p:cNvSpPr/>
          <p:nvPr/>
        </p:nvSpPr>
        <p:spPr>
          <a:xfrm>
            <a:off x="2580831" y="4897702"/>
            <a:ext cx="3031300" cy="1777657"/>
          </a:xfrm>
          <a:prstGeom prst="roundRect">
            <a:avLst>
              <a:gd name="adj" fmla="val 3714"/>
            </a:avLst>
          </a:prstGeom>
          <a:solidFill>
            <a:schemeClr val="bg1"/>
          </a:solidFill>
          <a:ln>
            <a:noFill/>
          </a:ln>
          <a:effectLst>
            <a:outerShdw blurRad="215900" dist="203200" dir="2760000" sx="95000" sy="95000" algn="tl" rotWithShape="0">
              <a:schemeClr val="bg2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6" name="Rectangle: Rounded Corners 115">
            <a:extLst>
              <a:ext uri="{FF2B5EF4-FFF2-40B4-BE49-F238E27FC236}">
                <a16:creationId xmlns:a16="http://schemas.microsoft.com/office/drawing/2014/main" id="{EFEC0039-DB17-8FB5-219C-5032F916DB52}"/>
              </a:ext>
            </a:extLst>
          </p:cNvPr>
          <p:cNvSpPr/>
          <p:nvPr/>
        </p:nvSpPr>
        <p:spPr>
          <a:xfrm>
            <a:off x="5886327" y="4889539"/>
            <a:ext cx="6125393" cy="1777657"/>
          </a:xfrm>
          <a:prstGeom prst="roundRect">
            <a:avLst>
              <a:gd name="adj" fmla="val 3714"/>
            </a:avLst>
          </a:prstGeom>
          <a:solidFill>
            <a:schemeClr val="bg1"/>
          </a:solidFill>
          <a:ln>
            <a:noFill/>
          </a:ln>
          <a:effectLst>
            <a:outerShdw blurRad="215900" dist="203200" dir="2760000" sx="95000" sy="95000" algn="tl" rotWithShape="0">
              <a:schemeClr val="bg2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F077733F-7EBD-9A0B-D345-32AE5E6229AA}"/>
              </a:ext>
            </a:extLst>
          </p:cNvPr>
          <p:cNvSpPr txBox="1"/>
          <p:nvPr/>
        </p:nvSpPr>
        <p:spPr>
          <a:xfrm>
            <a:off x="2790216" y="5123679"/>
            <a:ext cx="19234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BEST SCORE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2F185287-BB3C-93E5-F137-836F0CECAD82}"/>
              </a:ext>
            </a:extLst>
          </p:cNvPr>
          <p:cNvSpPr txBox="1"/>
          <p:nvPr/>
        </p:nvSpPr>
        <p:spPr>
          <a:xfrm>
            <a:off x="3047847" y="5578313"/>
            <a:ext cx="10843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45, 954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30C42C1C-F17F-1F19-E696-1917A399A597}"/>
              </a:ext>
            </a:extLst>
          </p:cNvPr>
          <p:cNvSpPr txBox="1"/>
          <p:nvPr/>
        </p:nvSpPr>
        <p:spPr>
          <a:xfrm>
            <a:off x="2842596" y="6099748"/>
            <a:ext cx="19234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Date   18 / 02 / 2023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23" name="Oval 122">
            <a:extLst>
              <a:ext uri="{FF2B5EF4-FFF2-40B4-BE49-F238E27FC236}">
                <a16:creationId xmlns:a16="http://schemas.microsoft.com/office/drawing/2014/main" id="{F0D7C308-3ACF-A403-5537-FB189D1B8E1B}"/>
              </a:ext>
            </a:extLst>
          </p:cNvPr>
          <p:cNvSpPr/>
          <p:nvPr/>
        </p:nvSpPr>
        <p:spPr>
          <a:xfrm>
            <a:off x="4539940" y="5336187"/>
            <a:ext cx="731520" cy="731520"/>
          </a:xfrm>
          <a:prstGeom prst="ellipse">
            <a:avLst/>
          </a:prstGeom>
          <a:solidFill>
            <a:srgbClr val="FFDD4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5" name="Picture 124">
            <a:extLst>
              <a:ext uri="{FF2B5EF4-FFF2-40B4-BE49-F238E27FC236}">
                <a16:creationId xmlns:a16="http://schemas.microsoft.com/office/drawing/2014/main" id="{8D1BF85E-7882-6311-E60C-9AF259FEA6C4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692904" y="5442266"/>
            <a:ext cx="457200" cy="457200"/>
          </a:xfrm>
          <a:prstGeom prst="rect">
            <a:avLst/>
          </a:prstGeom>
        </p:spPr>
      </p:pic>
      <p:sp>
        <p:nvSpPr>
          <p:cNvPr id="126" name="TextBox 125">
            <a:extLst>
              <a:ext uri="{FF2B5EF4-FFF2-40B4-BE49-F238E27FC236}">
                <a16:creationId xmlns:a16="http://schemas.microsoft.com/office/drawing/2014/main" id="{632826FF-6D7E-2AB7-168C-043966708CCA}"/>
              </a:ext>
            </a:extLst>
          </p:cNvPr>
          <p:cNvSpPr txBox="1"/>
          <p:nvPr/>
        </p:nvSpPr>
        <p:spPr>
          <a:xfrm>
            <a:off x="5905942" y="4942748"/>
            <a:ext cx="1923485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</a:rPr>
              <a:t>TODAY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CB8B1723-D9C4-1FA7-924A-39AA9AC4341B}"/>
              </a:ext>
            </a:extLst>
          </p:cNvPr>
          <p:cNvSpPr txBox="1"/>
          <p:nvPr/>
        </p:nvSpPr>
        <p:spPr>
          <a:xfrm>
            <a:off x="10544497" y="4942920"/>
            <a:ext cx="137160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</a:rPr>
              <a:t>TOTAL :  12, 557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DBC59AE6-68F0-3EF3-7D38-D1EF2EF01098}"/>
              </a:ext>
            </a:extLst>
          </p:cNvPr>
          <p:cNvSpPr txBox="1"/>
          <p:nvPr/>
        </p:nvSpPr>
        <p:spPr>
          <a:xfrm>
            <a:off x="11177778" y="5171893"/>
            <a:ext cx="6400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0B050"/>
                </a:solidFill>
              </a:rPr>
              <a:t>+ 500</a:t>
            </a: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554DB311-3FD5-0A2F-36BA-B24ACDE11EC6}"/>
              </a:ext>
            </a:extLst>
          </p:cNvPr>
          <p:cNvSpPr txBox="1"/>
          <p:nvPr/>
        </p:nvSpPr>
        <p:spPr>
          <a:xfrm>
            <a:off x="5965190" y="5449004"/>
            <a:ext cx="869569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/>
              <a:t>Order ID</a:t>
            </a: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4FBC201B-52B9-A60A-8925-739A093F1AA5}"/>
              </a:ext>
            </a:extLst>
          </p:cNvPr>
          <p:cNvSpPr txBox="1"/>
          <p:nvPr/>
        </p:nvSpPr>
        <p:spPr>
          <a:xfrm>
            <a:off x="8224877" y="5452373"/>
            <a:ext cx="869569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/>
              <a:t>Price</a:t>
            </a: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7EDDCD3A-8B27-E471-38D6-F7D83AE90455}"/>
              </a:ext>
            </a:extLst>
          </p:cNvPr>
          <p:cNvSpPr txBox="1"/>
          <p:nvPr/>
        </p:nvSpPr>
        <p:spPr>
          <a:xfrm>
            <a:off x="5965190" y="5812225"/>
            <a:ext cx="1879156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</a:rPr>
              <a:t>CR20250105AX0154</a:t>
            </a: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F44CD5A9-5BBD-992D-31E6-A573F3F81086}"/>
              </a:ext>
            </a:extLst>
          </p:cNvPr>
          <p:cNvSpPr txBox="1"/>
          <p:nvPr/>
        </p:nvSpPr>
        <p:spPr>
          <a:xfrm>
            <a:off x="5965190" y="6142228"/>
            <a:ext cx="1879156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</a:rPr>
              <a:t>SP20250112AX0245</a:t>
            </a: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F6AE7FA9-3D4A-0A3C-EF5F-E876CC4E3A43}"/>
              </a:ext>
            </a:extLst>
          </p:cNvPr>
          <p:cNvSpPr txBox="1"/>
          <p:nvPr/>
        </p:nvSpPr>
        <p:spPr>
          <a:xfrm>
            <a:off x="8224877" y="5825657"/>
            <a:ext cx="109728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</a:rPr>
              <a:t>RM 23.00</a:t>
            </a: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27989EFE-9B6B-DA1F-4230-313F147A06C3}"/>
              </a:ext>
            </a:extLst>
          </p:cNvPr>
          <p:cNvSpPr txBox="1"/>
          <p:nvPr/>
        </p:nvSpPr>
        <p:spPr>
          <a:xfrm>
            <a:off x="8224877" y="6142228"/>
            <a:ext cx="109728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</a:rPr>
              <a:t>RM 66.00</a:t>
            </a: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3F844505-EA0F-8172-2834-25D87319844F}"/>
              </a:ext>
            </a:extLst>
          </p:cNvPr>
          <p:cNvSpPr txBox="1"/>
          <p:nvPr/>
        </p:nvSpPr>
        <p:spPr>
          <a:xfrm>
            <a:off x="9722095" y="5449004"/>
            <a:ext cx="869569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/>
              <a:t>Time</a:t>
            </a: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CE1020FB-0AD0-3FA9-D3DE-93660CB82621}"/>
              </a:ext>
            </a:extLst>
          </p:cNvPr>
          <p:cNvSpPr txBox="1"/>
          <p:nvPr/>
        </p:nvSpPr>
        <p:spPr>
          <a:xfrm>
            <a:off x="9731382" y="5825657"/>
            <a:ext cx="1739511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</a:rPr>
              <a:t>05/01/2025 15:45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66219A25-8045-BF1D-DF3F-199711594404}"/>
              </a:ext>
            </a:extLst>
          </p:cNvPr>
          <p:cNvSpPr txBox="1"/>
          <p:nvPr/>
        </p:nvSpPr>
        <p:spPr>
          <a:xfrm>
            <a:off x="9730484" y="6156247"/>
            <a:ext cx="173736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</a:rPr>
              <a:t>12/01/2025 10:05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41426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A6463A3D-CAD1-EBD5-9C33-1AC30766FAD5}"/>
              </a:ext>
            </a:extLst>
          </p:cNvPr>
          <p:cNvSpPr/>
          <p:nvPr/>
        </p:nvSpPr>
        <p:spPr>
          <a:xfrm>
            <a:off x="0" y="3177800"/>
            <a:ext cx="2394263" cy="2450592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2D9C961-F34D-5F97-026D-4052266BA389}"/>
              </a:ext>
            </a:extLst>
          </p:cNvPr>
          <p:cNvSpPr/>
          <p:nvPr/>
        </p:nvSpPr>
        <p:spPr>
          <a:xfrm>
            <a:off x="78775" y="3189498"/>
            <a:ext cx="2236711" cy="581483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A45370-BE93-FA91-5DF9-83EF63976B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854" y="227166"/>
            <a:ext cx="320040" cy="32004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E802EE9-1AF3-A4B9-3FB2-FA7B1E2020E4}"/>
              </a:ext>
            </a:extLst>
          </p:cNvPr>
          <p:cNvSpPr txBox="1"/>
          <p:nvPr/>
        </p:nvSpPr>
        <p:spPr>
          <a:xfrm>
            <a:off x="726807" y="227166"/>
            <a:ext cx="15461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chemeClr val="bg2">
                    <a:lumMod val="50000"/>
                  </a:schemeClr>
                </a:solidFill>
              </a:rPr>
              <a:t>UI Dashboard</a:t>
            </a:r>
            <a:endParaRPr lang="en-US" sz="1600" b="1" dirty="0">
              <a:solidFill>
                <a:schemeClr val="bg2">
                  <a:lumMod val="50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65E8F29-40BE-39AE-93A0-DB8D3E8FD81E}"/>
              </a:ext>
            </a:extLst>
          </p:cNvPr>
          <p:cNvCxnSpPr>
            <a:cxnSpLocks/>
          </p:cNvCxnSpPr>
          <p:nvPr/>
        </p:nvCxnSpPr>
        <p:spPr>
          <a:xfrm>
            <a:off x="2394263" y="295275"/>
            <a:ext cx="0" cy="6267450"/>
          </a:xfrm>
          <a:prstGeom prst="line">
            <a:avLst/>
          </a:prstGeom>
          <a:ln w="6350">
            <a:solidFill>
              <a:schemeClr val="bg2">
                <a:lumMod val="9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D4C0878-8D53-F3DC-CAC1-64E20C58E45E}"/>
              </a:ext>
            </a:extLst>
          </p:cNvPr>
          <p:cNvSpPr/>
          <p:nvPr/>
        </p:nvSpPr>
        <p:spPr>
          <a:xfrm>
            <a:off x="233994" y="824830"/>
            <a:ext cx="365760" cy="36576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7B80BE6-8BB6-0D86-E2FF-104A520CBF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714" y="870550"/>
            <a:ext cx="274320" cy="27432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1774360-8F31-3307-4A59-33598199EA68}"/>
              </a:ext>
            </a:extLst>
          </p:cNvPr>
          <p:cNvSpPr txBox="1"/>
          <p:nvPr/>
        </p:nvSpPr>
        <p:spPr>
          <a:xfrm>
            <a:off x="721093" y="864656"/>
            <a:ext cx="15461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bg2">
                    <a:lumMod val="50000"/>
                  </a:schemeClr>
                </a:solidFill>
              </a:rPr>
              <a:t>Dashboard</a:t>
            </a:r>
            <a:endParaRPr lang="en-US" sz="14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77671016-8F00-D211-D794-757F645679FD}"/>
              </a:ext>
            </a:extLst>
          </p:cNvPr>
          <p:cNvSpPr/>
          <p:nvPr/>
        </p:nvSpPr>
        <p:spPr>
          <a:xfrm>
            <a:off x="233994" y="1441156"/>
            <a:ext cx="365760" cy="36576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9128B5A-F019-7BC6-79EF-3B12AD89A4FF}"/>
              </a:ext>
            </a:extLst>
          </p:cNvPr>
          <p:cNvSpPr txBox="1"/>
          <p:nvPr/>
        </p:nvSpPr>
        <p:spPr>
          <a:xfrm>
            <a:off x="721093" y="1484610"/>
            <a:ext cx="15461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bg2">
                    <a:lumMod val="50000"/>
                  </a:schemeClr>
                </a:solidFill>
              </a:rPr>
              <a:t>Tables</a:t>
            </a:r>
            <a:endParaRPr lang="en-US" sz="1400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248F5906-7E0F-F0E5-5CA6-6541756F7F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2574" y="1509736"/>
            <a:ext cx="228600" cy="228600"/>
          </a:xfrm>
          <a:prstGeom prst="rect">
            <a:avLst/>
          </a:prstGeom>
        </p:spPr>
      </p:pic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3EC6D713-82EA-874D-D171-E4F8BE40916F}"/>
              </a:ext>
            </a:extLst>
          </p:cNvPr>
          <p:cNvSpPr/>
          <p:nvPr/>
        </p:nvSpPr>
        <p:spPr>
          <a:xfrm>
            <a:off x="233994" y="2053794"/>
            <a:ext cx="365760" cy="36576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02296BD-CD75-33B2-5485-A9626B70C48F}"/>
              </a:ext>
            </a:extLst>
          </p:cNvPr>
          <p:cNvSpPr txBox="1"/>
          <p:nvPr/>
        </p:nvSpPr>
        <p:spPr>
          <a:xfrm>
            <a:off x="721093" y="2099333"/>
            <a:ext cx="15461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bg2">
                    <a:lumMod val="50000"/>
                  </a:schemeClr>
                </a:solidFill>
              </a:rPr>
              <a:t>Incomes</a:t>
            </a:r>
            <a:endParaRPr lang="en-US" sz="1400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4A094A5E-A530-4DEA-40C8-529FC4B780E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79714" y="2104010"/>
            <a:ext cx="274320" cy="274320"/>
          </a:xfrm>
          <a:prstGeom prst="rect">
            <a:avLst/>
          </a:prstGeom>
        </p:spPr>
      </p:pic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81BDAD14-ED2F-B926-FA58-0E68AABEDFE1}"/>
              </a:ext>
            </a:extLst>
          </p:cNvPr>
          <p:cNvSpPr/>
          <p:nvPr/>
        </p:nvSpPr>
        <p:spPr>
          <a:xfrm>
            <a:off x="233994" y="2674908"/>
            <a:ext cx="365760" cy="36576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0CCDA8B-39B3-CDD2-3313-3DDBFF25C9C6}"/>
              </a:ext>
            </a:extLst>
          </p:cNvPr>
          <p:cNvSpPr txBox="1"/>
          <p:nvPr/>
        </p:nvSpPr>
        <p:spPr>
          <a:xfrm>
            <a:off x="721093" y="2723124"/>
            <a:ext cx="15461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bg2">
                    <a:lumMod val="50000"/>
                  </a:schemeClr>
                </a:solidFill>
              </a:rPr>
              <a:t>Virtualization  </a:t>
            </a:r>
            <a:r>
              <a:rPr lang="en-US" altLang="zh-CN" sz="800" dirty="0">
                <a:solidFill>
                  <a:schemeClr val="bg2">
                    <a:lumMod val="50000"/>
                  </a:schemeClr>
                </a:solidFill>
                <a:sym typeface="Wingdings 3" panose="05040102010807070707" pitchFamily="18" charset="2"/>
              </a:rPr>
              <a:t></a:t>
            </a:r>
            <a:endParaRPr lang="en-US" sz="1600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0506B572-5BC2-EFB0-6C1B-E0D191E072F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9714" y="2720628"/>
            <a:ext cx="274320" cy="274320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78042A83-E2C9-0063-9CAE-0984CBCB2D80}"/>
              </a:ext>
            </a:extLst>
          </p:cNvPr>
          <p:cNvSpPr txBox="1"/>
          <p:nvPr/>
        </p:nvSpPr>
        <p:spPr>
          <a:xfrm>
            <a:off x="730417" y="3341740"/>
            <a:ext cx="15461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bg2">
                    <a:lumMod val="50000"/>
                  </a:schemeClr>
                </a:solidFill>
              </a:rPr>
              <a:t>Customer Profile</a:t>
            </a:r>
            <a:endParaRPr lang="en-US" sz="12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0D56B70F-3F27-A251-0815-C61F4F9E8DB9}"/>
              </a:ext>
            </a:extLst>
          </p:cNvPr>
          <p:cNvSpPr/>
          <p:nvPr/>
        </p:nvSpPr>
        <p:spPr>
          <a:xfrm>
            <a:off x="233994" y="4516692"/>
            <a:ext cx="365760" cy="36576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5FD8BFA-9001-BACA-E085-90824599CC08}"/>
              </a:ext>
            </a:extLst>
          </p:cNvPr>
          <p:cNvSpPr txBox="1"/>
          <p:nvPr/>
        </p:nvSpPr>
        <p:spPr>
          <a:xfrm>
            <a:off x="730417" y="4561072"/>
            <a:ext cx="15461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bg2">
                    <a:lumMod val="50000"/>
                  </a:schemeClr>
                </a:solidFill>
              </a:rPr>
              <a:t>User Segmentation</a:t>
            </a:r>
            <a:endParaRPr lang="en-US" sz="16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5F55B823-F3DC-2E09-BDFC-6FBE61636CB3}"/>
              </a:ext>
            </a:extLst>
          </p:cNvPr>
          <p:cNvSpPr/>
          <p:nvPr/>
        </p:nvSpPr>
        <p:spPr>
          <a:xfrm>
            <a:off x="233994" y="3907026"/>
            <a:ext cx="365760" cy="36576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4627EB5-9942-03D5-454C-6CA401541DB9}"/>
              </a:ext>
            </a:extLst>
          </p:cNvPr>
          <p:cNvSpPr txBox="1"/>
          <p:nvPr/>
        </p:nvSpPr>
        <p:spPr>
          <a:xfrm>
            <a:off x="721093" y="3951406"/>
            <a:ext cx="15461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bg2">
                    <a:lumMod val="50000"/>
                  </a:schemeClr>
                </a:solidFill>
              </a:rPr>
              <a:t>Gold Match</a:t>
            </a:r>
            <a:endParaRPr lang="en-US" sz="1600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0451D753-B4D2-B306-6874-F4463210223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9714" y="3951406"/>
            <a:ext cx="274320" cy="27432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C6C61AB2-D22F-9104-DECA-E794B1AD6A1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9714" y="4565830"/>
            <a:ext cx="274320" cy="274320"/>
          </a:xfrm>
          <a:prstGeom prst="rect">
            <a:avLst/>
          </a:prstGeom>
        </p:spPr>
      </p:pic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DD348B09-C3BE-18DE-DC70-529960A121A1}"/>
              </a:ext>
            </a:extLst>
          </p:cNvPr>
          <p:cNvSpPr/>
          <p:nvPr/>
        </p:nvSpPr>
        <p:spPr>
          <a:xfrm>
            <a:off x="233994" y="5123679"/>
            <a:ext cx="365760" cy="36576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8BF4E00-F270-3123-9E77-B570DF3BC4A6}"/>
              </a:ext>
            </a:extLst>
          </p:cNvPr>
          <p:cNvSpPr txBox="1"/>
          <p:nvPr/>
        </p:nvSpPr>
        <p:spPr>
          <a:xfrm>
            <a:off x="730417" y="5168059"/>
            <a:ext cx="15461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bg2">
                    <a:lumMod val="50000"/>
                  </a:schemeClr>
                </a:solidFill>
              </a:rPr>
              <a:t>Real-time Sales</a:t>
            </a:r>
            <a:endParaRPr lang="en-US" sz="1600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62" name="Picture 61">
            <a:extLst>
              <a:ext uri="{FF2B5EF4-FFF2-40B4-BE49-F238E27FC236}">
                <a16:creationId xmlns:a16="http://schemas.microsoft.com/office/drawing/2014/main" id="{32457526-206D-D37D-37F4-D4DEAFE6040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9714" y="5170738"/>
            <a:ext cx="274320" cy="274320"/>
          </a:xfrm>
          <a:prstGeom prst="rect">
            <a:avLst/>
          </a:prstGeom>
        </p:spPr>
      </p:pic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7F4031DC-D78C-3036-E097-BFD5B7B60918}"/>
              </a:ext>
            </a:extLst>
          </p:cNvPr>
          <p:cNvSpPr/>
          <p:nvPr/>
        </p:nvSpPr>
        <p:spPr>
          <a:xfrm>
            <a:off x="233994" y="5733988"/>
            <a:ext cx="365760" cy="36576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25BF110-74F0-79A8-9882-0FE4DE73ACBF}"/>
              </a:ext>
            </a:extLst>
          </p:cNvPr>
          <p:cNvSpPr txBox="1"/>
          <p:nvPr/>
        </p:nvSpPr>
        <p:spPr>
          <a:xfrm>
            <a:off x="721093" y="5778368"/>
            <a:ext cx="15461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bg2">
                    <a:lumMod val="50000"/>
                  </a:schemeClr>
                </a:solidFill>
              </a:rPr>
              <a:t>Store</a:t>
            </a:r>
            <a:endParaRPr lang="en-US" sz="1600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67" name="Picture 66">
            <a:extLst>
              <a:ext uri="{FF2B5EF4-FFF2-40B4-BE49-F238E27FC236}">
                <a16:creationId xmlns:a16="http://schemas.microsoft.com/office/drawing/2014/main" id="{610ED4C1-709E-E747-FEB3-7AF7580DABC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79714" y="5778368"/>
            <a:ext cx="274320" cy="274320"/>
          </a:xfrm>
          <a:prstGeom prst="rect">
            <a:avLst/>
          </a:prstGeom>
        </p:spPr>
      </p:pic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AAFE4741-DA4C-0E71-8A57-178212DCC8D3}"/>
              </a:ext>
            </a:extLst>
          </p:cNvPr>
          <p:cNvSpPr/>
          <p:nvPr/>
        </p:nvSpPr>
        <p:spPr>
          <a:xfrm>
            <a:off x="233994" y="6356659"/>
            <a:ext cx="365760" cy="36576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296BA4F-9456-F5DB-2C37-E7C67CD3C468}"/>
              </a:ext>
            </a:extLst>
          </p:cNvPr>
          <p:cNvSpPr txBox="1"/>
          <p:nvPr/>
        </p:nvSpPr>
        <p:spPr>
          <a:xfrm>
            <a:off x="721093" y="6401039"/>
            <a:ext cx="15461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50000"/>
                  </a:schemeClr>
                </a:solidFill>
              </a:rPr>
              <a:t>Logout</a:t>
            </a:r>
            <a:endParaRPr lang="en-US" sz="1600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78" name="Picture 77">
            <a:extLst>
              <a:ext uri="{FF2B5EF4-FFF2-40B4-BE49-F238E27FC236}">
                <a16:creationId xmlns:a16="http://schemas.microsoft.com/office/drawing/2014/main" id="{38FDE838-2F45-47F6-EBEB-E08BB5B5B8A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79714" y="6401039"/>
            <a:ext cx="274320" cy="27432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A33CEA1B-8EA7-D5FC-5F25-E8E7F7D2B89E}"/>
              </a:ext>
            </a:extLst>
          </p:cNvPr>
          <p:cNvSpPr txBox="1"/>
          <p:nvPr/>
        </p:nvSpPr>
        <p:spPr>
          <a:xfrm>
            <a:off x="2583683" y="163378"/>
            <a:ext cx="3337054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00" dirty="0">
                <a:solidFill>
                  <a:schemeClr val="bg2">
                    <a:lumMod val="50000"/>
                  </a:schemeClr>
                </a:solidFill>
              </a:rPr>
              <a:t>Pages  </a:t>
            </a:r>
            <a:r>
              <a:rPr lang="en-US" altLang="zh-CN" sz="1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/  Virtualization  /  Customer Profile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54EAFCD-8F5A-D1EB-90B2-E66E301A2C63}"/>
              </a:ext>
            </a:extLst>
          </p:cNvPr>
          <p:cNvSpPr txBox="1"/>
          <p:nvPr/>
        </p:nvSpPr>
        <p:spPr>
          <a:xfrm>
            <a:off x="2583683" y="410046"/>
            <a:ext cx="16903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Customer Profile</a:t>
            </a:r>
            <a:endParaRPr lang="en-US" sz="1400" b="1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8443DEA4-1144-01E2-0DCB-888CBC00F4A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801350" y="280291"/>
            <a:ext cx="228600" cy="22860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E44A43CC-0F9C-CF55-D4E2-D5FD02E23F8D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144250" y="282067"/>
            <a:ext cx="228600" cy="228600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DE9CE401-2F36-75F5-FE00-7BA40C94C548}"/>
              </a:ext>
            </a:extLst>
          </p:cNvPr>
          <p:cNvSpPr txBox="1"/>
          <p:nvPr/>
        </p:nvSpPr>
        <p:spPr>
          <a:xfrm>
            <a:off x="11372850" y="233297"/>
            <a:ext cx="7573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bg2">
                    <a:lumMod val="50000"/>
                  </a:schemeClr>
                </a:solidFill>
              </a:rPr>
              <a:t>Admin</a:t>
            </a:r>
            <a:endParaRPr lang="en-US" sz="14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670FD89-7AB5-4ACF-48AA-4B12A7890700}"/>
              </a:ext>
            </a:extLst>
          </p:cNvPr>
          <p:cNvSpPr txBox="1"/>
          <p:nvPr/>
        </p:nvSpPr>
        <p:spPr>
          <a:xfrm>
            <a:off x="2583682" y="849266"/>
            <a:ext cx="33370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chemeClr val="bg2">
                    <a:lumMod val="50000"/>
                  </a:schemeClr>
                </a:solidFill>
              </a:rPr>
              <a:t>[Population Attributes Map]</a:t>
            </a:r>
            <a:endParaRPr lang="en-US" sz="1400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8E32FB2-4832-B969-25F5-8D81233CB302}"/>
              </a:ext>
            </a:extLst>
          </p:cNvPr>
          <p:cNvSpPr txBox="1"/>
          <p:nvPr/>
        </p:nvSpPr>
        <p:spPr>
          <a:xfrm>
            <a:off x="2583682" y="1288486"/>
            <a:ext cx="1923485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</a:rPr>
              <a:t>Age Distribution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aphicFrame>
        <p:nvGraphicFramePr>
          <p:cNvPr id="15" name="Chart 14">
            <a:extLst>
              <a:ext uri="{FF2B5EF4-FFF2-40B4-BE49-F238E27FC236}">
                <a16:creationId xmlns:a16="http://schemas.microsoft.com/office/drawing/2014/main" id="{01545EC1-E127-4D15-1EB7-F4CE265F040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95605068"/>
              </p:ext>
            </p:extLst>
          </p:nvPr>
        </p:nvGraphicFramePr>
        <p:xfrm>
          <a:off x="2583683" y="1580874"/>
          <a:ext cx="4994407" cy="29358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4"/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2449022F-B764-8270-82E4-8A8F2A5C3305}"/>
              </a:ext>
            </a:extLst>
          </p:cNvPr>
          <p:cNvSpPr txBox="1"/>
          <p:nvPr/>
        </p:nvSpPr>
        <p:spPr>
          <a:xfrm>
            <a:off x="2583682" y="4749248"/>
            <a:ext cx="5954528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300" dirty="0">
                <a:solidFill>
                  <a:srgbClr val="C00000"/>
                </a:solidFill>
              </a:rPr>
              <a:t>“”“</a:t>
            </a:r>
            <a:endParaRPr lang="en-US" altLang="zh-CN" sz="1300" dirty="0">
              <a:solidFill>
                <a:srgbClr val="C00000"/>
              </a:solidFill>
            </a:endParaRPr>
          </a:p>
          <a:p>
            <a:r>
              <a:rPr lang="zh-CN" altLang="en-US" sz="1300" dirty="0">
                <a:solidFill>
                  <a:srgbClr val="C00000"/>
                </a:solidFill>
              </a:rPr>
              <a:t>人口属性图：年龄分布（饼图）；性别（饼图）；职业分布（条形图）</a:t>
            </a:r>
            <a:endParaRPr lang="en-US" altLang="zh-CN" sz="1300" dirty="0">
              <a:solidFill>
                <a:srgbClr val="C00000"/>
              </a:solidFill>
            </a:endParaRPr>
          </a:p>
          <a:p>
            <a:r>
              <a:rPr lang="zh-CN" altLang="en-US" sz="1300" dirty="0">
                <a:solidFill>
                  <a:srgbClr val="C00000"/>
                </a:solidFill>
              </a:rPr>
              <a:t>地理分布特征：用户热力图（地图热力图）；消费区域排名榜（横向条形图）</a:t>
            </a:r>
            <a:endParaRPr lang="en-US" altLang="zh-CN" sz="1300" dirty="0">
              <a:solidFill>
                <a:srgbClr val="C00000"/>
              </a:solidFill>
            </a:endParaRPr>
          </a:p>
          <a:p>
            <a:r>
              <a:rPr lang="zh-CN" altLang="en-US" sz="1300" dirty="0">
                <a:solidFill>
                  <a:srgbClr val="C00000"/>
                </a:solidFill>
              </a:rPr>
              <a:t>来源渠道分析：注册渠道（漏斗图</a:t>
            </a:r>
            <a:r>
              <a:rPr lang="en-US" altLang="zh-CN" sz="1300" dirty="0">
                <a:solidFill>
                  <a:srgbClr val="C00000"/>
                </a:solidFill>
              </a:rPr>
              <a:t>/</a:t>
            </a:r>
            <a:r>
              <a:rPr lang="zh-CN" altLang="en-US" sz="1300" dirty="0">
                <a:solidFill>
                  <a:srgbClr val="C00000"/>
                </a:solidFill>
              </a:rPr>
              <a:t>桑基图）</a:t>
            </a:r>
            <a:endParaRPr lang="en-US" altLang="zh-CN" sz="1300" dirty="0">
              <a:solidFill>
                <a:srgbClr val="C00000"/>
              </a:solidFill>
            </a:endParaRPr>
          </a:p>
          <a:p>
            <a:r>
              <a:rPr lang="zh-CN" altLang="en-US" sz="1300" dirty="0">
                <a:solidFill>
                  <a:srgbClr val="C00000"/>
                </a:solidFill>
              </a:rPr>
              <a:t>会员等级分布：会员增长趋势（折线图）</a:t>
            </a:r>
            <a:endParaRPr lang="en-US" altLang="zh-CN" sz="1300" dirty="0">
              <a:solidFill>
                <a:srgbClr val="C00000"/>
              </a:solidFill>
            </a:endParaRPr>
          </a:p>
          <a:p>
            <a:r>
              <a:rPr lang="zh-CN" altLang="en-US" sz="1300" dirty="0">
                <a:solidFill>
                  <a:srgbClr val="C00000"/>
                </a:solidFill>
              </a:rPr>
              <a:t>”“”</a:t>
            </a:r>
            <a:endParaRPr lang="en-US" altLang="zh-CN" sz="1300" dirty="0">
              <a:solidFill>
                <a:srgbClr val="C00000"/>
              </a:solidFill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C7A2BC1-8AA9-5125-7668-EC403A33E202}"/>
              </a:ext>
            </a:extLst>
          </p:cNvPr>
          <p:cNvSpPr/>
          <p:nvPr/>
        </p:nvSpPr>
        <p:spPr>
          <a:xfrm>
            <a:off x="233994" y="3296022"/>
            <a:ext cx="365760" cy="365760"/>
          </a:xfrm>
          <a:prstGeom prst="roundRect">
            <a:avLst/>
          </a:prstGeom>
          <a:gradFill flip="none" rotWithShape="1">
            <a:gsLst>
              <a:gs pos="58000">
                <a:srgbClr val="D735B0">
                  <a:lumMod val="95000"/>
                </a:srgbClr>
              </a:gs>
              <a:gs pos="21000">
                <a:srgbClr val="8638C7"/>
              </a:gs>
              <a:gs pos="87000">
                <a:srgbClr val="FE237E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F636E43C-BFA8-B1DA-8C5D-6F268F685463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79714" y="3339915"/>
            <a:ext cx="274320" cy="274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18544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A6463A3D-CAD1-EBD5-9C33-1AC30766FAD5}"/>
              </a:ext>
            </a:extLst>
          </p:cNvPr>
          <p:cNvSpPr/>
          <p:nvPr/>
        </p:nvSpPr>
        <p:spPr>
          <a:xfrm>
            <a:off x="0" y="3177800"/>
            <a:ext cx="2394263" cy="2450592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63ACE45-86F2-E88C-D4A8-2DC709BDDF65}"/>
              </a:ext>
            </a:extLst>
          </p:cNvPr>
          <p:cNvSpPr/>
          <p:nvPr/>
        </p:nvSpPr>
        <p:spPr>
          <a:xfrm>
            <a:off x="78775" y="3799163"/>
            <a:ext cx="2236711" cy="581483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A45370-BE93-FA91-5DF9-83EF63976B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854" y="227166"/>
            <a:ext cx="320040" cy="32004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E802EE9-1AF3-A4B9-3FB2-FA7B1E2020E4}"/>
              </a:ext>
            </a:extLst>
          </p:cNvPr>
          <p:cNvSpPr txBox="1"/>
          <p:nvPr/>
        </p:nvSpPr>
        <p:spPr>
          <a:xfrm>
            <a:off x="726807" y="227166"/>
            <a:ext cx="15461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chemeClr val="bg2">
                    <a:lumMod val="50000"/>
                  </a:schemeClr>
                </a:solidFill>
              </a:rPr>
              <a:t>UI Dashboard</a:t>
            </a:r>
            <a:endParaRPr lang="en-US" sz="1600" b="1" dirty="0">
              <a:solidFill>
                <a:schemeClr val="bg2">
                  <a:lumMod val="50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65E8F29-40BE-39AE-93A0-DB8D3E8FD81E}"/>
              </a:ext>
            </a:extLst>
          </p:cNvPr>
          <p:cNvCxnSpPr>
            <a:cxnSpLocks/>
          </p:cNvCxnSpPr>
          <p:nvPr/>
        </p:nvCxnSpPr>
        <p:spPr>
          <a:xfrm>
            <a:off x="2394263" y="295275"/>
            <a:ext cx="0" cy="6267450"/>
          </a:xfrm>
          <a:prstGeom prst="line">
            <a:avLst/>
          </a:prstGeom>
          <a:ln w="6350">
            <a:solidFill>
              <a:schemeClr val="bg2">
                <a:lumMod val="9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D4C0878-8D53-F3DC-CAC1-64E20C58E45E}"/>
              </a:ext>
            </a:extLst>
          </p:cNvPr>
          <p:cNvSpPr/>
          <p:nvPr/>
        </p:nvSpPr>
        <p:spPr>
          <a:xfrm>
            <a:off x="233994" y="824830"/>
            <a:ext cx="365760" cy="36576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7B80BE6-8BB6-0D86-E2FF-104A520CBF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714" y="870550"/>
            <a:ext cx="274320" cy="27432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1774360-8F31-3307-4A59-33598199EA68}"/>
              </a:ext>
            </a:extLst>
          </p:cNvPr>
          <p:cNvSpPr txBox="1"/>
          <p:nvPr/>
        </p:nvSpPr>
        <p:spPr>
          <a:xfrm>
            <a:off x="721093" y="864656"/>
            <a:ext cx="15461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bg2">
                    <a:lumMod val="50000"/>
                  </a:schemeClr>
                </a:solidFill>
              </a:rPr>
              <a:t>Dashboard</a:t>
            </a:r>
            <a:endParaRPr lang="en-US" sz="14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77671016-8F00-D211-D794-757F645679FD}"/>
              </a:ext>
            </a:extLst>
          </p:cNvPr>
          <p:cNvSpPr/>
          <p:nvPr/>
        </p:nvSpPr>
        <p:spPr>
          <a:xfrm>
            <a:off x="233994" y="1441156"/>
            <a:ext cx="365760" cy="36576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9128B5A-F019-7BC6-79EF-3B12AD89A4FF}"/>
              </a:ext>
            </a:extLst>
          </p:cNvPr>
          <p:cNvSpPr txBox="1"/>
          <p:nvPr/>
        </p:nvSpPr>
        <p:spPr>
          <a:xfrm>
            <a:off x="721093" y="1484610"/>
            <a:ext cx="15461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bg2">
                    <a:lumMod val="50000"/>
                  </a:schemeClr>
                </a:solidFill>
              </a:rPr>
              <a:t>Tables</a:t>
            </a:r>
            <a:endParaRPr lang="en-US" sz="1400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248F5906-7E0F-F0E5-5CA6-6541756F7F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2574" y="1509736"/>
            <a:ext cx="228600" cy="228600"/>
          </a:xfrm>
          <a:prstGeom prst="rect">
            <a:avLst/>
          </a:prstGeom>
        </p:spPr>
      </p:pic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3EC6D713-82EA-874D-D171-E4F8BE40916F}"/>
              </a:ext>
            </a:extLst>
          </p:cNvPr>
          <p:cNvSpPr/>
          <p:nvPr/>
        </p:nvSpPr>
        <p:spPr>
          <a:xfrm>
            <a:off x="233994" y="2053794"/>
            <a:ext cx="365760" cy="36576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02296BD-CD75-33B2-5485-A9626B70C48F}"/>
              </a:ext>
            </a:extLst>
          </p:cNvPr>
          <p:cNvSpPr txBox="1"/>
          <p:nvPr/>
        </p:nvSpPr>
        <p:spPr>
          <a:xfrm>
            <a:off x="721093" y="2099333"/>
            <a:ext cx="15461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bg2">
                    <a:lumMod val="50000"/>
                  </a:schemeClr>
                </a:solidFill>
              </a:rPr>
              <a:t>Incomes</a:t>
            </a:r>
            <a:endParaRPr lang="en-US" sz="1400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4A094A5E-A530-4DEA-40C8-529FC4B780E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79714" y="2104010"/>
            <a:ext cx="274320" cy="274320"/>
          </a:xfrm>
          <a:prstGeom prst="rect">
            <a:avLst/>
          </a:prstGeom>
        </p:spPr>
      </p:pic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81BDAD14-ED2F-B926-FA58-0E68AABEDFE1}"/>
              </a:ext>
            </a:extLst>
          </p:cNvPr>
          <p:cNvSpPr/>
          <p:nvPr/>
        </p:nvSpPr>
        <p:spPr>
          <a:xfrm>
            <a:off x="233994" y="2674908"/>
            <a:ext cx="365760" cy="36576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0CCDA8B-39B3-CDD2-3313-3DDBFF25C9C6}"/>
              </a:ext>
            </a:extLst>
          </p:cNvPr>
          <p:cNvSpPr txBox="1"/>
          <p:nvPr/>
        </p:nvSpPr>
        <p:spPr>
          <a:xfrm>
            <a:off x="721093" y="2723124"/>
            <a:ext cx="15461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bg2">
                    <a:lumMod val="50000"/>
                  </a:schemeClr>
                </a:solidFill>
              </a:rPr>
              <a:t>Virtualization  </a:t>
            </a:r>
            <a:r>
              <a:rPr lang="en-US" altLang="zh-CN" sz="800" dirty="0">
                <a:solidFill>
                  <a:schemeClr val="bg2">
                    <a:lumMod val="50000"/>
                  </a:schemeClr>
                </a:solidFill>
                <a:sym typeface="Wingdings 3" panose="05040102010807070707" pitchFamily="18" charset="2"/>
              </a:rPr>
              <a:t></a:t>
            </a:r>
            <a:endParaRPr lang="en-US" sz="1600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0506B572-5BC2-EFB0-6C1B-E0D191E072F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9714" y="2720628"/>
            <a:ext cx="274320" cy="274320"/>
          </a:xfrm>
          <a:prstGeom prst="rect">
            <a:avLst/>
          </a:prstGeom>
        </p:spPr>
      </p:pic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326A60AE-2E89-CEE5-FB47-2FF1D19AC722}"/>
              </a:ext>
            </a:extLst>
          </p:cNvPr>
          <p:cNvSpPr/>
          <p:nvPr/>
        </p:nvSpPr>
        <p:spPr>
          <a:xfrm>
            <a:off x="233994" y="3297360"/>
            <a:ext cx="365760" cy="36576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8042A83-E2C9-0063-9CAE-0984CBCB2D80}"/>
              </a:ext>
            </a:extLst>
          </p:cNvPr>
          <p:cNvSpPr txBox="1"/>
          <p:nvPr/>
        </p:nvSpPr>
        <p:spPr>
          <a:xfrm>
            <a:off x="730417" y="3341740"/>
            <a:ext cx="15461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bg2">
                    <a:lumMod val="50000"/>
                  </a:schemeClr>
                </a:solidFill>
              </a:rPr>
              <a:t>Customer Profile</a:t>
            </a:r>
            <a:endParaRPr lang="en-US" sz="12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0D56B70F-3F27-A251-0815-C61F4F9E8DB9}"/>
              </a:ext>
            </a:extLst>
          </p:cNvPr>
          <p:cNvSpPr/>
          <p:nvPr/>
        </p:nvSpPr>
        <p:spPr>
          <a:xfrm>
            <a:off x="233994" y="4516692"/>
            <a:ext cx="365760" cy="36576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5FD8BFA-9001-BACA-E085-90824599CC08}"/>
              </a:ext>
            </a:extLst>
          </p:cNvPr>
          <p:cNvSpPr txBox="1"/>
          <p:nvPr/>
        </p:nvSpPr>
        <p:spPr>
          <a:xfrm>
            <a:off x="730417" y="4561072"/>
            <a:ext cx="15461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bg2">
                    <a:lumMod val="50000"/>
                  </a:schemeClr>
                </a:solidFill>
              </a:rPr>
              <a:t>User Segmentation</a:t>
            </a:r>
            <a:endParaRPr lang="en-US" sz="16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4627EB5-9942-03D5-454C-6CA401541DB9}"/>
              </a:ext>
            </a:extLst>
          </p:cNvPr>
          <p:cNvSpPr txBox="1"/>
          <p:nvPr/>
        </p:nvSpPr>
        <p:spPr>
          <a:xfrm>
            <a:off x="721093" y="3951406"/>
            <a:ext cx="15461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bg2">
                    <a:lumMod val="50000"/>
                  </a:schemeClr>
                </a:solidFill>
              </a:rPr>
              <a:t>Gold Match</a:t>
            </a:r>
            <a:endParaRPr lang="en-US" sz="1600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F636E43C-BFA8-B1DA-8C5D-6F268F68546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9714" y="3344419"/>
            <a:ext cx="274320" cy="27432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C6C61AB2-D22F-9104-DECA-E794B1AD6A1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9714" y="4565830"/>
            <a:ext cx="274320" cy="274320"/>
          </a:xfrm>
          <a:prstGeom prst="rect">
            <a:avLst/>
          </a:prstGeom>
        </p:spPr>
      </p:pic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DD348B09-C3BE-18DE-DC70-529960A121A1}"/>
              </a:ext>
            </a:extLst>
          </p:cNvPr>
          <p:cNvSpPr/>
          <p:nvPr/>
        </p:nvSpPr>
        <p:spPr>
          <a:xfrm>
            <a:off x="233994" y="5123679"/>
            <a:ext cx="365760" cy="36576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8BF4E00-F270-3123-9E77-B570DF3BC4A6}"/>
              </a:ext>
            </a:extLst>
          </p:cNvPr>
          <p:cNvSpPr txBox="1"/>
          <p:nvPr/>
        </p:nvSpPr>
        <p:spPr>
          <a:xfrm>
            <a:off x="730417" y="5168059"/>
            <a:ext cx="15461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bg2">
                    <a:lumMod val="50000"/>
                  </a:schemeClr>
                </a:solidFill>
              </a:rPr>
              <a:t>Real-time Sales</a:t>
            </a:r>
            <a:endParaRPr lang="en-US" sz="1600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62" name="Picture 61">
            <a:extLst>
              <a:ext uri="{FF2B5EF4-FFF2-40B4-BE49-F238E27FC236}">
                <a16:creationId xmlns:a16="http://schemas.microsoft.com/office/drawing/2014/main" id="{32457526-206D-D37D-37F4-D4DEAFE6040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9714" y="5170738"/>
            <a:ext cx="274320" cy="274320"/>
          </a:xfrm>
          <a:prstGeom prst="rect">
            <a:avLst/>
          </a:prstGeom>
        </p:spPr>
      </p:pic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7F4031DC-D78C-3036-E097-BFD5B7B60918}"/>
              </a:ext>
            </a:extLst>
          </p:cNvPr>
          <p:cNvSpPr/>
          <p:nvPr/>
        </p:nvSpPr>
        <p:spPr>
          <a:xfrm>
            <a:off x="233994" y="5733988"/>
            <a:ext cx="365760" cy="36576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25BF110-74F0-79A8-9882-0FE4DE73ACBF}"/>
              </a:ext>
            </a:extLst>
          </p:cNvPr>
          <p:cNvSpPr txBox="1"/>
          <p:nvPr/>
        </p:nvSpPr>
        <p:spPr>
          <a:xfrm>
            <a:off x="721093" y="5778368"/>
            <a:ext cx="15461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bg2">
                    <a:lumMod val="50000"/>
                  </a:schemeClr>
                </a:solidFill>
              </a:rPr>
              <a:t>Store</a:t>
            </a:r>
            <a:endParaRPr lang="en-US" sz="1600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67" name="Picture 66">
            <a:extLst>
              <a:ext uri="{FF2B5EF4-FFF2-40B4-BE49-F238E27FC236}">
                <a16:creationId xmlns:a16="http://schemas.microsoft.com/office/drawing/2014/main" id="{610ED4C1-709E-E747-FEB3-7AF7580DABC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79714" y="5778368"/>
            <a:ext cx="274320" cy="274320"/>
          </a:xfrm>
          <a:prstGeom prst="rect">
            <a:avLst/>
          </a:prstGeom>
        </p:spPr>
      </p:pic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AAFE4741-DA4C-0E71-8A57-178212DCC8D3}"/>
              </a:ext>
            </a:extLst>
          </p:cNvPr>
          <p:cNvSpPr/>
          <p:nvPr/>
        </p:nvSpPr>
        <p:spPr>
          <a:xfrm>
            <a:off x="233994" y="6356659"/>
            <a:ext cx="365760" cy="36576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296BA4F-9456-F5DB-2C37-E7C67CD3C468}"/>
              </a:ext>
            </a:extLst>
          </p:cNvPr>
          <p:cNvSpPr txBox="1"/>
          <p:nvPr/>
        </p:nvSpPr>
        <p:spPr>
          <a:xfrm>
            <a:off x="721093" y="6401039"/>
            <a:ext cx="15461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50000"/>
                  </a:schemeClr>
                </a:solidFill>
              </a:rPr>
              <a:t>Logout</a:t>
            </a:r>
            <a:endParaRPr lang="en-US" sz="1600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78" name="Picture 77">
            <a:extLst>
              <a:ext uri="{FF2B5EF4-FFF2-40B4-BE49-F238E27FC236}">
                <a16:creationId xmlns:a16="http://schemas.microsoft.com/office/drawing/2014/main" id="{38FDE838-2F45-47F6-EBEB-E08BB5B5B8A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79714" y="6401039"/>
            <a:ext cx="274320" cy="27432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A33CEA1B-8EA7-D5FC-5F25-E8E7F7D2B89E}"/>
              </a:ext>
            </a:extLst>
          </p:cNvPr>
          <p:cNvSpPr txBox="1"/>
          <p:nvPr/>
        </p:nvSpPr>
        <p:spPr>
          <a:xfrm>
            <a:off x="2583683" y="163378"/>
            <a:ext cx="3337054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00" dirty="0">
                <a:solidFill>
                  <a:schemeClr val="bg2">
                    <a:lumMod val="50000"/>
                  </a:schemeClr>
                </a:solidFill>
              </a:rPr>
              <a:t>Pages  </a:t>
            </a:r>
            <a:r>
              <a:rPr lang="en-US" altLang="zh-CN" sz="1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/  Virtualization  /  Gold Match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54EAFCD-8F5A-D1EB-90B2-E66E301A2C63}"/>
              </a:ext>
            </a:extLst>
          </p:cNvPr>
          <p:cNvSpPr txBox="1"/>
          <p:nvPr/>
        </p:nvSpPr>
        <p:spPr>
          <a:xfrm>
            <a:off x="2583683" y="410046"/>
            <a:ext cx="16903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Gold Match</a:t>
            </a:r>
            <a:endParaRPr lang="en-US" sz="1400" b="1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8443DEA4-1144-01E2-0DCB-888CBC00F4A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801350" y="280291"/>
            <a:ext cx="228600" cy="22860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E44A43CC-0F9C-CF55-D4E2-D5FD02E23F8D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144250" y="282067"/>
            <a:ext cx="228600" cy="228600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DE9CE401-2F36-75F5-FE00-7BA40C94C548}"/>
              </a:ext>
            </a:extLst>
          </p:cNvPr>
          <p:cNvSpPr txBox="1"/>
          <p:nvPr/>
        </p:nvSpPr>
        <p:spPr>
          <a:xfrm>
            <a:off x="11372850" y="233297"/>
            <a:ext cx="7573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bg2">
                    <a:lumMod val="50000"/>
                  </a:schemeClr>
                </a:solidFill>
              </a:rPr>
              <a:t>Admin</a:t>
            </a:r>
            <a:endParaRPr lang="en-US" sz="14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5FAD2EE-0CB5-4748-D4DD-62288A337F81}"/>
              </a:ext>
            </a:extLst>
          </p:cNvPr>
          <p:cNvSpPr/>
          <p:nvPr/>
        </p:nvSpPr>
        <p:spPr>
          <a:xfrm>
            <a:off x="2580832" y="946441"/>
            <a:ext cx="2160646" cy="723315"/>
          </a:xfrm>
          <a:prstGeom prst="roundRect">
            <a:avLst>
              <a:gd name="adj" fmla="val 9524"/>
            </a:avLst>
          </a:prstGeom>
          <a:solidFill>
            <a:schemeClr val="bg1"/>
          </a:solidFill>
          <a:ln>
            <a:noFill/>
          </a:ln>
          <a:effectLst>
            <a:outerShdw blurRad="215900" dist="203200" dir="2760000" sx="95000" sy="95000" algn="tl" rotWithShape="0">
              <a:schemeClr val="bg2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FC2511-8013-ABFF-3220-E94A01F24B0A}"/>
              </a:ext>
            </a:extLst>
          </p:cNvPr>
          <p:cNvSpPr txBox="1"/>
          <p:nvPr/>
        </p:nvSpPr>
        <p:spPr>
          <a:xfrm>
            <a:off x="2613029" y="1296231"/>
            <a:ext cx="1923485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00" dirty="0">
                <a:solidFill>
                  <a:schemeClr val="bg2">
                    <a:lumMod val="50000"/>
                  </a:schemeClr>
                </a:solidFill>
              </a:rPr>
              <a:t>Example 1 + Example 2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5A91139-212C-9992-62F7-FEBBBE62AED1}"/>
              </a:ext>
            </a:extLst>
          </p:cNvPr>
          <p:cNvSpPr txBox="1"/>
          <p:nvPr/>
        </p:nvSpPr>
        <p:spPr>
          <a:xfrm>
            <a:off x="2612077" y="968121"/>
            <a:ext cx="640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rgbClr val="F6BB00"/>
                </a:solidFill>
              </a:rPr>
              <a:t>Top 1</a:t>
            </a:r>
            <a:endParaRPr lang="en-US" sz="1400" b="1" dirty="0">
              <a:solidFill>
                <a:srgbClr val="F6BB00"/>
              </a:solidFill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5441E95-FDC4-A143-287D-5B0F36E47DC9}"/>
              </a:ext>
            </a:extLst>
          </p:cNvPr>
          <p:cNvSpPr txBox="1"/>
          <p:nvPr/>
        </p:nvSpPr>
        <p:spPr>
          <a:xfrm>
            <a:off x="3932170" y="998899"/>
            <a:ext cx="6400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+29%</a:t>
            </a:r>
            <a:endParaRPr lang="en-US" sz="12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93" name="Rectangle: Rounded Corners 92">
            <a:extLst>
              <a:ext uri="{FF2B5EF4-FFF2-40B4-BE49-F238E27FC236}">
                <a16:creationId xmlns:a16="http://schemas.microsoft.com/office/drawing/2014/main" id="{CBFD7A9F-4F16-1C0F-717E-4AEBBED2F973}"/>
              </a:ext>
            </a:extLst>
          </p:cNvPr>
          <p:cNvSpPr/>
          <p:nvPr/>
        </p:nvSpPr>
        <p:spPr>
          <a:xfrm>
            <a:off x="5015677" y="946441"/>
            <a:ext cx="2160646" cy="723315"/>
          </a:xfrm>
          <a:prstGeom prst="roundRect">
            <a:avLst>
              <a:gd name="adj" fmla="val 9524"/>
            </a:avLst>
          </a:prstGeom>
          <a:solidFill>
            <a:schemeClr val="bg1"/>
          </a:solidFill>
          <a:ln>
            <a:noFill/>
          </a:ln>
          <a:effectLst>
            <a:outerShdw blurRad="215900" dist="203200" dir="2760000" sx="95000" sy="95000" algn="tl" rotWithShape="0">
              <a:schemeClr val="bg2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2DBFBAAE-26AA-EA07-250D-73F1088C0A7A}"/>
              </a:ext>
            </a:extLst>
          </p:cNvPr>
          <p:cNvSpPr txBox="1"/>
          <p:nvPr/>
        </p:nvSpPr>
        <p:spPr>
          <a:xfrm>
            <a:off x="5047874" y="1296231"/>
            <a:ext cx="1923485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00" dirty="0">
                <a:solidFill>
                  <a:schemeClr val="bg2">
                    <a:lumMod val="50000"/>
                  </a:schemeClr>
                </a:solidFill>
              </a:rPr>
              <a:t>Example 1 + Example 3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4D907FAE-F90C-B874-EA4C-4910CFB30D37}"/>
              </a:ext>
            </a:extLst>
          </p:cNvPr>
          <p:cNvSpPr txBox="1"/>
          <p:nvPr/>
        </p:nvSpPr>
        <p:spPr>
          <a:xfrm>
            <a:off x="5046922" y="968121"/>
            <a:ext cx="640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rgbClr val="F6BB00"/>
                </a:solidFill>
              </a:rPr>
              <a:t>Top 2</a:t>
            </a:r>
            <a:endParaRPr lang="en-US" sz="1400" b="1" dirty="0">
              <a:solidFill>
                <a:srgbClr val="F6BB00"/>
              </a:solidFill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D1FCDA61-59E1-B05E-9C23-9C2868266629}"/>
              </a:ext>
            </a:extLst>
          </p:cNvPr>
          <p:cNvSpPr txBox="1"/>
          <p:nvPr/>
        </p:nvSpPr>
        <p:spPr>
          <a:xfrm>
            <a:off x="6367015" y="985561"/>
            <a:ext cx="6400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+20%</a:t>
            </a:r>
            <a:endParaRPr lang="en-US" sz="12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01" name="Rectangle: Rounded Corners 100">
            <a:extLst>
              <a:ext uri="{FF2B5EF4-FFF2-40B4-BE49-F238E27FC236}">
                <a16:creationId xmlns:a16="http://schemas.microsoft.com/office/drawing/2014/main" id="{8A039A05-5AEC-F0C4-86D7-EF347C5CF14B}"/>
              </a:ext>
            </a:extLst>
          </p:cNvPr>
          <p:cNvSpPr/>
          <p:nvPr/>
        </p:nvSpPr>
        <p:spPr>
          <a:xfrm>
            <a:off x="7430140" y="946441"/>
            <a:ext cx="2160646" cy="723315"/>
          </a:xfrm>
          <a:prstGeom prst="roundRect">
            <a:avLst>
              <a:gd name="adj" fmla="val 9524"/>
            </a:avLst>
          </a:prstGeom>
          <a:solidFill>
            <a:schemeClr val="bg1"/>
          </a:solidFill>
          <a:ln>
            <a:noFill/>
          </a:ln>
          <a:effectLst>
            <a:outerShdw blurRad="215900" dist="203200" dir="2760000" sx="95000" sy="95000" algn="tl" rotWithShape="0">
              <a:schemeClr val="bg2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BC4C0EF7-F9F8-AD16-299E-7B038AE1030E}"/>
              </a:ext>
            </a:extLst>
          </p:cNvPr>
          <p:cNvSpPr txBox="1"/>
          <p:nvPr/>
        </p:nvSpPr>
        <p:spPr>
          <a:xfrm>
            <a:off x="7462337" y="1296231"/>
            <a:ext cx="1923485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00" dirty="0">
                <a:solidFill>
                  <a:schemeClr val="bg2">
                    <a:lumMod val="50000"/>
                  </a:schemeClr>
                </a:solidFill>
              </a:rPr>
              <a:t>Example 2 + Example 4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A2DDB9EC-28E4-A868-D8B4-EBDF743BF9C5}"/>
              </a:ext>
            </a:extLst>
          </p:cNvPr>
          <p:cNvSpPr txBox="1"/>
          <p:nvPr/>
        </p:nvSpPr>
        <p:spPr>
          <a:xfrm>
            <a:off x="7461385" y="968121"/>
            <a:ext cx="640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rgbClr val="F6BB00"/>
                </a:solidFill>
              </a:rPr>
              <a:t>Top 3</a:t>
            </a:r>
            <a:endParaRPr lang="en-US" sz="1400" b="1" dirty="0">
              <a:solidFill>
                <a:srgbClr val="F6BB00"/>
              </a:solidFill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275A20D4-A717-CF96-62B9-A1725FB8272B}"/>
              </a:ext>
            </a:extLst>
          </p:cNvPr>
          <p:cNvSpPr txBox="1"/>
          <p:nvPr/>
        </p:nvSpPr>
        <p:spPr>
          <a:xfrm>
            <a:off x="8783019" y="977221"/>
            <a:ext cx="6400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+17%</a:t>
            </a:r>
            <a:endParaRPr lang="en-US" sz="12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09" name="Rectangle: Rounded Corners 108">
            <a:extLst>
              <a:ext uri="{FF2B5EF4-FFF2-40B4-BE49-F238E27FC236}">
                <a16:creationId xmlns:a16="http://schemas.microsoft.com/office/drawing/2014/main" id="{601A7F01-8A54-A67F-E53F-9D68072C0B86}"/>
              </a:ext>
            </a:extLst>
          </p:cNvPr>
          <p:cNvSpPr/>
          <p:nvPr/>
        </p:nvSpPr>
        <p:spPr>
          <a:xfrm>
            <a:off x="9851077" y="946441"/>
            <a:ext cx="2160646" cy="723315"/>
          </a:xfrm>
          <a:prstGeom prst="roundRect">
            <a:avLst>
              <a:gd name="adj" fmla="val 9524"/>
            </a:avLst>
          </a:prstGeom>
          <a:solidFill>
            <a:schemeClr val="bg1"/>
          </a:solidFill>
          <a:ln>
            <a:noFill/>
          </a:ln>
          <a:effectLst>
            <a:outerShdw blurRad="215900" dist="203200" dir="2760000" sx="95000" sy="95000" algn="tl" rotWithShape="0">
              <a:schemeClr val="bg2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D27C0182-69D8-56B7-5FEC-9682CA49A31B}"/>
              </a:ext>
            </a:extLst>
          </p:cNvPr>
          <p:cNvSpPr txBox="1"/>
          <p:nvPr/>
        </p:nvSpPr>
        <p:spPr>
          <a:xfrm>
            <a:off x="9883274" y="1296231"/>
            <a:ext cx="1923485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00" dirty="0">
                <a:solidFill>
                  <a:schemeClr val="bg2">
                    <a:lumMod val="50000"/>
                  </a:schemeClr>
                </a:solidFill>
              </a:rPr>
              <a:t>Example 3 + Example 4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E1F4C9D2-2F77-6C8A-C8E4-0E631C878F2F}"/>
              </a:ext>
            </a:extLst>
          </p:cNvPr>
          <p:cNvSpPr txBox="1"/>
          <p:nvPr/>
        </p:nvSpPr>
        <p:spPr>
          <a:xfrm>
            <a:off x="9882322" y="968121"/>
            <a:ext cx="640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rgbClr val="F6BB00"/>
                </a:solidFill>
              </a:rPr>
              <a:t>Top 4</a:t>
            </a:r>
            <a:endParaRPr lang="en-US" sz="1400" b="1" dirty="0">
              <a:solidFill>
                <a:srgbClr val="F6BB00"/>
              </a:solidFill>
            </a:endParaRP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FCEA26A5-2C50-32D7-E4B9-686107894C21}"/>
              </a:ext>
            </a:extLst>
          </p:cNvPr>
          <p:cNvSpPr txBox="1"/>
          <p:nvPr/>
        </p:nvSpPr>
        <p:spPr>
          <a:xfrm>
            <a:off x="11203956" y="979551"/>
            <a:ext cx="6400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+10%</a:t>
            </a:r>
            <a:endParaRPr lang="en-US" sz="12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graphicFrame>
        <p:nvGraphicFramePr>
          <p:cNvPr id="115" name="Chart 114">
            <a:extLst>
              <a:ext uri="{FF2B5EF4-FFF2-40B4-BE49-F238E27FC236}">
                <a16:creationId xmlns:a16="http://schemas.microsoft.com/office/drawing/2014/main" id="{C4CDC7E2-0145-FCBC-33D9-681AAEADAC7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38586173"/>
              </p:ext>
            </p:extLst>
          </p:nvPr>
        </p:nvGraphicFramePr>
        <p:xfrm>
          <a:off x="2580828" y="1806916"/>
          <a:ext cx="7941573" cy="33611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4"/>
          </a:graphicData>
        </a:graphic>
      </p:graphicFrame>
      <p:sp>
        <p:nvSpPr>
          <p:cNvPr id="116" name="Rectangle: Rounded Corners 115">
            <a:extLst>
              <a:ext uri="{FF2B5EF4-FFF2-40B4-BE49-F238E27FC236}">
                <a16:creationId xmlns:a16="http://schemas.microsoft.com/office/drawing/2014/main" id="{83FAC34B-13B4-339D-48AB-BDE883AC61C6}"/>
              </a:ext>
            </a:extLst>
          </p:cNvPr>
          <p:cNvSpPr/>
          <p:nvPr/>
        </p:nvSpPr>
        <p:spPr>
          <a:xfrm>
            <a:off x="10709479" y="2544491"/>
            <a:ext cx="1097280" cy="320040"/>
          </a:xfrm>
          <a:prstGeom prst="roundRect">
            <a:avLst/>
          </a:prstGeom>
          <a:solidFill>
            <a:srgbClr val="54D5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频繁</a:t>
            </a:r>
            <a:r>
              <a:rPr lang="en-US" altLang="zh-CN" sz="1400" dirty="0"/>
              <a:t>2-</a:t>
            </a:r>
            <a:r>
              <a:rPr lang="zh-CN" altLang="en-US" sz="1400" dirty="0"/>
              <a:t>项集</a:t>
            </a:r>
            <a:endParaRPr lang="en-US" sz="1400" dirty="0"/>
          </a:p>
        </p:txBody>
      </p:sp>
      <p:sp>
        <p:nvSpPr>
          <p:cNvPr id="117" name="Rectangle: Rounded Corners 116">
            <a:extLst>
              <a:ext uri="{FF2B5EF4-FFF2-40B4-BE49-F238E27FC236}">
                <a16:creationId xmlns:a16="http://schemas.microsoft.com/office/drawing/2014/main" id="{733AE230-DF48-C18D-CA96-D5582AAF4D52}"/>
              </a:ext>
            </a:extLst>
          </p:cNvPr>
          <p:cNvSpPr/>
          <p:nvPr/>
        </p:nvSpPr>
        <p:spPr>
          <a:xfrm>
            <a:off x="10709479" y="2092083"/>
            <a:ext cx="1097280" cy="320040"/>
          </a:xfrm>
          <a:prstGeom prst="roundRect">
            <a:avLst/>
          </a:prstGeom>
          <a:solidFill>
            <a:srgbClr val="98E6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频繁</a:t>
            </a:r>
            <a:r>
              <a:rPr lang="en-US" altLang="zh-CN" sz="1400" dirty="0"/>
              <a:t>1-</a:t>
            </a:r>
            <a:r>
              <a:rPr lang="zh-CN" altLang="en-US" sz="1400" dirty="0"/>
              <a:t>项集</a:t>
            </a:r>
            <a:endParaRPr lang="en-US" sz="1400" dirty="0"/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6574DFCE-2C5D-07B5-B363-D1FCB7A5C0CF}"/>
              </a:ext>
            </a:extLst>
          </p:cNvPr>
          <p:cNvSpPr txBox="1"/>
          <p:nvPr/>
        </p:nvSpPr>
        <p:spPr>
          <a:xfrm>
            <a:off x="2580831" y="5182643"/>
            <a:ext cx="6804991" cy="14927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300" dirty="0">
                <a:solidFill>
                  <a:srgbClr val="C00000"/>
                </a:solidFill>
              </a:rPr>
              <a:t>“”“</a:t>
            </a:r>
            <a:endParaRPr lang="en-US" altLang="zh-CN" sz="1300" dirty="0">
              <a:solidFill>
                <a:srgbClr val="C00000"/>
              </a:solidFill>
            </a:endParaRPr>
          </a:p>
          <a:p>
            <a:r>
              <a:rPr lang="en-US" altLang="zh-CN" sz="1300" dirty="0">
                <a:solidFill>
                  <a:srgbClr val="C00000"/>
                </a:solidFill>
              </a:rPr>
              <a:t>A. </a:t>
            </a:r>
            <a:r>
              <a:rPr lang="zh-CN" altLang="en-US" sz="1300" dirty="0">
                <a:solidFill>
                  <a:srgbClr val="C00000"/>
                </a:solidFill>
              </a:rPr>
              <a:t>商品关联网络图：节点</a:t>
            </a:r>
            <a:r>
              <a:rPr lang="en-US" altLang="zh-CN" sz="1300" dirty="0">
                <a:solidFill>
                  <a:srgbClr val="C00000"/>
                </a:solidFill>
              </a:rPr>
              <a:t>=</a:t>
            </a:r>
            <a:r>
              <a:rPr lang="zh-CN" altLang="en-US" sz="1300" dirty="0">
                <a:solidFill>
                  <a:srgbClr val="C00000"/>
                </a:solidFill>
              </a:rPr>
              <a:t>商品，连线</a:t>
            </a:r>
            <a:r>
              <a:rPr lang="en-US" altLang="zh-CN" sz="1300" dirty="0">
                <a:solidFill>
                  <a:srgbClr val="C00000"/>
                </a:solidFill>
              </a:rPr>
              <a:t>=</a:t>
            </a:r>
            <a:r>
              <a:rPr lang="zh-CN" altLang="en-US" sz="1300" dirty="0">
                <a:solidFill>
                  <a:srgbClr val="C00000"/>
                </a:solidFill>
              </a:rPr>
              <a:t>关联强度</a:t>
            </a:r>
            <a:endParaRPr lang="en-US" altLang="zh-CN" sz="1300" dirty="0">
              <a:solidFill>
                <a:srgbClr val="C00000"/>
              </a:solidFill>
            </a:endParaRPr>
          </a:p>
          <a:p>
            <a:r>
              <a:rPr lang="en-US" altLang="zh-CN" sz="1300" dirty="0">
                <a:solidFill>
                  <a:srgbClr val="C00000"/>
                </a:solidFill>
              </a:rPr>
              <a:t>B. </a:t>
            </a:r>
            <a:r>
              <a:rPr lang="zh-CN" altLang="en-US" sz="1300" dirty="0">
                <a:solidFill>
                  <a:srgbClr val="C00000"/>
                </a:solidFill>
              </a:rPr>
              <a:t>强规则表格（含支持度</a:t>
            </a:r>
            <a:r>
              <a:rPr lang="en-US" altLang="zh-CN" sz="1300" dirty="0">
                <a:solidFill>
                  <a:srgbClr val="C00000"/>
                </a:solidFill>
              </a:rPr>
              <a:t>/</a:t>
            </a:r>
            <a:r>
              <a:rPr lang="zh-CN" altLang="en-US" sz="1300" dirty="0">
                <a:solidFill>
                  <a:srgbClr val="C00000"/>
                </a:solidFill>
              </a:rPr>
              <a:t>置信度）</a:t>
            </a:r>
            <a:endParaRPr lang="en-US" altLang="zh-CN" sz="1300" dirty="0">
              <a:solidFill>
                <a:srgbClr val="C00000"/>
              </a:solidFill>
            </a:endParaRPr>
          </a:p>
          <a:p>
            <a:r>
              <a:rPr lang="en-US" altLang="zh-CN" sz="1300" dirty="0">
                <a:solidFill>
                  <a:srgbClr val="C00000"/>
                </a:solidFill>
              </a:rPr>
              <a:t>C. </a:t>
            </a:r>
            <a:r>
              <a:rPr lang="zh-CN" altLang="en-US" sz="1300" dirty="0">
                <a:solidFill>
                  <a:srgbClr val="C00000"/>
                </a:solidFill>
              </a:rPr>
              <a:t>套餐建议卡片：基于关联规则生成的套餐方案</a:t>
            </a:r>
            <a:endParaRPr lang="en-US" altLang="zh-CN" sz="1300" dirty="0">
              <a:solidFill>
                <a:srgbClr val="C00000"/>
              </a:solidFill>
            </a:endParaRPr>
          </a:p>
          <a:p>
            <a:r>
              <a:rPr lang="en-US" altLang="zh-CN" sz="1300" dirty="0">
                <a:solidFill>
                  <a:srgbClr val="C00000"/>
                </a:solidFill>
              </a:rPr>
              <a:t>D. </a:t>
            </a:r>
            <a:r>
              <a:rPr lang="zh-CN" altLang="en-US" sz="1300" dirty="0">
                <a:solidFill>
                  <a:srgbClr val="C00000"/>
                </a:solidFill>
              </a:rPr>
              <a:t>频繁项集分析表（</a:t>
            </a:r>
            <a:r>
              <a:rPr lang="en-US" altLang="zh-CN" sz="1300" dirty="0">
                <a:solidFill>
                  <a:srgbClr val="C00000"/>
                </a:solidFill>
              </a:rPr>
              <a:t>1-</a:t>
            </a:r>
            <a:r>
              <a:rPr lang="zh-CN" altLang="en-US" sz="1300" dirty="0">
                <a:solidFill>
                  <a:srgbClr val="C00000"/>
                </a:solidFill>
              </a:rPr>
              <a:t>项集、</a:t>
            </a:r>
            <a:r>
              <a:rPr lang="en-US" altLang="zh-CN" sz="1300" dirty="0">
                <a:solidFill>
                  <a:srgbClr val="C00000"/>
                </a:solidFill>
              </a:rPr>
              <a:t>2-</a:t>
            </a:r>
            <a:r>
              <a:rPr lang="zh-CN" altLang="en-US" sz="1300" dirty="0">
                <a:solidFill>
                  <a:srgbClr val="C00000"/>
                </a:solidFill>
              </a:rPr>
              <a:t>项集）：单个商品的出现频率、商品组合的出现频率</a:t>
            </a:r>
            <a:endParaRPr lang="en-US" altLang="zh-CN" sz="1300" dirty="0">
              <a:solidFill>
                <a:srgbClr val="C00000"/>
              </a:solidFill>
            </a:endParaRPr>
          </a:p>
          <a:p>
            <a:r>
              <a:rPr lang="en-US" altLang="zh-CN" sz="1300" dirty="0">
                <a:solidFill>
                  <a:srgbClr val="C00000"/>
                </a:solidFill>
              </a:rPr>
              <a:t>E. </a:t>
            </a:r>
            <a:r>
              <a:rPr lang="zh-CN" altLang="en-US" sz="1300" dirty="0">
                <a:solidFill>
                  <a:srgbClr val="C00000"/>
                </a:solidFill>
              </a:rPr>
              <a:t>自定义选项分析：糖度选择分布、冰度选择分布、热门小料</a:t>
            </a:r>
            <a:r>
              <a:rPr lang="en-US" altLang="zh-CN" sz="1300" dirty="0">
                <a:solidFill>
                  <a:srgbClr val="C00000"/>
                </a:solidFill>
              </a:rPr>
              <a:t>TOP5</a:t>
            </a:r>
          </a:p>
          <a:p>
            <a:r>
              <a:rPr lang="zh-CN" altLang="en-US" sz="1300" dirty="0">
                <a:solidFill>
                  <a:srgbClr val="C00000"/>
                </a:solidFill>
              </a:rPr>
              <a:t>”“”</a:t>
            </a:r>
            <a:endParaRPr lang="en-US" altLang="zh-CN" sz="1300" dirty="0">
              <a:solidFill>
                <a:srgbClr val="C00000"/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C002AFA-00D3-E054-8831-BDFB0750927A}"/>
              </a:ext>
            </a:extLst>
          </p:cNvPr>
          <p:cNvSpPr/>
          <p:nvPr/>
        </p:nvSpPr>
        <p:spPr>
          <a:xfrm>
            <a:off x="233994" y="3907026"/>
            <a:ext cx="365760" cy="365760"/>
          </a:xfrm>
          <a:prstGeom prst="roundRect">
            <a:avLst/>
          </a:prstGeom>
          <a:gradFill flip="none" rotWithShape="1">
            <a:gsLst>
              <a:gs pos="58000">
                <a:srgbClr val="D735B0">
                  <a:lumMod val="95000"/>
                </a:srgbClr>
              </a:gs>
              <a:gs pos="21000">
                <a:srgbClr val="8638C7"/>
              </a:gs>
              <a:gs pos="87000">
                <a:srgbClr val="FE237E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0451D753-B4D2-B306-6874-F4463210223C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73894" y="3952745"/>
            <a:ext cx="274320" cy="274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46170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A6463A3D-CAD1-EBD5-9C33-1AC30766FAD5}"/>
              </a:ext>
            </a:extLst>
          </p:cNvPr>
          <p:cNvSpPr/>
          <p:nvPr/>
        </p:nvSpPr>
        <p:spPr>
          <a:xfrm>
            <a:off x="0" y="3177800"/>
            <a:ext cx="2394263" cy="2450592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ECC0C56-126C-95AB-3136-A27313500B95}"/>
              </a:ext>
            </a:extLst>
          </p:cNvPr>
          <p:cNvSpPr/>
          <p:nvPr/>
        </p:nvSpPr>
        <p:spPr>
          <a:xfrm>
            <a:off x="78775" y="4411545"/>
            <a:ext cx="2236711" cy="581483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A45370-BE93-FA91-5DF9-83EF63976B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854" y="227166"/>
            <a:ext cx="320040" cy="32004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E802EE9-1AF3-A4B9-3FB2-FA7B1E2020E4}"/>
              </a:ext>
            </a:extLst>
          </p:cNvPr>
          <p:cNvSpPr txBox="1"/>
          <p:nvPr/>
        </p:nvSpPr>
        <p:spPr>
          <a:xfrm>
            <a:off x="726807" y="227166"/>
            <a:ext cx="15461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chemeClr val="bg2">
                    <a:lumMod val="50000"/>
                  </a:schemeClr>
                </a:solidFill>
              </a:rPr>
              <a:t>UI Dashboard</a:t>
            </a:r>
            <a:endParaRPr lang="en-US" sz="1600" b="1" dirty="0">
              <a:solidFill>
                <a:schemeClr val="bg2">
                  <a:lumMod val="50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65E8F29-40BE-39AE-93A0-DB8D3E8FD81E}"/>
              </a:ext>
            </a:extLst>
          </p:cNvPr>
          <p:cNvCxnSpPr>
            <a:cxnSpLocks/>
          </p:cNvCxnSpPr>
          <p:nvPr/>
        </p:nvCxnSpPr>
        <p:spPr>
          <a:xfrm>
            <a:off x="2394263" y="295275"/>
            <a:ext cx="0" cy="6267450"/>
          </a:xfrm>
          <a:prstGeom prst="line">
            <a:avLst/>
          </a:prstGeom>
          <a:ln w="6350">
            <a:solidFill>
              <a:schemeClr val="bg2">
                <a:lumMod val="9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D4C0878-8D53-F3DC-CAC1-64E20C58E45E}"/>
              </a:ext>
            </a:extLst>
          </p:cNvPr>
          <p:cNvSpPr/>
          <p:nvPr/>
        </p:nvSpPr>
        <p:spPr>
          <a:xfrm>
            <a:off x="233994" y="824830"/>
            <a:ext cx="365760" cy="36576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7B80BE6-8BB6-0D86-E2FF-104A520CBF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714" y="870550"/>
            <a:ext cx="274320" cy="27432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1774360-8F31-3307-4A59-33598199EA68}"/>
              </a:ext>
            </a:extLst>
          </p:cNvPr>
          <p:cNvSpPr txBox="1"/>
          <p:nvPr/>
        </p:nvSpPr>
        <p:spPr>
          <a:xfrm>
            <a:off x="721093" y="864656"/>
            <a:ext cx="15461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bg2">
                    <a:lumMod val="50000"/>
                  </a:schemeClr>
                </a:solidFill>
              </a:rPr>
              <a:t>Dashboard</a:t>
            </a:r>
            <a:endParaRPr lang="en-US" sz="14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77671016-8F00-D211-D794-757F645679FD}"/>
              </a:ext>
            </a:extLst>
          </p:cNvPr>
          <p:cNvSpPr/>
          <p:nvPr/>
        </p:nvSpPr>
        <p:spPr>
          <a:xfrm>
            <a:off x="233994" y="1441156"/>
            <a:ext cx="365760" cy="36576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9128B5A-F019-7BC6-79EF-3B12AD89A4FF}"/>
              </a:ext>
            </a:extLst>
          </p:cNvPr>
          <p:cNvSpPr txBox="1"/>
          <p:nvPr/>
        </p:nvSpPr>
        <p:spPr>
          <a:xfrm>
            <a:off x="721093" y="1484610"/>
            <a:ext cx="15461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bg2">
                    <a:lumMod val="50000"/>
                  </a:schemeClr>
                </a:solidFill>
              </a:rPr>
              <a:t>Tables</a:t>
            </a:r>
            <a:endParaRPr lang="en-US" sz="1400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248F5906-7E0F-F0E5-5CA6-6541756F7F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2574" y="1509736"/>
            <a:ext cx="228600" cy="228600"/>
          </a:xfrm>
          <a:prstGeom prst="rect">
            <a:avLst/>
          </a:prstGeom>
        </p:spPr>
      </p:pic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3EC6D713-82EA-874D-D171-E4F8BE40916F}"/>
              </a:ext>
            </a:extLst>
          </p:cNvPr>
          <p:cNvSpPr/>
          <p:nvPr/>
        </p:nvSpPr>
        <p:spPr>
          <a:xfrm>
            <a:off x="233994" y="2053794"/>
            <a:ext cx="365760" cy="36576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02296BD-CD75-33B2-5485-A9626B70C48F}"/>
              </a:ext>
            </a:extLst>
          </p:cNvPr>
          <p:cNvSpPr txBox="1"/>
          <p:nvPr/>
        </p:nvSpPr>
        <p:spPr>
          <a:xfrm>
            <a:off x="721093" y="2099333"/>
            <a:ext cx="15461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bg2">
                    <a:lumMod val="50000"/>
                  </a:schemeClr>
                </a:solidFill>
              </a:rPr>
              <a:t>Incomes</a:t>
            </a:r>
            <a:endParaRPr lang="en-US" sz="1400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4A094A5E-A530-4DEA-40C8-529FC4B780E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79714" y="2104010"/>
            <a:ext cx="274320" cy="274320"/>
          </a:xfrm>
          <a:prstGeom prst="rect">
            <a:avLst/>
          </a:prstGeom>
        </p:spPr>
      </p:pic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81BDAD14-ED2F-B926-FA58-0E68AABEDFE1}"/>
              </a:ext>
            </a:extLst>
          </p:cNvPr>
          <p:cNvSpPr/>
          <p:nvPr/>
        </p:nvSpPr>
        <p:spPr>
          <a:xfrm>
            <a:off x="233994" y="2674908"/>
            <a:ext cx="365760" cy="36576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0CCDA8B-39B3-CDD2-3313-3DDBFF25C9C6}"/>
              </a:ext>
            </a:extLst>
          </p:cNvPr>
          <p:cNvSpPr txBox="1"/>
          <p:nvPr/>
        </p:nvSpPr>
        <p:spPr>
          <a:xfrm>
            <a:off x="721093" y="2723124"/>
            <a:ext cx="15461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bg2">
                    <a:lumMod val="50000"/>
                  </a:schemeClr>
                </a:solidFill>
              </a:rPr>
              <a:t>Virtualization  </a:t>
            </a:r>
            <a:r>
              <a:rPr lang="en-US" altLang="zh-CN" sz="800" dirty="0">
                <a:solidFill>
                  <a:schemeClr val="bg2">
                    <a:lumMod val="50000"/>
                  </a:schemeClr>
                </a:solidFill>
                <a:sym typeface="Wingdings 3" panose="05040102010807070707" pitchFamily="18" charset="2"/>
              </a:rPr>
              <a:t></a:t>
            </a:r>
            <a:endParaRPr lang="en-US" sz="1600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0506B572-5BC2-EFB0-6C1B-E0D191E072F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9714" y="2720628"/>
            <a:ext cx="274320" cy="274320"/>
          </a:xfrm>
          <a:prstGeom prst="rect">
            <a:avLst/>
          </a:prstGeom>
        </p:spPr>
      </p:pic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326A60AE-2E89-CEE5-FB47-2FF1D19AC722}"/>
              </a:ext>
            </a:extLst>
          </p:cNvPr>
          <p:cNvSpPr/>
          <p:nvPr/>
        </p:nvSpPr>
        <p:spPr>
          <a:xfrm>
            <a:off x="233994" y="3297360"/>
            <a:ext cx="365760" cy="36576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8042A83-E2C9-0063-9CAE-0984CBCB2D80}"/>
              </a:ext>
            </a:extLst>
          </p:cNvPr>
          <p:cNvSpPr txBox="1"/>
          <p:nvPr/>
        </p:nvSpPr>
        <p:spPr>
          <a:xfrm>
            <a:off x="730417" y="3341740"/>
            <a:ext cx="15461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bg2">
                    <a:lumMod val="50000"/>
                  </a:schemeClr>
                </a:solidFill>
              </a:rPr>
              <a:t>Customer Profile</a:t>
            </a:r>
            <a:endParaRPr lang="en-US" sz="12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5FD8BFA-9001-BACA-E085-90824599CC08}"/>
              </a:ext>
            </a:extLst>
          </p:cNvPr>
          <p:cNvSpPr txBox="1"/>
          <p:nvPr/>
        </p:nvSpPr>
        <p:spPr>
          <a:xfrm>
            <a:off x="730417" y="4561072"/>
            <a:ext cx="15461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bg2">
                    <a:lumMod val="50000"/>
                  </a:schemeClr>
                </a:solidFill>
              </a:rPr>
              <a:t>User Segmentation</a:t>
            </a:r>
            <a:endParaRPr lang="en-US" sz="16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5F55B823-F3DC-2E09-BDFC-6FBE61636CB3}"/>
              </a:ext>
            </a:extLst>
          </p:cNvPr>
          <p:cNvSpPr/>
          <p:nvPr/>
        </p:nvSpPr>
        <p:spPr>
          <a:xfrm>
            <a:off x="233994" y="3907026"/>
            <a:ext cx="365760" cy="36576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4627EB5-9942-03D5-454C-6CA401541DB9}"/>
              </a:ext>
            </a:extLst>
          </p:cNvPr>
          <p:cNvSpPr txBox="1"/>
          <p:nvPr/>
        </p:nvSpPr>
        <p:spPr>
          <a:xfrm>
            <a:off x="721093" y="3951406"/>
            <a:ext cx="15461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bg2">
                    <a:lumMod val="50000"/>
                  </a:schemeClr>
                </a:solidFill>
              </a:rPr>
              <a:t>Gold Match</a:t>
            </a:r>
            <a:endParaRPr lang="en-US" sz="1600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0451D753-B4D2-B306-6874-F4463210223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9714" y="3951406"/>
            <a:ext cx="274320" cy="274320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F636E43C-BFA8-B1DA-8C5D-6F268F68546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9714" y="3344419"/>
            <a:ext cx="274320" cy="274320"/>
          </a:xfrm>
          <a:prstGeom prst="rect">
            <a:avLst/>
          </a:prstGeom>
        </p:spPr>
      </p:pic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DD348B09-C3BE-18DE-DC70-529960A121A1}"/>
              </a:ext>
            </a:extLst>
          </p:cNvPr>
          <p:cNvSpPr/>
          <p:nvPr/>
        </p:nvSpPr>
        <p:spPr>
          <a:xfrm>
            <a:off x="233994" y="5123679"/>
            <a:ext cx="365760" cy="36576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8BF4E00-F270-3123-9E77-B570DF3BC4A6}"/>
              </a:ext>
            </a:extLst>
          </p:cNvPr>
          <p:cNvSpPr txBox="1"/>
          <p:nvPr/>
        </p:nvSpPr>
        <p:spPr>
          <a:xfrm>
            <a:off x="730417" y="5168059"/>
            <a:ext cx="15461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bg2">
                    <a:lumMod val="50000"/>
                  </a:schemeClr>
                </a:solidFill>
              </a:rPr>
              <a:t>Real-time Sales</a:t>
            </a:r>
            <a:endParaRPr lang="en-US" sz="1600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62" name="Picture 61">
            <a:extLst>
              <a:ext uri="{FF2B5EF4-FFF2-40B4-BE49-F238E27FC236}">
                <a16:creationId xmlns:a16="http://schemas.microsoft.com/office/drawing/2014/main" id="{32457526-206D-D37D-37F4-D4DEAFE6040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9714" y="5170738"/>
            <a:ext cx="274320" cy="274320"/>
          </a:xfrm>
          <a:prstGeom prst="rect">
            <a:avLst/>
          </a:prstGeom>
        </p:spPr>
      </p:pic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7F4031DC-D78C-3036-E097-BFD5B7B60918}"/>
              </a:ext>
            </a:extLst>
          </p:cNvPr>
          <p:cNvSpPr/>
          <p:nvPr/>
        </p:nvSpPr>
        <p:spPr>
          <a:xfrm>
            <a:off x="233994" y="5733988"/>
            <a:ext cx="365760" cy="36576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25BF110-74F0-79A8-9882-0FE4DE73ACBF}"/>
              </a:ext>
            </a:extLst>
          </p:cNvPr>
          <p:cNvSpPr txBox="1"/>
          <p:nvPr/>
        </p:nvSpPr>
        <p:spPr>
          <a:xfrm>
            <a:off x="721093" y="5778368"/>
            <a:ext cx="15461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bg2">
                    <a:lumMod val="50000"/>
                  </a:schemeClr>
                </a:solidFill>
              </a:rPr>
              <a:t>Store</a:t>
            </a:r>
            <a:endParaRPr lang="en-US" sz="1600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67" name="Picture 66">
            <a:extLst>
              <a:ext uri="{FF2B5EF4-FFF2-40B4-BE49-F238E27FC236}">
                <a16:creationId xmlns:a16="http://schemas.microsoft.com/office/drawing/2014/main" id="{610ED4C1-709E-E747-FEB3-7AF7580DABC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79714" y="5778368"/>
            <a:ext cx="274320" cy="274320"/>
          </a:xfrm>
          <a:prstGeom prst="rect">
            <a:avLst/>
          </a:prstGeom>
        </p:spPr>
      </p:pic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AAFE4741-DA4C-0E71-8A57-178212DCC8D3}"/>
              </a:ext>
            </a:extLst>
          </p:cNvPr>
          <p:cNvSpPr/>
          <p:nvPr/>
        </p:nvSpPr>
        <p:spPr>
          <a:xfrm>
            <a:off x="233994" y="6356659"/>
            <a:ext cx="365760" cy="36576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296BA4F-9456-F5DB-2C37-E7C67CD3C468}"/>
              </a:ext>
            </a:extLst>
          </p:cNvPr>
          <p:cNvSpPr txBox="1"/>
          <p:nvPr/>
        </p:nvSpPr>
        <p:spPr>
          <a:xfrm>
            <a:off x="721093" y="6401039"/>
            <a:ext cx="15461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50000"/>
                  </a:schemeClr>
                </a:solidFill>
              </a:rPr>
              <a:t>Logout</a:t>
            </a:r>
            <a:endParaRPr lang="en-US" sz="1600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78" name="Picture 77">
            <a:extLst>
              <a:ext uri="{FF2B5EF4-FFF2-40B4-BE49-F238E27FC236}">
                <a16:creationId xmlns:a16="http://schemas.microsoft.com/office/drawing/2014/main" id="{38FDE838-2F45-47F6-EBEB-E08BB5B5B8A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79714" y="6401039"/>
            <a:ext cx="274320" cy="27432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A33CEA1B-8EA7-D5FC-5F25-E8E7F7D2B89E}"/>
              </a:ext>
            </a:extLst>
          </p:cNvPr>
          <p:cNvSpPr txBox="1"/>
          <p:nvPr/>
        </p:nvSpPr>
        <p:spPr>
          <a:xfrm>
            <a:off x="2583683" y="163378"/>
            <a:ext cx="3337054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00" dirty="0">
                <a:solidFill>
                  <a:schemeClr val="bg2">
                    <a:lumMod val="50000"/>
                  </a:schemeClr>
                </a:solidFill>
              </a:rPr>
              <a:t>Pages  </a:t>
            </a:r>
            <a:r>
              <a:rPr lang="en-US" altLang="zh-CN" sz="1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/  Virtualization  /  User Segmentation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54EAFCD-8F5A-D1EB-90B2-E66E301A2C63}"/>
              </a:ext>
            </a:extLst>
          </p:cNvPr>
          <p:cNvSpPr txBox="1"/>
          <p:nvPr/>
        </p:nvSpPr>
        <p:spPr>
          <a:xfrm>
            <a:off x="2583682" y="410046"/>
            <a:ext cx="19540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User Segmentation</a:t>
            </a:r>
            <a:endParaRPr lang="en-US" sz="1400" b="1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8443DEA4-1144-01E2-0DCB-888CBC00F4A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801350" y="280291"/>
            <a:ext cx="228600" cy="22860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E44A43CC-0F9C-CF55-D4E2-D5FD02E23F8D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144250" y="282067"/>
            <a:ext cx="228600" cy="228600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DE9CE401-2F36-75F5-FE00-7BA40C94C548}"/>
              </a:ext>
            </a:extLst>
          </p:cNvPr>
          <p:cNvSpPr txBox="1"/>
          <p:nvPr/>
        </p:nvSpPr>
        <p:spPr>
          <a:xfrm>
            <a:off x="11372850" y="233297"/>
            <a:ext cx="7573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bg2">
                    <a:lumMod val="50000"/>
                  </a:schemeClr>
                </a:solidFill>
              </a:rPr>
              <a:t>Admin</a:t>
            </a:r>
            <a:endParaRPr lang="en-US" sz="14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4AABD5A-AC26-074E-8278-ACE2DE53B03C}"/>
              </a:ext>
            </a:extLst>
          </p:cNvPr>
          <p:cNvSpPr txBox="1"/>
          <p:nvPr/>
        </p:nvSpPr>
        <p:spPr>
          <a:xfrm>
            <a:off x="2580831" y="2256563"/>
            <a:ext cx="7614729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300" dirty="0">
                <a:solidFill>
                  <a:srgbClr val="C00000"/>
                </a:solidFill>
              </a:rPr>
              <a:t>“”“</a:t>
            </a:r>
            <a:endParaRPr lang="en-US" altLang="zh-CN" sz="1300" dirty="0">
              <a:solidFill>
                <a:srgbClr val="C00000"/>
              </a:solidFill>
            </a:endParaRPr>
          </a:p>
          <a:p>
            <a:r>
              <a:rPr lang="en-US" altLang="zh-CN" sz="1300" dirty="0">
                <a:solidFill>
                  <a:srgbClr val="C00000"/>
                </a:solidFill>
              </a:rPr>
              <a:t>A. RFM</a:t>
            </a:r>
            <a:r>
              <a:rPr lang="zh-CN" altLang="en-US" sz="1300" dirty="0">
                <a:solidFill>
                  <a:srgbClr val="C00000"/>
                </a:solidFill>
              </a:rPr>
              <a:t>分群散点图：</a:t>
            </a:r>
            <a:r>
              <a:rPr lang="en-US" altLang="zh-CN" sz="1300" dirty="0">
                <a:solidFill>
                  <a:srgbClr val="C00000"/>
                </a:solidFill>
              </a:rPr>
              <a:t>R(Recency, </a:t>
            </a:r>
            <a:r>
              <a:rPr lang="zh-CN" altLang="en-US" sz="1300" dirty="0">
                <a:solidFill>
                  <a:srgbClr val="C00000"/>
                </a:solidFill>
              </a:rPr>
              <a:t>最近一次消费</a:t>
            </a:r>
            <a:r>
              <a:rPr lang="en-US" altLang="zh-CN" sz="1300" dirty="0">
                <a:solidFill>
                  <a:srgbClr val="C00000"/>
                </a:solidFill>
              </a:rPr>
              <a:t>)</a:t>
            </a:r>
            <a:r>
              <a:rPr lang="zh-CN" altLang="en-US" sz="1300" dirty="0">
                <a:solidFill>
                  <a:srgbClr val="C00000"/>
                </a:solidFill>
              </a:rPr>
              <a:t>；</a:t>
            </a:r>
            <a:r>
              <a:rPr lang="en-US" altLang="zh-CN" sz="1300" dirty="0">
                <a:solidFill>
                  <a:srgbClr val="C00000"/>
                </a:solidFill>
              </a:rPr>
              <a:t>F(Frequency, </a:t>
            </a:r>
            <a:r>
              <a:rPr lang="zh-CN" altLang="en-US" sz="1300" dirty="0">
                <a:solidFill>
                  <a:srgbClr val="C00000"/>
                </a:solidFill>
              </a:rPr>
              <a:t>消费频率</a:t>
            </a:r>
            <a:r>
              <a:rPr lang="en-US" altLang="zh-CN" sz="1300" dirty="0">
                <a:solidFill>
                  <a:srgbClr val="C00000"/>
                </a:solidFill>
              </a:rPr>
              <a:t>)</a:t>
            </a:r>
            <a:r>
              <a:rPr lang="zh-CN" altLang="en-US" sz="1300" dirty="0">
                <a:solidFill>
                  <a:srgbClr val="C00000"/>
                </a:solidFill>
              </a:rPr>
              <a:t>；</a:t>
            </a:r>
            <a:r>
              <a:rPr lang="en-US" altLang="zh-CN" sz="1300" dirty="0">
                <a:solidFill>
                  <a:srgbClr val="C00000"/>
                </a:solidFill>
              </a:rPr>
              <a:t>M(Monetary, </a:t>
            </a:r>
            <a:r>
              <a:rPr lang="zh-CN" altLang="en-US" sz="1300" dirty="0">
                <a:solidFill>
                  <a:srgbClr val="C00000"/>
                </a:solidFill>
              </a:rPr>
              <a:t>消费金额</a:t>
            </a:r>
            <a:r>
              <a:rPr lang="en-US" altLang="zh-CN" sz="1300" dirty="0">
                <a:solidFill>
                  <a:srgbClr val="C00000"/>
                </a:solidFill>
              </a:rPr>
              <a:t>)</a:t>
            </a:r>
          </a:p>
          <a:p>
            <a:r>
              <a:rPr lang="en-US" altLang="zh-CN" sz="1300" dirty="0">
                <a:solidFill>
                  <a:srgbClr val="C00000"/>
                </a:solidFill>
              </a:rPr>
              <a:t>B.</a:t>
            </a:r>
            <a:r>
              <a:rPr lang="zh-CN" altLang="en-US" sz="1300" dirty="0">
                <a:solidFill>
                  <a:srgbClr val="C00000"/>
                </a:solidFill>
              </a:rPr>
              <a:t> 用户群体雷达图：各群体在多维度的特征对比</a:t>
            </a:r>
            <a:endParaRPr lang="en-US" altLang="zh-CN" sz="1300" dirty="0">
              <a:solidFill>
                <a:srgbClr val="C00000"/>
              </a:solidFill>
            </a:endParaRPr>
          </a:p>
          <a:p>
            <a:r>
              <a:rPr lang="en-US" altLang="zh-CN" sz="1300" dirty="0">
                <a:solidFill>
                  <a:srgbClr val="C00000"/>
                </a:solidFill>
              </a:rPr>
              <a:t>C. </a:t>
            </a:r>
            <a:r>
              <a:rPr lang="zh-CN" altLang="en-US" sz="1300" dirty="0">
                <a:solidFill>
                  <a:srgbClr val="C00000"/>
                </a:solidFill>
              </a:rPr>
              <a:t>群体消费特征对比：每类用户的核心特征、喜欢的商品品类、对总收入的贡献比例</a:t>
            </a:r>
            <a:endParaRPr lang="en-US" altLang="zh-CN" sz="1300" dirty="0">
              <a:solidFill>
                <a:srgbClr val="C00000"/>
              </a:solidFill>
            </a:endParaRPr>
          </a:p>
          <a:p>
            <a:r>
              <a:rPr lang="en-US" altLang="zh-CN" sz="1300" dirty="0">
                <a:solidFill>
                  <a:srgbClr val="C00000"/>
                </a:solidFill>
              </a:rPr>
              <a:t>D. </a:t>
            </a:r>
            <a:r>
              <a:rPr lang="zh-CN" altLang="en-US" sz="1300" dirty="0">
                <a:solidFill>
                  <a:srgbClr val="C00000"/>
                </a:solidFill>
              </a:rPr>
              <a:t>群体迁移桑基图：用户从一类转向另一类的路径</a:t>
            </a:r>
            <a:endParaRPr lang="en-US" altLang="zh-CN" sz="1300" dirty="0">
              <a:solidFill>
                <a:srgbClr val="C00000"/>
              </a:solidFill>
            </a:endParaRPr>
          </a:p>
          <a:p>
            <a:r>
              <a:rPr lang="zh-CN" altLang="en-US" sz="1300" dirty="0">
                <a:solidFill>
                  <a:srgbClr val="C00000"/>
                </a:solidFill>
              </a:rPr>
              <a:t>”“”</a:t>
            </a:r>
            <a:endParaRPr lang="en-US" altLang="zh-CN" sz="1300" dirty="0">
              <a:solidFill>
                <a:srgbClr val="C00000"/>
              </a:solidFill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AACCC73-0741-1F6A-2EED-B3CF5C9767C2}"/>
              </a:ext>
            </a:extLst>
          </p:cNvPr>
          <p:cNvSpPr/>
          <p:nvPr/>
        </p:nvSpPr>
        <p:spPr>
          <a:xfrm>
            <a:off x="233994" y="4529697"/>
            <a:ext cx="365760" cy="365760"/>
          </a:xfrm>
          <a:prstGeom prst="roundRect">
            <a:avLst/>
          </a:prstGeom>
          <a:gradFill flip="none" rotWithShape="1">
            <a:gsLst>
              <a:gs pos="58000">
                <a:srgbClr val="D735B0">
                  <a:lumMod val="95000"/>
                </a:srgbClr>
              </a:gs>
              <a:gs pos="21000">
                <a:srgbClr val="8638C7"/>
              </a:gs>
              <a:gs pos="87000">
                <a:srgbClr val="FE237E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7" name="Picture 56">
            <a:extLst>
              <a:ext uri="{FF2B5EF4-FFF2-40B4-BE49-F238E27FC236}">
                <a16:creationId xmlns:a16="http://schemas.microsoft.com/office/drawing/2014/main" id="{C6C61AB2-D22F-9104-DECA-E794B1AD6A19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79714" y="4575417"/>
            <a:ext cx="274320" cy="274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47349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A6463A3D-CAD1-EBD5-9C33-1AC30766FAD5}"/>
              </a:ext>
            </a:extLst>
          </p:cNvPr>
          <p:cNvSpPr/>
          <p:nvPr/>
        </p:nvSpPr>
        <p:spPr>
          <a:xfrm>
            <a:off x="0" y="3177800"/>
            <a:ext cx="2394263" cy="2450592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7B68F30-01A3-8186-556E-B39ECB83915F}"/>
              </a:ext>
            </a:extLst>
          </p:cNvPr>
          <p:cNvSpPr/>
          <p:nvPr/>
        </p:nvSpPr>
        <p:spPr>
          <a:xfrm>
            <a:off x="78775" y="5021238"/>
            <a:ext cx="2236711" cy="581483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A45370-BE93-FA91-5DF9-83EF63976B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854" y="227166"/>
            <a:ext cx="320040" cy="32004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E802EE9-1AF3-A4B9-3FB2-FA7B1E2020E4}"/>
              </a:ext>
            </a:extLst>
          </p:cNvPr>
          <p:cNvSpPr txBox="1"/>
          <p:nvPr/>
        </p:nvSpPr>
        <p:spPr>
          <a:xfrm>
            <a:off x="726807" y="227166"/>
            <a:ext cx="15461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chemeClr val="bg2">
                    <a:lumMod val="50000"/>
                  </a:schemeClr>
                </a:solidFill>
              </a:rPr>
              <a:t>UI Dashboard</a:t>
            </a:r>
            <a:endParaRPr lang="en-US" sz="1600" b="1" dirty="0">
              <a:solidFill>
                <a:schemeClr val="bg2">
                  <a:lumMod val="50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65E8F29-40BE-39AE-93A0-DB8D3E8FD81E}"/>
              </a:ext>
            </a:extLst>
          </p:cNvPr>
          <p:cNvCxnSpPr>
            <a:cxnSpLocks/>
          </p:cNvCxnSpPr>
          <p:nvPr/>
        </p:nvCxnSpPr>
        <p:spPr>
          <a:xfrm>
            <a:off x="2394263" y="295275"/>
            <a:ext cx="0" cy="6267450"/>
          </a:xfrm>
          <a:prstGeom prst="line">
            <a:avLst/>
          </a:prstGeom>
          <a:ln w="6350">
            <a:solidFill>
              <a:schemeClr val="bg2">
                <a:lumMod val="9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D4C0878-8D53-F3DC-CAC1-64E20C58E45E}"/>
              </a:ext>
            </a:extLst>
          </p:cNvPr>
          <p:cNvSpPr/>
          <p:nvPr/>
        </p:nvSpPr>
        <p:spPr>
          <a:xfrm>
            <a:off x="233994" y="824830"/>
            <a:ext cx="365760" cy="36576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7B80BE6-8BB6-0D86-E2FF-104A520CBF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714" y="870550"/>
            <a:ext cx="274320" cy="27432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1774360-8F31-3307-4A59-33598199EA68}"/>
              </a:ext>
            </a:extLst>
          </p:cNvPr>
          <p:cNvSpPr txBox="1"/>
          <p:nvPr/>
        </p:nvSpPr>
        <p:spPr>
          <a:xfrm>
            <a:off x="721093" y="864656"/>
            <a:ext cx="15461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bg2">
                    <a:lumMod val="50000"/>
                  </a:schemeClr>
                </a:solidFill>
              </a:rPr>
              <a:t>Dashboard</a:t>
            </a:r>
            <a:endParaRPr lang="en-US" sz="14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77671016-8F00-D211-D794-757F645679FD}"/>
              </a:ext>
            </a:extLst>
          </p:cNvPr>
          <p:cNvSpPr/>
          <p:nvPr/>
        </p:nvSpPr>
        <p:spPr>
          <a:xfrm>
            <a:off x="233994" y="1441156"/>
            <a:ext cx="365760" cy="36576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9128B5A-F019-7BC6-79EF-3B12AD89A4FF}"/>
              </a:ext>
            </a:extLst>
          </p:cNvPr>
          <p:cNvSpPr txBox="1"/>
          <p:nvPr/>
        </p:nvSpPr>
        <p:spPr>
          <a:xfrm>
            <a:off x="721093" y="1484610"/>
            <a:ext cx="15461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bg2">
                    <a:lumMod val="50000"/>
                  </a:schemeClr>
                </a:solidFill>
              </a:rPr>
              <a:t>Tables</a:t>
            </a:r>
            <a:endParaRPr lang="en-US" sz="1400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248F5906-7E0F-F0E5-5CA6-6541756F7F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2574" y="1509736"/>
            <a:ext cx="228600" cy="228600"/>
          </a:xfrm>
          <a:prstGeom prst="rect">
            <a:avLst/>
          </a:prstGeom>
        </p:spPr>
      </p:pic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3EC6D713-82EA-874D-D171-E4F8BE40916F}"/>
              </a:ext>
            </a:extLst>
          </p:cNvPr>
          <p:cNvSpPr/>
          <p:nvPr/>
        </p:nvSpPr>
        <p:spPr>
          <a:xfrm>
            <a:off x="233994" y="2053794"/>
            <a:ext cx="365760" cy="36576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02296BD-CD75-33B2-5485-A9626B70C48F}"/>
              </a:ext>
            </a:extLst>
          </p:cNvPr>
          <p:cNvSpPr txBox="1"/>
          <p:nvPr/>
        </p:nvSpPr>
        <p:spPr>
          <a:xfrm>
            <a:off x="721093" y="2099333"/>
            <a:ext cx="15461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bg2">
                    <a:lumMod val="50000"/>
                  </a:schemeClr>
                </a:solidFill>
              </a:rPr>
              <a:t>Incomes</a:t>
            </a:r>
            <a:endParaRPr lang="en-US" sz="1400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4A094A5E-A530-4DEA-40C8-529FC4B780E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79714" y="2104010"/>
            <a:ext cx="274320" cy="274320"/>
          </a:xfrm>
          <a:prstGeom prst="rect">
            <a:avLst/>
          </a:prstGeom>
        </p:spPr>
      </p:pic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81BDAD14-ED2F-B926-FA58-0E68AABEDFE1}"/>
              </a:ext>
            </a:extLst>
          </p:cNvPr>
          <p:cNvSpPr/>
          <p:nvPr/>
        </p:nvSpPr>
        <p:spPr>
          <a:xfrm>
            <a:off x="233994" y="2674908"/>
            <a:ext cx="365760" cy="36576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0CCDA8B-39B3-CDD2-3313-3DDBFF25C9C6}"/>
              </a:ext>
            </a:extLst>
          </p:cNvPr>
          <p:cNvSpPr txBox="1"/>
          <p:nvPr/>
        </p:nvSpPr>
        <p:spPr>
          <a:xfrm>
            <a:off x="721093" y="2723124"/>
            <a:ext cx="15461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bg2">
                    <a:lumMod val="50000"/>
                  </a:schemeClr>
                </a:solidFill>
              </a:rPr>
              <a:t>Virtualization  </a:t>
            </a:r>
            <a:r>
              <a:rPr lang="en-US" altLang="zh-CN" sz="800" dirty="0">
                <a:solidFill>
                  <a:schemeClr val="bg2">
                    <a:lumMod val="50000"/>
                  </a:schemeClr>
                </a:solidFill>
                <a:sym typeface="Wingdings 3" panose="05040102010807070707" pitchFamily="18" charset="2"/>
              </a:rPr>
              <a:t></a:t>
            </a:r>
            <a:endParaRPr lang="en-US" sz="1600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0506B572-5BC2-EFB0-6C1B-E0D191E072F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9714" y="2720628"/>
            <a:ext cx="274320" cy="274320"/>
          </a:xfrm>
          <a:prstGeom prst="rect">
            <a:avLst/>
          </a:prstGeom>
        </p:spPr>
      </p:pic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326A60AE-2E89-CEE5-FB47-2FF1D19AC722}"/>
              </a:ext>
            </a:extLst>
          </p:cNvPr>
          <p:cNvSpPr/>
          <p:nvPr/>
        </p:nvSpPr>
        <p:spPr>
          <a:xfrm>
            <a:off x="233994" y="3297360"/>
            <a:ext cx="365760" cy="36576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8042A83-E2C9-0063-9CAE-0984CBCB2D80}"/>
              </a:ext>
            </a:extLst>
          </p:cNvPr>
          <p:cNvSpPr txBox="1"/>
          <p:nvPr/>
        </p:nvSpPr>
        <p:spPr>
          <a:xfrm>
            <a:off x="730417" y="3341740"/>
            <a:ext cx="15461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bg2">
                    <a:lumMod val="50000"/>
                  </a:schemeClr>
                </a:solidFill>
              </a:rPr>
              <a:t>Customer Profile</a:t>
            </a:r>
            <a:endParaRPr lang="en-US" sz="12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0D56B70F-3F27-A251-0815-C61F4F9E8DB9}"/>
              </a:ext>
            </a:extLst>
          </p:cNvPr>
          <p:cNvSpPr/>
          <p:nvPr/>
        </p:nvSpPr>
        <p:spPr>
          <a:xfrm>
            <a:off x="233994" y="4516692"/>
            <a:ext cx="365760" cy="36576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5FD8BFA-9001-BACA-E085-90824599CC08}"/>
              </a:ext>
            </a:extLst>
          </p:cNvPr>
          <p:cNvSpPr txBox="1"/>
          <p:nvPr/>
        </p:nvSpPr>
        <p:spPr>
          <a:xfrm>
            <a:off x="730417" y="4561072"/>
            <a:ext cx="15461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bg2">
                    <a:lumMod val="50000"/>
                  </a:schemeClr>
                </a:solidFill>
              </a:rPr>
              <a:t>User Segmentation</a:t>
            </a:r>
            <a:endParaRPr lang="en-US" sz="16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5F55B823-F3DC-2E09-BDFC-6FBE61636CB3}"/>
              </a:ext>
            </a:extLst>
          </p:cNvPr>
          <p:cNvSpPr/>
          <p:nvPr/>
        </p:nvSpPr>
        <p:spPr>
          <a:xfrm>
            <a:off x="233994" y="3907026"/>
            <a:ext cx="365760" cy="36576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4627EB5-9942-03D5-454C-6CA401541DB9}"/>
              </a:ext>
            </a:extLst>
          </p:cNvPr>
          <p:cNvSpPr txBox="1"/>
          <p:nvPr/>
        </p:nvSpPr>
        <p:spPr>
          <a:xfrm>
            <a:off x="721093" y="3951406"/>
            <a:ext cx="15461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bg2">
                    <a:lumMod val="50000"/>
                  </a:schemeClr>
                </a:solidFill>
              </a:rPr>
              <a:t>Gold Match</a:t>
            </a:r>
            <a:endParaRPr lang="en-US" sz="1600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0451D753-B4D2-B306-6874-F4463210223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9714" y="3951406"/>
            <a:ext cx="274320" cy="274320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F636E43C-BFA8-B1DA-8C5D-6F268F68546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9714" y="3344419"/>
            <a:ext cx="274320" cy="27432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C6C61AB2-D22F-9104-DECA-E794B1AD6A1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9714" y="4565830"/>
            <a:ext cx="274320" cy="274320"/>
          </a:xfrm>
          <a:prstGeom prst="rect">
            <a:avLst/>
          </a:prstGeom>
        </p:spPr>
      </p:pic>
      <p:sp>
        <p:nvSpPr>
          <p:cNvPr id="59" name="TextBox 58">
            <a:extLst>
              <a:ext uri="{FF2B5EF4-FFF2-40B4-BE49-F238E27FC236}">
                <a16:creationId xmlns:a16="http://schemas.microsoft.com/office/drawing/2014/main" id="{18BF4E00-F270-3123-9E77-B570DF3BC4A6}"/>
              </a:ext>
            </a:extLst>
          </p:cNvPr>
          <p:cNvSpPr txBox="1"/>
          <p:nvPr/>
        </p:nvSpPr>
        <p:spPr>
          <a:xfrm>
            <a:off x="730417" y="5168059"/>
            <a:ext cx="15461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bg2">
                    <a:lumMod val="50000"/>
                  </a:schemeClr>
                </a:solidFill>
              </a:rPr>
              <a:t>Real-time Sales</a:t>
            </a:r>
            <a:endParaRPr lang="en-US" sz="16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7F4031DC-D78C-3036-E097-BFD5B7B60918}"/>
              </a:ext>
            </a:extLst>
          </p:cNvPr>
          <p:cNvSpPr/>
          <p:nvPr/>
        </p:nvSpPr>
        <p:spPr>
          <a:xfrm>
            <a:off x="233994" y="5733988"/>
            <a:ext cx="365760" cy="36576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25BF110-74F0-79A8-9882-0FE4DE73ACBF}"/>
              </a:ext>
            </a:extLst>
          </p:cNvPr>
          <p:cNvSpPr txBox="1"/>
          <p:nvPr/>
        </p:nvSpPr>
        <p:spPr>
          <a:xfrm>
            <a:off x="721093" y="5778368"/>
            <a:ext cx="15461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bg2">
                    <a:lumMod val="50000"/>
                  </a:schemeClr>
                </a:solidFill>
              </a:rPr>
              <a:t>Store</a:t>
            </a:r>
            <a:endParaRPr lang="en-US" sz="1600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67" name="Picture 66">
            <a:extLst>
              <a:ext uri="{FF2B5EF4-FFF2-40B4-BE49-F238E27FC236}">
                <a16:creationId xmlns:a16="http://schemas.microsoft.com/office/drawing/2014/main" id="{610ED4C1-709E-E747-FEB3-7AF7580DABC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79714" y="5778368"/>
            <a:ext cx="274320" cy="274320"/>
          </a:xfrm>
          <a:prstGeom prst="rect">
            <a:avLst/>
          </a:prstGeom>
        </p:spPr>
      </p:pic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AAFE4741-DA4C-0E71-8A57-178212DCC8D3}"/>
              </a:ext>
            </a:extLst>
          </p:cNvPr>
          <p:cNvSpPr/>
          <p:nvPr/>
        </p:nvSpPr>
        <p:spPr>
          <a:xfrm>
            <a:off x="233994" y="6356659"/>
            <a:ext cx="365760" cy="36576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296BA4F-9456-F5DB-2C37-E7C67CD3C468}"/>
              </a:ext>
            </a:extLst>
          </p:cNvPr>
          <p:cNvSpPr txBox="1"/>
          <p:nvPr/>
        </p:nvSpPr>
        <p:spPr>
          <a:xfrm>
            <a:off x="721093" y="6401039"/>
            <a:ext cx="15461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50000"/>
                  </a:schemeClr>
                </a:solidFill>
              </a:rPr>
              <a:t>Logout</a:t>
            </a:r>
            <a:endParaRPr lang="en-US" sz="1600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78" name="Picture 77">
            <a:extLst>
              <a:ext uri="{FF2B5EF4-FFF2-40B4-BE49-F238E27FC236}">
                <a16:creationId xmlns:a16="http://schemas.microsoft.com/office/drawing/2014/main" id="{38FDE838-2F45-47F6-EBEB-E08BB5B5B8A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79714" y="6401039"/>
            <a:ext cx="274320" cy="27432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A33CEA1B-8EA7-D5FC-5F25-E8E7F7D2B89E}"/>
              </a:ext>
            </a:extLst>
          </p:cNvPr>
          <p:cNvSpPr txBox="1"/>
          <p:nvPr/>
        </p:nvSpPr>
        <p:spPr>
          <a:xfrm>
            <a:off x="2583683" y="163378"/>
            <a:ext cx="3337054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00" dirty="0">
                <a:solidFill>
                  <a:schemeClr val="bg2">
                    <a:lumMod val="50000"/>
                  </a:schemeClr>
                </a:solidFill>
              </a:rPr>
              <a:t>Pages  </a:t>
            </a:r>
            <a:r>
              <a:rPr lang="en-US" altLang="zh-CN" sz="1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/  Virtualization  /  Real-time Sales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54EAFCD-8F5A-D1EB-90B2-E66E301A2C63}"/>
              </a:ext>
            </a:extLst>
          </p:cNvPr>
          <p:cNvSpPr txBox="1"/>
          <p:nvPr/>
        </p:nvSpPr>
        <p:spPr>
          <a:xfrm>
            <a:off x="2583683" y="410046"/>
            <a:ext cx="16903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Real-time Sales</a:t>
            </a:r>
            <a:endParaRPr lang="en-US" sz="1400" b="1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8443DEA4-1144-01E2-0DCB-888CBC00F4A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801350" y="280291"/>
            <a:ext cx="228600" cy="22860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E44A43CC-0F9C-CF55-D4E2-D5FD02E23F8D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144250" y="282067"/>
            <a:ext cx="228600" cy="228600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DE9CE401-2F36-75F5-FE00-7BA40C94C548}"/>
              </a:ext>
            </a:extLst>
          </p:cNvPr>
          <p:cNvSpPr txBox="1"/>
          <p:nvPr/>
        </p:nvSpPr>
        <p:spPr>
          <a:xfrm>
            <a:off x="11372850" y="233297"/>
            <a:ext cx="7573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bg2">
                    <a:lumMod val="50000"/>
                  </a:schemeClr>
                </a:solidFill>
              </a:rPr>
              <a:t>Admin</a:t>
            </a:r>
            <a:endParaRPr lang="en-US" sz="14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DE7CF8A-494C-FF9A-3596-2C5F32BFE6DE}"/>
              </a:ext>
            </a:extLst>
          </p:cNvPr>
          <p:cNvSpPr txBox="1"/>
          <p:nvPr/>
        </p:nvSpPr>
        <p:spPr>
          <a:xfrm>
            <a:off x="2580831" y="2256563"/>
            <a:ext cx="8700579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300" dirty="0">
                <a:solidFill>
                  <a:srgbClr val="C00000"/>
                </a:solidFill>
              </a:rPr>
              <a:t>“”“</a:t>
            </a:r>
            <a:endParaRPr lang="en-US" altLang="zh-CN" sz="1300" dirty="0">
              <a:solidFill>
                <a:srgbClr val="C00000"/>
              </a:solidFill>
            </a:endParaRPr>
          </a:p>
          <a:p>
            <a:r>
              <a:rPr lang="en-US" altLang="zh-CN" sz="1300" dirty="0">
                <a:solidFill>
                  <a:srgbClr val="C00000"/>
                </a:solidFill>
              </a:rPr>
              <a:t>A. </a:t>
            </a:r>
            <a:r>
              <a:rPr lang="zh-CN" altLang="en-US" sz="1300" dirty="0">
                <a:solidFill>
                  <a:srgbClr val="C00000"/>
                </a:solidFill>
              </a:rPr>
              <a:t>实时销售仪表盘：今日销售额（对比昨日</a:t>
            </a:r>
            <a:r>
              <a:rPr lang="en-US" altLang="zh-CN" sz="1300" dirty="0">
                <a:solidFill>
                  <a:srgbClr val="C00000"/>
                </a:solidFill>
              </a:rPr>
              <a:t>/</a:t>
            </a:r>
            <a:r>
              <a:rPr lang="zh-CN" altLang="en-US" sz="1300" dirty="0">
                <a:solidFill>
                  <a:srgbClr val="C00000"/>
                </a:solidFill>
              </a:rPr>
              <a:t>上周同期）；今日利润（毛利润</a:t>
            </a:r>
            <a:r>
              <a:rPr lang="en-US" altLang="zh-CN" sz="1300" dirty="0">
                <a:solidFill>
                  <a:srgbClr val="C00000"/>
                </a:solidFill>
              </a:rPr>
              <a:t>/</a:t>
            </a:r>
            <a:r>
              <a:rPr lang="zh-CN" altLang="en-US" sz="1300" dirty="0">
                <a:solidFill>
                  <a:srgbClr val="C00000"/>
                </a:solidFill>
              </a:rPr>
              <a:t>净利润）；平均客单价（趋势变化）</a:t>
            </a:r>
            <a:endParaRPr lang="en-US" altLang="zh-CN" sz="1300" dirty="0">
              <a:solidFill>
                <a:srgbClr val="C00000"/>
              </a:solidFill>
            </a:endParaRPr>
          </a:p>
          <a:p>
            <a:r>
              <a:rPr lang="en-US" altLang="zh-CN" sz="1300" dirty="0">
                <a:solidFill>
                  <a:srgbClr val="C00000"/>
                </a:solidFill>
              </a:rPr>
              <a:t>B.</a:t>
            </a:r>
            <a:r>
              <a:rPr lang="zh-CN" altLang="en-US" sz="1300" dirty="0">
                <a:solidFill>
                  <a:srgbClr val="C00000"/>
                </a:solidFill>
              </a:rPr>
              <a:t> 利润收入趋势图</a:t>
            </a:r>
            <a:endParaRPr lang="en-US" altLang="zh-CN" sz="1300" dirty="0">
              <a:solidFill>
                <a:srgbClr val="C00000"/>
              </a:solidFill>
            </a:endParaRPr>
          </a:p>
          <a:p>
            <a:r>
              <a:rPr lang="en-US" altLang="zh-CN" sz="1300" dirty="0">
                <a:solidFill>
                  <a:srgbClr val="C00000"/>
                </a:solidFill>
              </a:rPr>
              <a:t>C. </a:t>
            </a:r>
            <a:r>
              <a:rPr lang="zh-CN" altLang="en-US" sz="1300" dirty="0">
                <a:solidFill>
                  <a:srgbClr val="C00000"/>
                </a:solidFill>
              </a:rPr>
              <a:t>订单量监控图：销售趋势实时图（按小时</a:t>
            </a:r>
            <a:r>
              <a:rPr lang="en-US" altLang="zh-CN" sz="1300" dirty="0">
                <a:solidFill>
                  <a:srgbClr val="C00000"/>
                </a:solidFill>
              </a:rPr>
              <a:t>/</a:t>
            </a:r>
            <a:r>
              <a:rPr lang="zh-CN" altLang="en-US" sz="1300" dirty="0">
                <a:solidFill>
                  <a:srgbClr val="C00000"/>
                </a:solidFill>
              </a:rPr>
              <a:t>分钟）；热门商品实时榜（销量</a:t>
            </a:r>
            <a:r>
              <a:rPr lang="en-US" altLang="zh-CN" sz="1300" dirty="0">
                <a:solidFill>
                  <a:srgbClr val="C00000"/>
                </a:solidFill>
              </a:rPr>
              <a:t>TOP10</a:t>
            </a:r>
            <a:r>
              <a:rPr lang="zh-CN" altLang="en-US" sz="1300" dirty="0">
                <a:solidFill>
                  <a:srgbClr val="C00000"/>
                </a:solidFill>
              </a:rPr>
              <a:t>）；库存预警（低库存商品提醒）</a:t>
            </a:r>
            <a:endParaRPr lang="en-US" altLang="zh-CN" sz="1300" dirty="0">
              <a:solidFill>
                <a:srgbClr val="C00000"/>
              </a:solidFill>
            </a:endParaRPr>
          </a:p>
          <a:p>
            <a:r>
              <a:rPr lang="en-US" altLang="zh-CN" sz="1300" dirty="0">
                <a:solidFill>
                  <a:srgbClr val="C00000"/>
                </a:solidFill>
              </a:rPr>
              <a:t>D. </a:t>
            </a:r>
            <a:r>
              <a:rPr lang="zh-CN" altLang="en-US" sz="1300" dirty="0">
                <a:solidFill>
                  <a:srgbClr val="C00000"/>
                </a:solidFill>
              </a:rPr>
              <a:t>顾客增长统计卡：今日顾客总数（新客</a:t>
            </a:r>
            <a:r>
              <a:rPr lang="en-US" altLang="zh-CN" sz="1300" dirty="0">
                <a:solidFill>
                  <a:srgbClr val="C00000"/>
                </a:solidFill>
              </a:rPr>
              <a:t>/</a:t>
            </a:r>
            <a:r>
              <a:rPr lang="zh-CN" altLang="en-US" sz="1300" dirty="0">
                <a:solidFill>
                  <a:srgbClr val="C00000"/>
                </a:solidFill>
              </a:rPr>
              <a:t>老客比例）；新增顾客数（来源渠道分布）；顾客留存率（老客复购比例）</a:t>
            </a:r>
            <a:endParaRPr lang="en-US" altLang="zh-CN" sz="1300" dirty="0">
              <a:solidFill>
                <a:srgbClr val="C00000"/>
              </a:solidFill>
            </a:endParaRPr>
          </a:p>
          <a:p>
            <a:r>
              <a:rPr lang="zh-CN" altLang="en-US" sz="1300" dirty="0">
                <a:solidFill>
                  <a:srgbClr val="C00000"/>
                </a:solidFill>
              </a:rPr>
              <a:t>”“”</a:t>
            </a:r>
            <a:endParaRPr lang="en-US" altLang="zh-CN" sz="1300" dirty="0">
              <a:solidFill>
                <a:srgbClr val="C00000"/>
              </a:solidFill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21925C8-2971-DDF1-D931-0D81EDDB7476}"/>
              </a:ext>
            </a:extLst>
          </p:cNvPr>
          <p:cNvSpPr/>
          <p:nvPr/>
        </p:nvSpPr>
        <p:spPr>
          <a:xfrm>
            <a:off x="233993" y="5123679"/>
            <a:ext cx="365760" cy="365760"/>
          </a:xfrm>
          <a:prstGeom prst="roundRect">
            <a:avLst/>
          </a:prstGeom>
          <a:gradFill flip="none" rotWithShape="1">
            <a:gsLst>
              <a:gs pos="58000">
                <a:srgbClr val="D735B0">
                  <a:lumMod val="95000"/>
                </a:srgbClr>
              </a:gs>
              <a:gs pos="21000">
                <a:srgbClr val="8638C7"/>
              </a:gs>
              <a:gs pos="87000">
                <a:srgbClr val="FE237E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2" name="Picture 61">
            <a:extLst>
              <a:ext uri="{FF2B5EF4-FFF2-40B4-BE49-F238E27FC236}">
                <a16:creationId xmlns:a16="http://schemas.microsoft.com/office/drawing/2014/main" id="{32457526-206D-D37D-37F4-D4DEAFE6040F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75824" y="5164919"/>
            <a:ext cx="274320" cy="274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38830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Rectangle: Rounded Corners 82">
            <a:extLst>
              <a:ext uri="{FF2B5EF4-FFF2-40B4-BE49-F238E27FC236}">
                <a16:creationId xmlns:a16="http://schemas.microsoft.com/office/drawing/2014/main" id="{F2CE371D-F94C-DB9B-A735-8E1E58B442BD}"/>
              </a:ext>
            </a:extLst>
          </p:cNvPr>
          <p:cNvSpPr/>
          <p:nvPr/>
        </p:nvSpPr>
        <p:spPr>
          <a:xfrm>
            <a:off x="83579" y="5638938"/>
            <a:ext cx="2236711" cy="581483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 descr="Close up of water droplets on flowers&#10;&#10;AI-generated content may be incorrect.">
            <a:extLst>
              <a:ext uri="{FF2B5EF4-FFF2-40B4-BE49-F238E27FC236}">
                <a16:creationId xmlns:a16="http://schemas.microsoft.com/office/drawing/2014/main" id="{D5683DA7-8181-8F37-A523-2A3C158BC2A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310" b="25030"/>
          <a:stretch/>
        </p:blipFill>
        <p:spPr>
          <a:xfrm>
            <a:off x="2580830" y="947736"/>
            <a:ext cx="9430887" cy="2230064"/>
          </a:xfrm>
          <a:prstGeom prst="roundRect">
            <a:avLst>
              <a:gd name="adj" fmla="val 11541"/>
            </a:avLst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A6463A3D-CAD1-EBD5-9C33-1AC30766FAD5}"/>
              </a:ext>
            </a:extLst>
          </p:cNvPr>
          <p:cNvSpPr/>
          <p:nvPr/>
        </p:nvSpPr>
        <p:spPr>
          <a:xfrm>
            <a:off x="0" y="3177800"/>
            <a:ext cx="2394263" cy="2450592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A45370-BE93-FA91-5DF9-83EF63976B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854" y="227166"/>
            <a:ext cx="320040" cy="32004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E802EE9-1AF3-A4B9-3FB2-FA7B1E2020E4}"/>
              </a:ext>
            </a:extLst>
          </p:cNvPr>
          <p:cNvSpPr txBox="1"/>
          <p:nvPr/>
        </p:nvSpPr>
        <p:spPr>
          <a:xfrm>
            <a:off x="726807" y="227166"/>
            <a:ext cx="15461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chemeClr val="bg2">
                    <a:lumMod val="50000"/>
                  </a:schemeClr>
                </a:solidFill>
              </a:rPr>
              <a:t>UI Dashboard</a:t>
            </a:r>
            <a:endParaRPr lang="en-US" sz="1600" b="1" dirty="0">
              <a:solidFill>
                <a:schemeClr val="bg2">
                  <a:lumMod val="50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65E8F29-40BE-39AE-93A0-DB8D3E8FD81E}"/>
              </a:ext>
            </a:extLst>
          </p:cNvPr>
          <p:cNvCxnSpPr>
            <a:cxnSpLocks/>
          </p:cNvCxnSpPr>
          <p:nvPr/>
        </p:nvCxnSpPr>
        <p:spPr>
          <a:xfrm>
            <a:off x="2394263" y="295275"/>
            <a:ext cx="0" cy="6267450"/>
          </a:xfrm>
          <a:prstGeom prst="line">
            <a:avLst/>
          </a:prstGeom>
          <a:ln w="6350">
            <a:solidFill>
              <a:schemeClr val="bg2">
                <a:lumMod val="9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D4C0878-8D53-F3DC-CAC1-64E20C58E45E}"/>
              </a:ext>
            </a:extLst>
          </p:cNvPr>
          <p:cNvSpPr/>
          <p:nvPr/>
        </p:nvSpPr>
        <p:spPr>
          <a:xfrm>
            <a:off x="233994" y="824830"/>
            <a:ext cx="365760" cy="36576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7B80BE6-8BB6-0D86-E2FF-104A520CBF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714" y="870550"/>
            <a:ext cx="274320" cy="27432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1774360-8F31-3307-4A59-33598199EA68}"/>
              </a:ext>
            </a:extLst>
          </p:cNvPr>
          <p:cNvSpPr txBox="1"/>
          <p:nvPr/>
        </p:nvSpPr>
        <p:spPr>
          <a:xfrm>
            <a:off x="721093" y="864656"/>
            <a:ext cx="15461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bg2">
                    <a:lumMod val="50000"/>
                  </a:schemeClr>
                </a:solidFill>
              </a:rPr>
              <a:t>Dashboard</a:t>
            </a:r>
            <a:endParaRPr lang="en-US" sz="14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77671016-8F00-D211-D794-757F645679FD}"/>
              </a:ext>
            </a:extLst>
          </p:cNvPr>
          <p:cNvSpPr/>
          <p:nvPr/>
        </p:nvSpPr>
        <p:spPr>
          <a:xfrm>
            <a:off x="233994" y="1441156"/>
            <a:ext cx="365760" cy="36576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9128B5A-F019-7BC6-79EF-3B12AD89A4FF}"/>
              </a:ext>
            </a:extLst>
          </p:cNvPr>
          <p:cNvSpPr txBox="1"/>
          <p:nvPr/>
        </p:nvSpPr>
        <p:spPr>
          <a:xfrm>
            <a:off x="721093" y="1484610"/>
            <a:ext cx="15461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bg2">
                    <a:lumMod val="50000"/>
                  </a:schemeClr>
                </a:solidFill>
              </a:rPr>
              <a:t>Tables</a:t>
            </a:r>
            <a:endParaRPr lang="en-US" sz="1400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248F5906-7E0F-F0E5-5CA6-6541756F7F3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2574" y="1509736"/>
            <a:ext cx="228600" cy="228600"/>
          </a:xfrm>
          <a:prstGeom prst="rect">
            <a:avLst/>
          </a:prstGeom>
        </p:spPr>
      </p:pic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3EC6D713-82EA-874D-D171-E4F8BE40916F}"/>
              </a:ext>
            </a:extLst>
          </p:cNvPr>
          <p:cNvSpPr/>
          <p:nvPr/>
        </p:nvSpPr>
        <p:spPr>
          <a:xfrm>
            <a:off x="233994" y="2053794"/>
            <a:ext cx="365760" cy="36576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02296BD-CD75-33B2-5485-A9626B70C48F}"/>
              </a:ext>
            </a:extLst>
          </p:cNvPr>
          <p:cNvSpPr txBox="1"/>
          <p:nvPr/>
        </p:nvSpPr>
        <p:spPr>
          <a:xfrm>
            <a:off x="721093" y="2099333"/>
            <a:ext cx="15461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bg2">
                    <a:lumMod val="50000"/>
                  </a:schemeClr>
                </a:solidFill>
              </a:rPr>
              <a:t>Incomes</a:t>
            </a:r>
            <a:endParaRPr lang="en-US" sz="1400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4A094A5E-A530-4DEA-40C8-529FC4B780E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79714" y="2104010"/>
            <a:ext cx="274320" cy="274320"/>
          </a:xfrm>
          <a:prstGeom prst="rect">
            <a:avLst/>
          </a:prstGeom>
        </p:spPr>
      </p:pic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81BDAD14-ED2F-B926-FA58-0E68AABEDFE1}"/>
              </a:ext>
            </a:extLst>
          </p:cNvPr>
          <p:cNvSpPr/>
          <p:nvPr/>
        </p:nvSpPr>
        <p:spPr>
          <a:xfrm>
            <a:off x="233994" y="2674908"/>
            <a:ext cx="365760" cy="36576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0CCDA8B-39B3-CDD2-3313-3DDBFF25C9C6}"/>
              </a:ext>
            </a:extLst>
          </p:cNvPr>
          <p:cNvSpPr txBox="1"/>
          <p:nvPr/>
        </p:nvSpPr>
        <p:spPr>
          <a:xfrm>
            <a:off x="721093" y="2723124"/>
            <a:ext cx="15461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bg2">
                    <a:lumMod val="50000"/>
                  </a:schemeClr>
                </a:solidFill>
              </a:rPr>
              <a:t>Virtualization  </a:t>
            </a:r>
            <a:r>
              <a:rPr lang="en-US" altLang="zh-CN" sz="800" dirty="0">
                <a:solidFill>
                  <a:schemeClr val="bg2">
                    <a:lumMod val="50000"/>
                  </a:schemeClr>
                </a:solidFill>
                <a:sym typeface="Wingdings 3" panose="05040102010807070707" pitchFamily="18" charset="2"/>
              </a:rPr>
              <a:t></a:t>
            </a:r>
            <a:endParaRPr lang="en-US" sz="1600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0506B572-5BC2-EFB0-6C1B-E0D191E072F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9714" y="2720628"/>
            <a:ext cx="274320" cy="274320"/>
          </a:xfrm>
          <a:prstGeom prst="rect">
            <a:avLst/>
          </a:prstGeom>
        </p:spPr>
      </p:pic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326A60AE-2E89-CEE5-FB47-2FF1D19AC722}"/>
              </a:ext>
            </a:extLst>
          </p:cNvPr>
          <p:cNvSpPr/>
          <p:nvPr/>
        </p:nvSpPr>
        <p:spPr>
          <a:xfrm>
            <a:off x="233994" y="3297360"/>
            <a:ext cx="365760" cy="36576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8042A83-E2C9-0063-9CAE-0984CBCB2D80}"/>
              </a:ext>
            </a:extLst>
          </p:cNvPr>
          <p:cNvSpPr txBox="1"/>
          <p:nvPr/>
        </p:nvSpPr>
        <p:spPr>
          <a:xfrm>
            <a:off x="730417" y="3341740"/>
            <a:ext cx="15461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bg2">
                    <a:lumMod val="50000"/>
                  </a:schemeClr>
                </a:solidFill>
              </a:rPr>
              <a:t>Customer Profile</a:t>
            </a:r>
            <a:endParaRPr lang="en-US" sz="12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0D56B70F-3F27-A251-0815-C61F4F9E8DB9}"/>
              </a:ext>
            </a:extLst>
          </p:cNvPr>
          <p:cNvSpPr/>
          <p:nvPr/>
        </p:nvSpPr>
        <p:spPr>
          <a:xfrm>
            <a:off x="233994" y="4516692"/>
            <a:ext cx="365760" cy="36576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5FD8BFA-9001-BACA-E085-90824599CC08}"/>
              </a:ext>
            </a:extLst>
          </p:cNvPr>
          <p:cNvSpPr txBox="1"/>
          <p:nvPr/>
        </p:nvSpPr>
        <p:spPr>
          <a:xfrm>
            <a:off x="730417" y="4561072"/>
            <a:ext cx="15461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bg2">
                    <a:lumMod val="50000"/>
                  </a:schemeClr>
                </a:solidFill>
              </a:rPr>
              <a:t>User Segmentation</a:t>
            </a:r>
            <a:endParaRPr lang="en-US" sz="16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5F55B823-F3DC-2E09-BDFC-6FBE61636CB3}"/>
              </a:ext>
            </a:extLst>
          </p:cNvPr>
          <p:cNvSpPr/>
          <p:nvPr/>
        </p:nvSpPr>
        <p:spPr>
          <a:xfrm>
            <a:off x="233994" y="3907026"/>
            <a:ext cx="365760" cy="36576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4627EB5-9942-03D5-454C-6CA401541DB9}"/>
              </a:ext>
            </a:extLst>
          </p:cNvPr>
          <p:cNvSpPr txBox="1"/>
          <p:nvPr/>
        </p:nvSpPr>
        <p:spPr>
          <a:xfrm>
            <a:off x="721093" y="3951406"/>
            <a:ext cx="15461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bg2">
                    <a:lumMod val="50000"/>
                  </a:schemeClr>
                </a:solidFill>
              </a:rPr>
              <a:t>Gold Match</a:t>
            </a:r>
            <a:endParaRPr lang="en-US" sz="1600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0451D753-B4D2-B306-6874-F4463210223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9714" y="3951406"/>
            <a:ext cx="274320" cy="274320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F636E43C-BFA8-B1DA-8C5D-6F268F68546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9714" y="3344419"/>
            <a:ext cx="274320" cy="27432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C6C61AB2-D22F-9104-DECA-E794B1AD6A1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79714" y="4565830"/>
            <a:ext cx="274320" cy="274320"/>
          </a:xfrm>
          <a:prstGeom prst="rect">
            <a:avLst/>
          </a:prstGeom>
        </p:spPr>
      </p:pic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DD348B09-C3BE-18DE-DC70-529960A121A1}"/>
              </a:ext>
            </a:extLst>
          </p:cNvPr>
          <p:cNvSpPr/>
          <p:nvPr/>
        </p:nvSpPr>
        <p:spPr>
          <a:xfrm>
            <a:off x="233994" y="5123679"/>
            <a:ext cx="365760" cy="36576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8BF4E00-F270-3123-9E77-B570DF3BC4A6}"/>
              </a:ext>
            </a:extLst>
          </p:cNvPr>
          <p:cNvSpPr txBox="1"/>
          <p:nvPr/>
        </p:nvSpPr>
        <p:spPr>
          <a:xfrm>
            <a:off x="730417" y="5168059"/>
            <a:ext cx="15461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bg2">
                    <a:lumMod val="50000"/>
                  </a:schemeClr>
                </a:solidFill>
              </a:rPr>
              <a:t>Real-time Sales</a:t>
            </a:r>
            <a:endParaRPr lang="en-US" sz="1600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62" name="Picture 61">
            <a:extLst>
              <a:ext uri="{FF2B5EF4-FFF2-40B4-BE49-F238E27FC236}">
                <a16:creationId xmlns:a16="http://schemas.microsoft.com/office/drawing/2014/main" id="{32457526-206D-D37D-37F4-D4DEAFE6040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79714" y="5170738"/>
            <a:ext cx="274320" cy="274320"/>
          </a:xfrm>
          <a:prstGeom prst="rect">
            <a:avLst/>
          </a:prstGeom>
        </p:spPr>
      </p:pic>
      <p:sp>
        <p:nvSpPr>
          <p:cNvPr id="64" name="TextBox 63">
            <a:extLst>
              <a:ext uri="{FF2B5EF4-FFF2-40B4-BE49-F238E27FC236}">
                <a16:creationId xmlns:a16="http://schemas.microsoft.com/office/drawing/2014/main" id="{B25BF110-74F0-79A8-9882-0FE4DE73ACBF}"/>
              </a:ext>
            </a:extLst>
          </p:cNvPr>
          <p:cNvSpPr txBox="1"/>
          <p:nvPr/>
        </p:nvSpPr>
        <p:spPr>
          <a:xfrm>
            <a:off x="721093" y="5778368"/>
            <a:ext cx="15461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bg2">
                    <a:lumMod val="50000"/>
                  </a:schemeClr>
                </a:solidFill>
              </a:rPr>
              <a:t>Store</a:t>
            </a:r>
            <a:endParaRPr lang="en-US" sz="16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AAFE4741-DA4C-0E71-8A57-178212DCC8D3}"/>
              </a:ext>
            </a:extLst>
          </p:cNvPr>
          <p:cNvSpPr/>
          <p:nvPr/>
        </p:nvSpPr>
        <p:spPr>
          <a:xfrm>
            <a:off x="233994" y="6356659"/>
            <a:ext cx="365760" cy="36576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296BA4F-9456-F5DB-2C37-E7C67CD3C468}"/>
              </a:ext>
            </a:extLst>
          </p:cNvPr>
          <p:cNvSpPr txBox="1"/>
          <p:nvPr/>
        </p:nvSpPr>
        <p:spPr>
          <a:xfrm>
            <a:off x="721093" y="6401039"/>
            <a:ext cx="15461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50000"/>
                  </a:schemeClr>
                </a:solidFill>
              </a:rPr>
              <a:t>Logout</a:t>
            </a:r>
            <a:endParaRPr lang="en-US" sz="1600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78" name="Picture 77">
            <a:extLst>
              <a:ext uri="{FF2B5EF4-FFF2-40B4-BE49-F238E27FC236}">
                <a16:creationId xmlns:a16="http://schemas.microsoft.com/office/drawing/2014/main" id="{38FDE838-2F45-47F6-EBEB-E08BB5B5B8A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79714" y="6401039"/>
            <a:ext cx="274320" cy="27432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A33CEA1B-8EA7-D5FC-5F25-E8E7F7D2B89E}"/>
              </a:ext>
            </a:extLst>
          </p:cNvPr>
          <p:cNvSpPr txBox="1"/>
          <p:nvPr/>
        </p:nvSpPr>
        <p:spPr>
          <a:xfrm>
            <a:off x="2583683" y="163378"/>
            <a:ext cx="1923485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00" dirty="0">
                <a:solidFill>
                  <a:schemeClr val="bg2">
                    <a:lumMod val="50000"/>
                  </a:schemeClr>
                </a:solidFill>
              </a:rPr>
              <a:t>Pages  </a:t>
            </a:r>
            <a:r>
              <a:rPr lang="en-US" altLang="zh-CN" sz="1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/  Store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54EAFCD-8F5A-D1EB-90B2-E66E301A2C63}"/>
              </a:ext>
            </a:extLst>
          </p:cNvPr>
          <p:cNvSpPr txBox="1"/>
          <p:nvPr/>
        </p:nvSpPr>
        <p:spPr>
          <a:xfrm>
            <a:off x="2583683" y="410046"/>
            <a:ext cx="12404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Store</a:t>
            </a:r>
            <a:endParaRPr lang="en-US" sz="1400" b="1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8443DEA4-1144-01E2-0DCB-888CBC00F4AA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801350" y="280291"/>
            <a:ext cx="228600" cy="22860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E44A43CC-0F9C-CF55-D4E2-D5FD02E23F8D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144250" y="282067"/>
            <a:ext cx="228600" cy="228600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DE9CE401-2F36-75F5-FE00-7BA40C94C548}"/>
              </a:ext>
            </a:extLst>
          </p:cNvPr>
          <p:cNvSpPr txBox="1"/>
          <p:nvPr/>
        </p:nvSpPr>
        <p:spPr>
          <a:xfrm>
            <a:off x="11372850" y="233297"/>
            <a:ext cx="7573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bg2">
                    <a:lumMod val="50000"/>
                  </a:schemeClr>
                </a:solidFill>
              </a:rPr>
              <a:t>Admin</a:t>
            </a:r>
            <a:endParaRPr lang="en-US" sz="14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50EEC24-1955-F680-D0BE-1833C75D7A49}"/>
              </a:ext>
            </a:extLst>
          </p:cNvPr>
          <p:cNvSpPr/>
          <p:nvPr/>
        </p:nvSpPr>
        <p:spPr>
          <a:xfrm>
            <a:off x="2967989" y="2596567"/>
            <a:ext cx="8656568" cy="811146"/>
          </a:xfrm>
          <a:prstGeom prst="roundRect">
            <a:avLst>
              <a:gd name="adj" fmla="val 14983"/>
            </a:avLst>
          </a:prstGeom>
          <a:solidFill>
            <a:srgbClr val="F4E6CC"/>
          </a:solidFill>
          <a:ln>
            <a:noFill/>
          </a:ln>
          <a:effectLst>
            <a:outerShdw blurRad="215900" dist="203200" dir="2760000" sx="95000" sy="95000" algn="tl" rotWithShape="0">
              <a:schemeClr val="bg2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BC321DBD-040F-262F-9B13-764DADBB1C10}"/>
              </a:ext>
            </a:extLst>
          </p:cNvPr>
          <p:cNvSpPr/>
          <p:nvPr/>
        </p:nvSpPr>
        <p:spPr>
          <a:xfrm>
            <a:off x="3307203" y="2722486"/>
            <a:ext cx="548640" cy="54864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 descr="A blue and black drink cup with a straw&#10;&#10;AI-generated content may be incorrect.">
            <a:extLst>
              <a:ext uri="{FF2B5EF4-FFF2-40B4-BE49-F238E27FC236}">
                <a16:creationId xmlns:a16="http://schemas.microsoft.com/office/drawing/2014/main" id="{16F6EA1F-0C93-75A8-F3F2-90F96CAE2EB1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95" t="2695" r="2695" b="2695"/>
          <a:stretch/>
        </p:blipFill>
        <p:spPr>
          <a:xfrm>
            <a:off x="3352923" y="2766348"/>
            <a:ext cx="457200" cy="457200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BDEC8016-D060-22C1-C57C-12C1387D555D}"/>
              </a:ext>
            </a:extLst>
          </p:cNvPr>
          <p:cNvSpPr txBox="1"/>
          <p:nvPr/>
        </p:nvSpPr>
        <p:spPr>
          <a:xfrm>
            <a:off x="3996689" y="2724484"/>
            <a:ext cx="12404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Tea Stories</a:t>
            </a:r>
            <a:endParaRPr lang="en-US" sz="1400" b="1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956931F-8E1C-B470-808C-74364EEADAB8}"/>
              </a:ext>
            </a:extLst>
          </p:cNvPr>
          <p:cNvSpPr txBox="1"/>
          <p:nvPr/>
        </p:nvSpPr>
        <p:spPr>
          <a:xfrm>
            <a:off x="3996689" y="2988243"/>
            <a:ext cx="19366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Beverage Business</a:t>
            </a:r>
            <a:endParaRPr lang="en-US" sz="1400" dirty="0"/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EBD3EEDC-A99B-6F9D-206A-19BFEDA1C067}"/>
              </a:ext>
            </a:extLst>
          </p:cNvPr>
          <p:cNvSpPr/>
          <p:nvPr/>
        </p:nvSpPr>
        <p:spPr>
          <a:xfrm>
            <a:off x="2580831" y="3662802"/>
            <a:ext cx="3031300" cy="3012557"/>
          </a:xfrm>
          <a:prstGeom prst="roundRect">
            <a:avLst>
              <a:gd name="adj" fmla="val 3714"/>
            </a:avLst>
          </a:prstGeom>
          <a:solidFill>
            <a:schemeClr val="bg1"/>
          </a:solidFill>
          <a:ln>
            <a:noFill/>
          </a:ln>
          <a:effectLst>
            <a:outerShdw blurRad="215900" dist="203200" dir="2760000" sx="95000" sy="95000" algn="tl" rotWithShape="0">
              <a:schemeClr val="bg2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7CE0332-A87E-3431-97FE-7630CCFD4DEF}"/>
              </a:ext>
            </a:extLst>
          </p:cNvPr>
          <p:cNvSpPr txBox="1"/>
          <p:nvPr/>
        </p:nvSpPr>
        <p:spPr>
          <a:xfrm>
            <a:off x="2662761" y="3756704"/>
            <a:ext cx="1923485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/>
              <a:t>INFO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44FF151D-28E2-74DF-ACA2-7B46FCD9F256}"/>
              </a:ext>
            </a:extLst>
          </p:cNvPr>
          <p:cNvSpPr/>
          <p:nvPr/>
        </p:nvSpPr>
        <p:spPr>
          <a:xfrm>
            <a:off x="8980417" y="3661780"/>
            <a:ext cx="3031300" cy="3012557"/>
          </a:xfrm>
          <a:prstGeom prst="roundRect">
            <a:avLst>
              <a:gd name="adj" fmla="val 3714"/>
            </a:avLst>
          </a:prstGeom>
          <a:solidFill>
            <a:schemeClr val="bg1"/>
          </a:solidFill>
          <a:ln>
            <a:noFill/>
          </a:ln>
          <a:effectLst>
            <a:outerShdw blurRad="215900" dist="203200" dir="2760000" sx="95000" sy="95000" algn="tl" rotWithShape="0">
              <a:schemeClr val="bg2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A00C344-105B-5451-E82A-26291288A03A}"/>
              </a:ext>
            </a:extLst>
          </p:cNvPr>
          <p:cNvSpPr txBox="1"/>
          <p:nvPr/>
        </p:nvSpPr>
        <p:spPr>
          <a:xfrm>
            <a:off x="9062347" y="3755682"/>
            <a:ext cx="1923485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/>
              <a:t>OWNER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4B5B1B30-BCE7-2F0A-B1BD-205AE22F94B6}"/>
              </a:ext>
            </a:extLst>
          </p:cNvPr>
          <p:cNvSpPr/>
          <p:nvPr/>
        </p:nvSpPr>
        <p:spPr>
          <a:xfrm>
            <a:off x="5780624" y="3661780"/>
            <a:ext cx="3031300" cy="3012557"/>
          </a:xfrm>
          <a:prstGeom prst="roundRect">
            <a:avLst>
              <a:gd name="adj" fmla="val 3714"/>
            </a:avLst>
          </a:prstGeom>
          <a:solidFill>
            <a:schemeClr val="bg1"/>
          </a:solidFill>
          <a:ln>
            <a:noFill/>
          </a:ln>
          <a:effectLst>
            <a:outerShdw blurRad="215900" dist="203200" dir="2760000" sx="95000" sy="95000" algn="tl" rotWithShape="0">
              <a:schemeClr val="bg2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10E364F-66DE-6A3D-F881-A3CC872D0C3E}"/>
              </a:ext>
            </a:extLst>
          </p:cNvPr>
          <p:cNvSpPr txBox="1"/>
          <p:nvPr/>
        </p:nvSpPr>
        <p:spPr>
          <a:xfrm>
            <a:off x="5862554" y="3755682"/>
            <a:ext cx="1923485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/>
              <a:t>BRANCH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AD87751-0D2D-3135-C355-6644BF687F74}"/>
              </a:ext>
            </a:extLst>
          </p:cNvPr>
          <p:cNvSpPr txBox="1"/>
          <p:nvPr/>
        </p:nvSpPr>
        <p:spPr>
          <a:xfrm>
            <a:off x="2662761" y="4189762"/>
            <a:ext cx="137160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00" b="1" dirty="0">
                <a:solidFill>
                  <a:schemeClr val="bg2">
                    <a:lumMod val="50000"/>
                  </a:schemeClr>
                </a:solidFill>
              </a:rPr>
              <a:t>Main Store</a:t>
            </a:r>
            <a:endParaRPr lang="en-US" sz="13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24EDB7A-D2D9-B885-96C2-37BA95755B36}"/>
              </a:ext>
            </a:extLst>
          </p:cNvPr>
          <p:cNvSpPr txBox="1"/>
          <p:nvPr/>
        </p:nvSpPr>
        <p:spPr>
          <a:xfrm>
            <a:off x="2662761" y="4480560"/>
            <a:ext cx="137160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00" b="1" dirty="0">
                <a:solidFill>
                  <a:schemeClr val="bg2">
                    <a:lumMod val="50000"/>
                  </a:schemeClr>
                </a:solidFill>
              </a:rPr>
              <a:t>Opening Hours</a:t>
            </a:r>
            <a:endParaRPr lang="en-US" sz="13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484676F-FC50-F0EB-0B01-7E0D3335DE4A}"/>
              </a:ext>
            </a:extLst>
          </p:cNvPr>
          <p:cNvSpPr txBox="1"/>
          <p:nvPr/>
        </p:nvSpPr>
        <p:spPr>
          <a:xfrm>
            <a:off x="2662761" y="4999499"/>
            <a:ext cx="137160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00" b="1" dirty="0">
                <a:solidFill>
                  <a:schemeClr val="bg2">
                    <a:lumMod val="50000"/>
                  </a:schemeClr>
                </a:solidFill>
              </a:rPr>
              <a:t>Address</a:t>
            </a:r>
            <a:endParaRPr lang="en-US" sz="13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CC4042-1808-8E49-7170-9AE4F60DBBA7}"/>
              </a:ext>
            </a:extLst>
          </p:cNvPr>
          <p:cNvSpPr txBox="1"/>
          <p:nvPr/>
        </p:nvSpPr>
        <p:spPr>
          <a:xfrm>
            <a:off x="3962546" y="4189762"/>
            <a:ext cx="1575612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</a:rPr>
              <a:t>Kuchai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FBC30F8-7FB2-9294-2949-2FBD4E2468B6}"/>
              </a:ext>
            </a:extLst>
          </p:cNvPr>
          <p:cNvSpPr txBox="1"/>
          <p:nvPr/>
        </p:nvSpPr>
        <p:spPr>
          <a:xfrm>
            <a:off x="3962546" y="4491579"/>
            <a:ext cx="1575612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</a:rPr>
              <a:t>Mon - Sat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</a:rPr>
              <a:t>9am – 8pm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89F7B4C-5486-F82E-6E01-C527AA49B9A8}"/>
              </a:ext>
            </a:extLst>
          </p:cNvPr>
          <p:cNvSpPr txBox="1"/>
          <p:nvPr/>
        </p:nvSpPr>
        <p:spPr>
          <a:xfrm>
            <a:off x="3962546" y="4993451"/>
            <a:ext cx="1575612" cy="69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</a:rPr>
              <a:t>Jalan Kuchai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</a:rPr>
              <a:t>Maju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</a:rPr>
              <a:t> 9, Kuchai Entrepreneurs Park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C2CAB54-A722-E166-693F-F898732FF330}"/>
              </a:ext>
            </a:extLst>
          </p:cNvPr>
          <p:cNvSpPr txBox="1"/>
          <p:nvPr/>
        </p:nvSpPr>
        <p:spPr>
          <a:xfrm>
            <a:off x="3962546" y="5695377"/>
            <a:ext cx="1575612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</a:rPr>
              <a:t>6015 - 847 2541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65A5ECF-DFD2-5F0E-BC70-22A76B9A9DED}"/>
              </a:ext>
            </a:extLst>
          </p:cNvPr>
          <p:cNvSpPr txBox="1"/>
          <p:nvPr/>
        </p:nvSpPr>
        <p:spPr>
          <a:xfrm>
            <a:off x="2662761" y="5696410"/>
            <a:ext cx="137160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00" b="1" dirty="0">
                <a:solidFill>
                  <a:schemeClr val="bg2">
                    <a:lumMod val="50000"/>
                  </a:schemeClr>
                </a:solidFill>
              </a:rPr>
              <a:t>Contact</a:t>
            </a:r>
            <a:endParaRPr lang="en-US" sz="13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10FADCE1-447C-3DE8-276F-4E02AC87CDBD}"/>
              </a:ext>
            </a:extLst>
          </p:cNvPr>
          <p:cNvSpPr/>
          <p:nvPr/>
        </p:nvSpPr>
        <p:spPr>
          <a:xfrm>
            <a:off x="5998269" y="4150932"/>
            <a:ext cx="365760" cy="36576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6CD541E-673C-3330-6856-75560AC4A8C0}"/>
              </a:ext>
            </a:extLst>
          </p:cNvPr>
          <p:cNvSpPr/>
          <p:nvPr/>
        </p:nvSpPr>
        <p:spPr>
          <a:xfrm>
            <a:off x="6011872" y="4141972"/>
            <a:ext cx="338554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AEC42D2-F050-259E-45D9-90FAA8D685E1}"/>
              </a:ext>
            </a:extLst>
          </p:cNvPr>
          <p:cNvSpPr txBox="1"/>
          <p:nvPr/>
        </p:nvSpPr>
        <p:spPr>
          <a:xfrm>
            <a:off x="6532522" y="4187618"/>
            <a:ext cx="137160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00" b="1" dirty="0">
                <a:solidFill>
                  <a:schemeClr val="bg2">
                    <a:lumMod val="50000"/>
                  </a:schemeClr>
                </a:solidFill>
              </a:rPr>
              <a:t>Sri </a:t>
            </a:r>
            <a:r>
              <a:rPr lang="en-US" altLang="zh-CN" sz="1300" b="1" dirty="0" err="1">
                <a:solidFill>
                  <a:schemeClr val="bg2">
                    <a:lumMod val="50000"/>
                  </a:schemeClr>
                </a:solidFill>
              </a:rPr>
              <a:t>Petaling</a:t>
            </a:r>
            <a:endParaRPr lang="en-US" sz="13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4A03E90-BA69-58C3-95B9-E6F1EF964C88}"/>
              </a:ext>
            </a:extLst>
          </p:cNvPr>
          <p:cNvSpPr txBox="1"/>
          <p:nvPr/>
        </p:nvSpPr>
        <p:spPr>
          <a:xfrm>
            <a:off x="6532522" y="4491579"/>
            <a:ext cx="1575612" cy="69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</a:rPr>
              <a:t>Jalan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</a:rPr>
              <a:t>Radin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</a:rPr>
              <a:t>Bagus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</a:rPr>
              <a:t>, Bandar Baru Sri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</a:rPr>
              <a:t>Petaling</a:t>
            </a:r>
            <a:endParaRPr lang="en-US" sz="13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2D79C755-573B-3324-4A2F-DA860A90072C}"/>
              </a:ext>
            </a:extLst>
          </p:cNvPr>
          <p:cNvSpPr/>
          <p:nvPr/>
        </p:nvSpPr>
        <p:spPr>
          <a:xfrm>
            <a:off x="5998269" y="5287745"/>
            <a:ext cx="365760" cy="36576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A56E0DD1-F98D-C847-B10E-E663A07E2511}"/>
              </a:ext>
            </a:extLst>
          </p:cNvPr>
          <p:cNvSpPr/>
          <p:nvPr/>
        </p:nvSpPr>
        <p:spPr>
          <a:xfrm>
            <a:off x="5998246" y="5278785"/>
            <a:ext cx="365806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C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984192C-AD61-3FBA-3866-96E414AD14E3}"/>
              </a:ext>
            </a:extLst>
          </p:cNvPr>
          <p:cNvSpPr txBox="1"/>
          <p:nvPr/>
        </p:nvSpPr>
        <p:spPr>
          <a:xfrm>
            <a:off x="6532522" y="5324431"/>
            <a:ext cx="137160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00" b="1" dirty="0" err="1">
                <a:solidFill>
                  <a:schemeClr val="bg2">
                    <a:lumMod val="50000"/>
                  </a:schemeClr>
                </a:solidFill>
              </a:rPr>
              <a:t>Cheras</a:t>
            </a:r>
            <a:endParaRPr lang="en-US" sz="13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7C036F1-6483-A379-1AD6-96FB7EF10925}"/>
              </a:ext>
            </a:extLst>
          </p:cNvPr>
          <p:cNvSpPr txBox="1"/>
          <p:nvPr/>
        </p:nvSpPr>
        <p:spPr>
          <a:xfrm>
            <a:off x="6532522" y="5628392"/>
            <a:ext cx="1575612" cy="69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</a:rPr>
              <a:t>Jalan Dataran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</a:rPr>
              <a:t>Cheras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</a:rPr>
              <a:t> 3,Dataran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</a:rPr>
              <a:t>Perniagaan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</a:rPr>
              <a:t>Cheras</a:t>
            </a:r>
            <a:endParaRPr lang="en-US" sz="13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4778D66-F47A-E2B7-7AC5-E3AA4D77DA13}"/>
              </a:ext>
            </a:extLst>
          </p:cNvPr>
          <p:cNvSpPr txBox="1"/>
          <p:nvPr/>
        </p:nvSpPr>
        <p:spPr>
          <a:xfrm>
            <a:off x="9051496" y="4088192"/>
            <a:ext cx="137160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00" b="1" dirty="0">
                <a:solidFill>
                  <a:schemeClr val="bg2">
                    <a:lumMod val="50000"/>
                  </a:schemeClr>
                </a:solidFill>
              </a:rPr>
              <a:t>Name</a:t>
            </a:r>
            <a:endParaRPr lang="en-US" sz="13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EBA4D04-BA40-0A32-CB2A-FD7EA9147986}"/>
              </a:ext>
            </a:extLst>
          </p:cNvPr>
          <p:cNvSpPr txBox="1"/>
          <p:nvPr/>
        </p:nvSpPr>
        <p:spPr>
          <a:xfrm>
            <a:off x="9051496" y="4378990"/>
            <a:ext cx="137160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00" b="1" dirty="0">
                <a:solidFill>
                  <a:schemeClr val="bg2">
                    <a:lumMod val="50000"/>
                  </a:schemeClr>
                </a:solidFill>
              </a:rPr>
              <a:t>ID</a:t>
            </a:r>
            <a:endParaRPr lang="en-US" sz="13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2EC816A-DD30-ED4F-F02E-E8C036558866}"/>
              </a:ext>
            </a:extLst>
          </p:cNvPr>
          <p:cNvSpPr txBox="1"/>
          <p:nvPr/>
        </p:nvSpPr>
        <p:spPr>
          <a:xfrm>
            <a:off x="10351281" y="4088192"/>
            <a:ext cx="1575612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</a:rPr>
              <a:t>Yap Chai Ying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4A847064-550C-8105-2A65-FD6E53F07C18}"/>
              </a:ext>
            </a:extLst>
          </p:cNvPr>
          <p:cNvSpPr txBox="1"/>
          <p:nvPr/>
        </p:nvSpPr>
        <p:spPr>
          <a:xfrm>
            <a:off x="10351281" y="4390009"/>
            <a:ext cx="1575612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</a:rPr>
              <a:t>G2023122502C108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BAAE1F1-E2D9-203D-BEFC-B88E512893EC}"/>
              </a:ext>
            </a:extLst>
          </p:cNvPr>
          <p:cNvSpPr txBox="1"/>
          <p:nvPr/>
        </p:nvSpPr>
        <p:spPr>
          <a:xfrm>
            <a:off x="9051496" y="4685309"/>
            <a:ext cx="137160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00" b="1" dirty="0">
                <a:solidFill>
                  <a:schemeClr val="bg2">
                    <a:lumMod val="50000"/>
                  </a:schemeClr>
                </a:solidFill>
              </a:rPr>
              <a:t>Country</a:t>
            </a:r>
            <a:endParaRPr lang="en-US" sz="13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F03C9D7-1777-A9DF-9043-955B10457453}"/>
              </a:ext>
            </a:extLst>
          </p:cNvPr>
          <p:cNvSpPr txBox="1"/>
          <p:nvPr/>
        </p:nvSpPr>
        <p:spPr>
          <a:xfrm>
            <a:off x="9051496" y="4976107"/>
            <a:ext cx="137160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00" b="1" dirty="0">
                <a:solidFill>
                  <a:schemeClr val="bg2">
                    <a:lumMod val="50000"/>
                  </a:schemeClr>
                </a:solidFill>
              </a:rPr>
              <a:t>Course</a:t>
            </a:r>
            <a:endParaRPr lang="en-US" sz="13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D575332-DD0D-F67E-30B3-C3B11AF7BAAD}"/>
              </a:ext>
            </a:extLst>
          </p:cNvPr>
          <p:cNvSpPr txBox="1"/>
          <p:nvPr/>
        </p:nvSpPr>
        <p:spPr>
          <a:xfrm>
            <a:off x="10351281" y="4685309"/>
            <a:ext cx="1575612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00" dirty="0">
                <a:solidFill>
                  <a:schemeClr val="bg2">
                    <a:lumMod val="50000"/>
                  </a:schemeClr>
                </a:solidFill>
              </a:rPr>
              <a:t>Malaysia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0AA59D10-97AB-7B02-B7F8-6DBF344415FA}"/>
              </a:ext>
            </a:extLst>
          </p:cNvPr>
          <p:cNvSpPr txBox="1"/>
          <p:nvPr/>
        </p:nvSpPr>
        <p:spPr>
          <a:xfrm>
            <a:off x="10351281" y="4987126"/>
            <a:ext cx="1575612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300" dirty="0">
                <a:solidFill>
                  <a:schemeClr val="bg2">
                    <a:lumMod val="50000"/>
                  </a:schemeClr>
                </a:solidFill>
              </a:rPr>
              <a:t>人工智能与大数据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89A41CE-7582-BFB0-8D4D-D82C3100B7CA}"/>
              </a:ext>
            </a:extLst>
          </p:cNvPr>
          <p:cNvSpPr txBox="1"/>
          <p:nvPr/>
        </p:nvSpPr>
        <p:spPr>
          <a:xfrm>
            <a:off x="9051496" y="5277121"/>
            <a:ext cx="137160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00" b="1" dirty="0">
                <a:solidFill>
                  <a:schemeClr val="bg2">
                    <a:lumMod val="50000"/>
                  </a:schemeClr>
                </a:solidFill>
              </a:rPr>
              <a:t>Class</a:t>
            </a:r>
            <a:endParaRPr lang="en-US" sz="13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74F2FC6-2712-7CB4-DC06-16F1AE1A90A6}"/>
              </a:ext>
            </a:extLst>
          </p:cNvPr>
          <p:cNvSpPr txBox="1"/>
          <p:nvPr/>
        </p:nvSpPr>
        <p:spPr>
          <a:xfrm>
            <a:off x="9051496" y="5767171"/>
            <a:ext cx="137160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Project Teacher</a:t>
            </a:r>
            <a:endParaRPr lang="en-US" sz="13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C9A9CF4E-2167-7E6B-8C6D-FD08C3C2CA20}"/>
              </a:ext>
            </a:extLst>
          </p:cNvPr>
          <p:cNvSpPr txBox="1"/>
          <p:nvPr/>
        </p:nvSpPr>
        <p:spPr>
          <a:xfrm>
            <a:off x="10351281" y="5277121"/>
            <a:ext cx="1575612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</a:rPr>
              <a:t>24</a:t>
            </a:r>
            <a:r>
              <a:rPr lang="zh-CN" altLang="en-US" sz="1300" dirty="0">
                <a:solidFill>
                  <a:schemeClr val="bg2">
                    <a:lumMod val="50000"/>
                  </a:schemeClr>
                </a:solidFill>
              </a:rPr>
              <a:t>大数据工程技术</a:t>
            </a:r>
            <a:r>
              <a:rPr lang="en-US" altLang="zh-CN" sz="1300" dirty="0">
                <a:solidFill>
                  <a:schemeClr val="bg2">
                    <a:lumMod val="50000"/>
                  </a:schemeClr>
                </a:solidFill>
              </a:rPr>
              <a:t>C2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1D5AF38-C7AD-0E07-AB1D-2B4FC02F4B46}"/>
              </a:ext>
            </a:extLst>
          </p:cNvPr>
          <p:cNvSpPr txBox="1"/>
          <p:nvPr/>
        </p:nvSpPr>
        <p:spPr>
          <a:xfrm>
            <a:off x="10351281" y="5779191"/>
            <a:ext cx="1575612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300" dirty="0">
                <a:solidFill>
                  <a:schemeClr val="bg2">
                    <a:lumMod val="50000"/>
                  </a:schemeClr>
                </a:solidFill>
              </a:rPr>
              <a:t>李彦登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2" name="Rectangle: Rounded Corners 81">
            <a:extLst>
              <a:ext uri="{FF2B5EF4-FFF2-40B4-BE49-F238E27FC236}">
                <a16:creationId xmlns:a16="http://schemas.microsoft.com/office/drawing/2014/main" id="{ACFFAF4B-0C04-DF8E-DCFC-260E9DAA7BA4}"/>
              </a:ext>
            </a:extLst>
          </p:cNvPr>
          <p:cNvSpPr/>
          <p:nvPr/>
        </p:nvSpPr>
        <p:spPr>
          <a:xfrm>
            <a:off x="236800" y="5740313"/>
            <a:ext cx="365760" cy="365760"/>
          </a:xfrm>
          <a:prstGeom prst="roundRect">
            <a:avLst/>
          </a:prstGeom>
          <a:gradFill flip="none" rotWithShape="1">
            <a:gsLst>
              <a:gs pos="58000">
                <a:srgbClr val="D735B0">
                  <a:lumMod val="95000"/>
                </a:srgbClr>
              </a:gs>
              <a:gs pos="21000">
                <a:srgbClr val="8638C7"/>
              </a:gs>
              <a:gs pos="87000">
                <a:srgbClr val="FE237E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7" name="Picture 66">
            <a:extLst>
              <a:ext uri="{FF2B5EF4-FFF2-40B4-BE49-F238E27FC236}">
                <a16:creationId xmlns:a16="http://schemas.microsoft.com/office/drawing/2014/main" id="{610ED4C1-709E-E747-FEB3-7AF7580DABC8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79714" y="5778368"/>
            <a:ext cx="274320" cy="274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4287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1456</TotalTime>
  <Words>1190</Words>
  <Application>Microsoft Office PowerPoint</Application>
  <PresentationFormat>Widescreen</PresentationFormat>
  <Paragraphs>353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Wingdings 3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Yap ChaiYing</dc:creator>
  <cp:lastModifiedBy>Yap ChaiYing</cp:lastModifiedBy>
  <cp:revision>178</cp:revision>
  <dcterms:created xsi:type="dcterms:W3CDTF">2026-01-25T15:45:17Z</dcterms:created>
  <dcterms:modified xsi:type="dcterms:W3CDTF">2026-02-11T11:25:31Z</dcterms:modified>
</cp:coreProperties>
</file>