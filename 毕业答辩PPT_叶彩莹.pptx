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6112"/>
    <a:srgbClr val="9A7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1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1A4A7A">
              <a:alpha val="35000"/>
            </a:srgbClr>
          </a:solidFill>
          <a:ln w="12700">
            <a:solidFill>
              <a:srgbClr val="1A4A7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560320"/>
            <a:ext cx="2743200" cy="27432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基于关联规则算法的饮品点餐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小程序系统设计与实现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1148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24912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  生：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叶彩莹  YAP CHAI YING
</a:t>
            </a: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  号：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G2023122502C108
</a:t>
            </a:r>
            <a:r>
              <a:rPr lang="zh-CN" alt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</a:t>
            </a: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zh-CN" alt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</a:t>
            </a: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大数据工程技术</a:t>
            </a:r>
            <a:r>
              <a:rPr lang="en-US" altLang="zh-C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指导教师：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李彦登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364408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3826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研究背景与意义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004488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02277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技术方法与路线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4568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285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数据集与预处理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284648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029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建模与结果分析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4728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94301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zh-CN" alt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结果与关键发现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202472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220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100" dirty="0" err="1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广东工商职业技术大学 · 人工智能与大数据学院 · 2026届</a:t>
            </a:r>
            <a:endParaRPr lang="en-US" sz="10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3A16E76E-1466-BD27-AF56-4FBECF300268}"/>
              </a:ext>
            </a:extLst>
          </p:cNvPr>
          <p:cNvSpPr/>
          <p:nvPr/>
        </p:nvSpPr>
        <p:spPr>
          <a:xfrm>
            <a:off x="6400800" y="3566706"/>
            <a:ext cx="2560320" cy="512064"/>
          </a:xfrm>
          <a:prstGeom prst="rect">
            <a:avLst/>
          </a:prstGeom>
          <a:solidFill>
            <a:srgbClr val="1A4A7A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9786FC6-5C3F-A9D0-F8B4-59C23E0DC780}"/>
              </a:ext>
            </a:extLst>
          </p:cNvPr>
          <p:cNvSpPr/>
          <p:nvPr/>
        </p:nvSpPr>
        <p:spPr>
          <a:xfrm>
            <a:off x="6419088" y="358499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zh-CN" altLang="en-US" sz="1100" dirty="0">
                <a:solidFill>
                  <a:srgbClr val="CB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系统实现与可视化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研究背景与意义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32520" y="246888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60520" cy="36186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605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35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移动互联网普及推动餐饮业数字化转型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" y="2020824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75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微信小程序在饮品零售场景广泛应用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" y="2560320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门店运营持续沉淀大量交易数据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099816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54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人工分析难以系统发现商品搭配规律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" y="3639312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93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关联规则挖掘可自动识别共购商品组合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960120"/>
            <a:ext cx="4297680" cy="36186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960120"/>
            <a:ext cx="429768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05156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研究意义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36592" y="1435608"/>
            <a:ext cx="4059936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1435608"/>
            <a:ext cx="64008" cy="67665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推荐应用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170992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从订单数据挖掘"饮品+小料/小吃"搭配规律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36592" y="2221992"/>
            <a:ext cx="4059936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221992"/>
            <a:ext cx="64008" cy="67665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249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运营决策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249631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多维可视化助力套餐设计与销售策略优化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008376"/>
            <a:ext cx="4059936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3008376"/>
            <a:ext cx="64008" cy="676656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工程验证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28269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构建完整"数据采集—规则挖掘—展示"流程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794760"/>
            <a:ext cx="4059936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3794760"/>
            <a:ext cx="64008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参考价值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406908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为中小餐饮场景提供轻量化数据分析方案</a:t>
            </a:r>
            <a:endParaRPr lang="en-US" sz="1000" dirty="0"/>
          </a:p>
        </p:txBody>
      </p:sp>
      <p:sp>
        <p:nvSpPr>
          <p:cNvPr id="39" name="Shape 55">
            <a:extLst>
              <a:ext uri="{FF2B5EF4-FFF2-40B4-BE49-F238E27FC236}">
                <a16:creationId xmlns:a16="http://schemas.microsoft.com/office/drawing/2014/main" id="{0CDDD887-87A7-2A53-91AB-339164287D59}"/>
              </a:ext>
            </a:extLst>
          </p:cNvPr>
          <p:cNvSpPr/>
          <p:nvPr/>
        </p:nvSpPr>
        <p:spPr>
          <a:xfrm>
            <a:off x="768095" y="4642129"/>
            <a:ext cx="7543799" cy="437966"/>
          </a:xfrm>
          <a:prstGeom prst="rect">
            <a:avLst/>
          </a:prstGeom>
          <a:solidFill>
            <a:schemeClr val="bg1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0" name="Shape 56">
            <a:extLst>
              <a:ext uri="{FF2B5EF4-FFF2-40B4-BE49-F238E27FC236}">
                <a16:creationId xmlns:a16="http://schemas.microsoft.com/office/drawing/2014/main" id="{459DA514-72FC-257B-60EB-031C1D1FE041}"/>
              </a:ext>
            </a:extLst>
          </p:cNvPr>
          <p:cNvSpPr/>
          <p:nvPr/>
        </p:nvSpPr>
        <p:spPr>
          <a:xfrm>
            <a:off x="768095" y="4642129"/>
            <a:ext cx="78659" cy="437966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1" name="Text 57">
            <a:extLst>
              <a:ext uri="{FF2B5EF4-FFF2-40B4-BE49-F238E27FC236}">
                <a16:creationId xmlns:a16="http://schemas.microsoft.com/office/drawing/2014/main" id="{3C48080D-014B-70DF-F574-FBB6991C2294}"/>
              </a:ext>
            </a:extLst>
          </p:cNvPr>
          <p:cNvSpPr/>
          <p:nvPr/>
        </p:nvSpPr>
        <p:spPr>
          <a:xfrm>
            <a:off x="896110" y="4669561"/>
            <a:ext cx="7357001" cy="3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本课题重点</a:t>
            </a:r>
            <a:r>
              <a:rPr lang="zh-CN" alt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</a:t>
            </a:r>
            <a:r>
              <a:rPr lang="zh-CN" alt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功能列表，而是：订单明细 → 清洗与事务构建 → </a:t>
            </a:r>
            <a:r>
              <a:rPr lang="en-US" altLang="zh-CN" sz="9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r>
              <a:rPr lang="en-US" altLang="zh-CN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三项指标 → </a:t>
            </a:r>
            <a:r>
              <a:rPr lang="en-US" altLang="zh-CN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L1–L4 </a:t>
            </a:r>
            <a:r>
              <a:rPr lang="zh-CN" alt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分级 → </a:t>
            </a:r>
            <a:r>
              <a:rPr lang="en-US" altLang="zh-CN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Match </a:t>
            </a:r>
            <a:r>
              <a:rPr lang="zh-CN" alt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可视化与推荐接口闭环。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技术方法与研究路线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32520" y="246888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2084832" cy="1207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058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算法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频繁项集生成 | 关联规则挖掘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84832" cy="1207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0058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后端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87168" y="153619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Web框架 | RESTful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960120"/>
            <a:ext cx="2084832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0058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153619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用户点餐前端 | 轻量无需下载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960120"/>
            <a:ext cx="2084832" cy="12070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10058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12864" y="153619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统计图表（</a:t>
            </a:r>
            <a:r>
              <a:rPr lang="en-US" altLang="zh-CN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r>
              <a:rPr lang="zh-CN" alt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）｜关联网络图（自定义 </a:t>
            </a:r>
            <a:r>
              <a:rPr lang="en-US" altLang="zh-CN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r>
              <a:rPr lang="zh-CN" alt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用户画像分析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" y="2313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2743200"/>
            <a:ext cx="1316736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结构设计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19072" y="2743200"/>
            <a:ext cx="1316736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1907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模拟数据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4436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82112" y="2743200"/>
            <a:ext cx="1316736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8211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事务构建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0740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45152" y="2743200"/>
            <a:ext cx="1316736" cy="7132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4515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规则挖掘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08192" y="2743200"/>
            <a:ext cx="1316736" cy="7132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0819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规则分级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结果解读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3348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71232" y="2743200"/>
            <a:ext cx="1316736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71232" y="2761488"/>
            <a:ext cx="1316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3639312"/>
            <a:ext cx="1591056" cy="1261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6032" y="373075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662,107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56032" y="43068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订单明细记录数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3639312"/>
            <a:ext cx="1591056" cy="1261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011680" y="373075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12,766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011680" y="43068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有效事务数量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67328" y="3639312"/>
            <a:ext cx="1591056" cy="1261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67328" y="373075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767328" y="43068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最小支持度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22976" y="3639312"/>
            <a:ext cx="1591056" cy="1261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522976" y="373075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522976" y="43068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最小置信度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78624" y="3639312"/>
            <a:ext cx="1591056" cy="1261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278624" y="373075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78624" y="43068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规则分级体系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数据集设计与预处理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32520" y="246888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148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数据库结构设计</a:t>
            </a: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zh-CN" alt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核心五张业务表</a:t>
            </a: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463040"/>
            <a:ext cx="3858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63040"/>
            <a:ext cx="64008" cy="5120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490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用户表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用户ID / 微信openid / 姓名 / 注册时间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057400"/>
            <a:ext cx="3858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057400"/>
            <a:ext cx="64008" cy="5120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门店表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2286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门店ID / 名称 / 城市 / 地址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651760"/>
            <a:ext cx="3858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651760"/>
            <a:ext cx="64008" cy="5120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679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商品表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" y="2880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商品ID / 类别 / 名称 / 价格 / 状态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246120"/>
            <a:ext cx="3858768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246120"/>
            <a:ext cx="64008" cy="5120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273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订单表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订单号 / 状态 / 金额 / 时间 / 门店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840480"/>
            <a:ext cx="3858768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840480"/>
            <a:ext cx="64008" cy="5120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867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明细表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订单ID / 商品ID / 数量 / 单价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960120"/>
            <a:ext cx="43616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53712" y="960120"/>
            <a:ext cx="4361688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051560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数据预处理流程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481328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490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84064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时间窗口过滤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84064" y="16824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筛选近 180 天内订单记录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84064" y="1892808"/>
            <a:ext cx="3749040" cy="0"/>
          </a:xfrm>
          <a:prstGeom prst="line">
            <a:avLst/>
          </a:prstGeom>
          <a:noFill/>
          <a:ln w="12700">
            <a:solidFill>
              <a:srgbClr val="CBE4F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63440" y="2066544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756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84064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状态有效性筛选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84064" y="2267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</a:t>
            </a: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picked / done </a:t>
            </a:r>
            <a:r>
              <a:rPr lang="zh-CN" alt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等已发生真实支付的订单，并要求 </a:t>
            </a:r>
            <a:r>
              <a:rPr lang="en-US" altLang="zh-CN" sz="900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paid_at</a:t>
            </a:r>
            <a:r>
              <a:rPr lang="en-US" altLang="zh-CN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84064" y="2478024"/>
            <a:ext cx="3749040" cy="0"/>
          </a:xfrm>
          <a:prstGeom prst="line">
            <a:avLst/>
          </a:prstGeom>
          <a:noFill/>
          <a:ln w="12700">
            <a:solidFill>
              <a:srgbClr val="CBE4F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2651760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84064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字段完整性校验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84064" y="2852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排除缺失商品、金额异常记录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84064" y="3063240"/>
            <a:ext cx="3749040" cy="0"/>
          </a:xfrm>
          <a:prstGeom prst="line">
            <a:avLst/>
          </a:prstGeom>
          <a:noFill/>
          <a:ln w="12700">
            <a:solidFill>
              <a:srgbClr val="CBE4F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663440" y="3236976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461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84064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购物篮构建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84064" y="34381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以订单为单位聚合商品明细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84064" y="3648456"/>
            <a:ext cx="3749040" cy="0"/>
          </a:xfrm>
          <a:prstGeom prst="line">
            <a:avLst/>
          </a:prstGeom>
          <a:noFill/>
          <a:ln w="12700">
            <a:solidFill>
              <a:srgbClr val="CBE4F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663440" y="3822192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831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84064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事务数据集输出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84064" y="4023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12,766 个有效购物篮事务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4233136"/>
            <a:ext cx="411480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4233136"/>
            <a:ext cx="64008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426056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Python faker 库结合业务规则生成模拟订单数据集，共 662,107 条明细记录，涵盖多门店、多商品类别交易场景</a:t>
            </a:r>
            <a:endParaRPr lang="en-US" sz="95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0C931A4C-24B6-8FA2-148E-A4B63CA87BC5}"/>
              </a:ext>
            </a:extLst>
          </p:cNvPr>
          <p:cNvSpPr/>
          <p:nvPr/>
        </p:nvSpPr>
        <p:spPr>
          <a:xfrm>
            <a:off x="3554864" y="1487738"/>
            <a:ext cx="761104" cy="2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</a:t>
            </a: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个最关键</a:t>
            </a:r>
            <a:endParaRPr lang="en-US" sz="800" dirty="0"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C62F4FCE-AAA4-316C-F890-556245FF0534}"/>
              </a:ext>
            </a:extLst>
          </p:cNvPr>
          <p:cNvSpPr/>
          <p:nvPr/>
        </p:nvSpPr>
        <p:spPr>
          <a:xfrm>
            <a:off x="3555402" y="2079364"/>
            <a:ext cx="761104" cy="2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</a:t>
            </a: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个最关键</a:t>
            </a:r>
            <a:endParaRPr lang="en-US" sz="8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661A7A9F-E493-EF25-BC64-500EEBFF5895}"/>
              </a:ext>
            </a:extLst>
          </p:cNvPr>
          <p:cNvSpPr/>
          <p:nvPr/>
        </p:nvSpPr>
        <p:spPr>
          <a:xfrm>
            <a:off x="3555671" y="2670048"/>
            <a:ext cx="761104" cy="2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</a:t>
            </a: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个最关键</a:t>
            </a:r>
            <a:endParaRPr lang="en-US" sz="8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02080237-E3EE-DF1C-E5D0-640A88D89A70}"/>
              </a:ext>
            </a:extLst>
          </p:cNvPr>
          <p:cNvSpPr/>
          <p:nvPr/>
        </p:nvSpPr>
        <p:spPr>
          <a:xfrm>
            <a:off x="3558284" y="3266585"/>
            <a:ext cx="761104" cy="2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</a:t>
            </a: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个最关键</a:t>
            </a:r>
            <a:endParaRPr lang="en-US" sz="800" dirty="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E8D5722-2E68-5ADC-650B-DC4ADB18B62B}"/>
              </a:ext>
            </a:extLst>
          </p:cNvPr>
          <p:cNvSpPr/>
          <p:nvPr/>
        </p:nvSpPr>
        <p:spPr>
          <a:xfrm>
            <a:off x="3549639" y="3852743"/>
            <a:ext cx="761104" cy="2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</a:t>
            </a:r>
            <a:r>
              <a:rPr lang="en-US" altLang="zh-CN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zh-CN" alt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个最关键</a:t>
            </a:r>
            <a:endParaRPr lang="en-US" sz="800" dirty="0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AE1927E9-105C-E1D5-9196-F4F81669E129}"/>
              </a:ext>
            </a:extLst>
          </p:cNvPr>
          <p:cNvSpPr/>
          <p:nvPr/>
        </p:nvSpPr>
        <p:spPr>
          <a:xfrm>
            <a:off x="512064" y="4379976"/>
            <a:ext cx="2335639" cy="218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r>
              <a:rPr lang="zh-CN" altLang="en-US" sz="8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关联规则用的是 </a:t>
            </a:r>
            <a:r>
              <a:rPr lang="en-US" altLang="zh-CN" sz="800" b="1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product_name_snap</a:t>
            </a:r>
            <a:r>
              <a:rPr lang="en-US" altLang="zh-CN" sz="8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8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聚合事务</a:t>
            </a:r>
            <a:r>
              <a:rPr lang="en-US" altLang="zh-CN" sz="8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Apriori 关联规则建模与结果分析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32520" y="246888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8659368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60120"/>
            <a:ext cx="73152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算法核心：基于频繁项集先验性质（Apriori Property）逐层扫描事务数据库，生成满足最小支持度的频繁项集，再从中提取满足最小置信度的强关联规则。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05740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057400"/>
            <a:ext cx="27889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最小支持度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500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Support(A→B) = P(A∪B)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205740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2057400"/>
            <a:ext cx="2788920" cy="457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214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最小置信度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500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Confidence(A→B) = P(B|A)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08192" y="205740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2057400"/>
            <a:ext cx="2788920" cy="457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1214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提升度指标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3500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7.0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Confidence / P(B)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3200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规则分级体系（L1–L4）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" y="3602736"/>
            <a:ext cx="2048256" cy="1417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3657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6032" y="410565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强规则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套餐设计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2628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高支持度+高置信度+高提升度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50592" y="3602736"/>
            <a:ext cx="2048256" cy="14173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50592" y="3657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2450592" y="410565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推荐规则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智能推荐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50592" y="452628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 ≥ 12%，中支持度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45152" y="3602736"/>
            <a:ext cx="2048256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45152" y="3657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645152" y="410565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潜力规则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陈列优化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45152" y="452628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支持度适中，提升度较高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39712" y="3602736"/>
            <a:ext cx="2048256" cy="141732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39712" y="3657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839712" y="410565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探索规则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探索观察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39712" y="452628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低支持度，待进一步验证</a:t>
            </a:r>
            <a:endParaRPr lang="en-US" sz="85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9FF3F2E5-D8E7-510F-1A64-C3F67DC8F78D}"/>
              </a:ext>
            </a:extLst>
          </p:cNvPr>
          <p:cNvSpPr/>
          <p:nvPr/>
        </p:nvSpPr>
        <p:spPr>
          <a:xfrm>
            <a:off x="6217920" y="3058668"/>
            <a:ext cx="2606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r>
              <a:rPr lang="zh-CN" altLang="en-US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强规则样例中 </a:t>
            </a:r>
            <a:r>
              <a:rPr lang="en-US" altLang="zh-CN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</a:t>
            </a:r>
            <a:r>
              <a:rPr lang="zh-CN" altLang="en-US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多在 </a:t>
            </a:r>
            <a:r>
              <a:rPr lang="en-US" altLang="zh-CN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6.5–8 </a:t>
            </a:r>
            <a:r>
              <a:rPr lang="zh-CN" altLang="en-US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区间，</a:t>
            </a:r>
            <a:r>
              <a:rPr lang="en-US" altLang="zh-CN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zh-CN" altLang="en-US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是结果里强规则常见的量级，不是全局筛选项。</a:t>
            </a:r>
            <a:r>
              <a:rPr lang="en-US" altLang="zh-CN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9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实验结果与关键发现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88920" cy="1389888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6984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若干条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865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强关联规则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788920" cy="1389888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6984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1865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最高规则置信度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87552"/>
            <a:ext cx="2788920" cy="1389888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6984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&gt;7.0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1865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最高提升度 (Lift)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5237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典型关联规则示例（L1 级别）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5120640" cy="548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芝士蛋糕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奥利奥脆脆奶茶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008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置信度: 59.5%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2369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提升度: 7.39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84448"/>
            <a:ext cx="5120640" cy="548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630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芝士奶盖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抹茶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炸鸡块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置信度: 57.8%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877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提升度: 7.77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24528"/>
            <a:ext cx="5120640" cy="548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奥利奥脆脆奶茶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芝士蛋糕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4288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置信度: 57.7%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4517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提升度: 7.39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523744"/>
            <a:ext cx="3383280" cy="2377440"/>
          </a:xfrm>
          <a:prstGeom prst="rect">
            <a:avLst/>
          </a:prstGeom>
          <a:solidFill>
            <a:srgbClr val="1A4A7A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259689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业务映射价值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87568" y="2999232"/>
            <a:ext cx="347472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300837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08192" y="30175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套餐组合设计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87568" y="3474720"/>
            <a:ext cx="347472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348386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08192" y="349300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小程序搭配推荐</a:t>
            </a:r>
            <a:r>
              <a:rPr lang="zh-CN" alt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（规则结果优先在管理端可视化</a:t>
            </a:r>
            <a:r>
              <a:rPr lang="zh-CN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87568" y="3950208"/>
            <a:ext cx="347472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959352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08192" y="396849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陈列位置优化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87568" y="4425696"/>
            <a:ext cx="347472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443484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08192" y="44439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探索性业务观察</a:t>
            </a:r>
            <a:endParaRPr lang="en-US" sz="11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0EB0B147-EC62-60F7-3C1B-A4F45BAB96A0}"/>
              </a:ext>
            </a:extLst>
          </p:cNvPr>
          <p:cNvSpPr/>
          <p:nvPr/>
        </p:nvSpPr>
        <p:spPr>
          <a:xfrm>
            <a:off x="6854734" y="2121408"/>
            <a:ext cx="1515291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r>
              <a:rPr lang="zh-CN" alt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强规则提升度多在 </a:t>
            </a:r>
            <a:r>
              <a:rPr lang="en-US" altLang="zh-CN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zh-CN" alt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</a:t>
            </a:r>
            <a:r>
              <a:rPr lang="en-US" altLang="zh-CN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系统实现与可视化展示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32520" y="246888"/>
            <a:ext cx="274320" cy="2743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0332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 · 微信小程序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271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商品浏览 / 购物车 / 下单支付 / 订单追踪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1627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Wingdings" pitchFamily="34" charset="0"/>
                <a:ea typeface="Wingdings" pitchFamily="34" charset="-122"/>
                <a:cs typeface="Wingdings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73936"/>
            <a:ext cx="5029200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8013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后端服务 · Flask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订单管理 / </a:t>
            </a:r>
            <a:r>
              <a:rPr lang="zh-CN" alt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测试账号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Apriori 规则引擎 / 推荐接口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Wingdings" pitchFamily="34" charset="0"/>
                <a:ea typeface="Wingdings" pitchFamily="34" charset="-122"/>
                <a:cs typeface="Wingdings" pitchFamily="34" charset="-120"/>
              </a:rPr>
              <a:t>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50292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5694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 · MySQL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stores / products / orders / order_items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5029200" cy="1536192"/>
          </a:xfrm>
          <a:prstGeom prst="rect">
            <a:avLst/>
          </a:prstGeom>
          <a:solidFill>
            <a:srgbClr val="EEF4FF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46704"/>
            <a:ext cx="73152" cy="15361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410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Match  关联规则可视化模块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" y="3813048"/>
            <a:ext cx="100584" cy="1005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764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商品关联网络图（节点 / 边权重）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" y="4059936"/>
            <a:ext cx="100584" cy="1005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23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频繁项集分析图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" y="4306824"/>
            <a:ext cx="100584" cy="1005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702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规则表格与套餐建议卡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" y="4553712"/>
            <a:ext cx="100584" cy="1005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171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运营数据趋势图 / 用户画像分布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960120"/>
            <a:ext cx="3456432" cy="392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960120"/>
            <a:ext cx="3456432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051560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功能模块一览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1435608"/>
            <a:ext cx="3255264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商品浏览下单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1508760"/>
            <a:ext cx="59436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1956816"/>
            <a:ext cx="325526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002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在线支付确认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2029968"/>
            <a:ext cx="59436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2478024"/>
            <a:ext cx="3255264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5237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历史订单查询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2551176"/>
            <a:ext cx="59436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2551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2999232"/>
            <a:ext cx="325526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运营数据看板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3072384"/>
            <a:ext cx="594360" cy="2743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30723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3520440"/>
            <a:ext cx="3255264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规则网络可视化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38160" y="3593592"/>
            <a:ext cx="594360" cy="2743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3593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77840" y="4041648"/>
            <a:ext cx="325526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E4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智能搭配推荐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38160" y="4114800"/>
            <a:ext cx="594360" cy="274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114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推荐引擎</a:t>
            </a:r>
            <a:endParaRPr lang="en-US" sz="900" dirty="0"/>
          </a:p>
        </p:txBody>
      </p:sp>
      <p:sp>
        <p:nvSpPr>
          <p:cNvPr id="56" name="Text 39">
            <a:extLst>
              <a:ext uri="{FF2B5EF4-FFF2-40B4-BE49-F238E27FC236}">
                <a16:creationId xmlns:a16="http://schemas.microsoft.com/office/drawing/2014/main" id="{B4908F21-EB81-36D2-F55C-309B450EE6D5}"/>
              </a:ext>
            </a:extLst>
          </p:cNvPr>
          <p:cNvSpPr/>
          <p:nvPr/>
        </p:nvSpPr>
        <p:spPr>
          <a:xfrm>
            <a:off x="384048" y="4851872"/>
            <a:ext cx="3103735" cy="31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r>
              <a:rPr lang="zh-CN" altLang="en-US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统计图用 </a:t>
            </a:r>
            <a:r>
              <a:rPr lang="en-US" altLang="zh-CN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r>
              <a:rPr lang="zh-CN" altLang="en-US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Match </a:t>
            </a:r>
            <a:r>
              <a:rPr lang="zh-CN" altLang="en-US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网络图为自定义 </a:t>
            </a:r>
            <a:r>
              <a:rPr lang="en-US" altLang="zh-CN" sz="900" b="1" dirty="0">
                <a:solidFill>
                  <a:srgbClr val="806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SVG**</a:t>
            </a:r>
            <a:endParaRPr lang="en-US" sz="900" b="1" dirty="0">
              <a:solidFill>
                <a:srgbClr val="80611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总结与展望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7432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主要贡献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384048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26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设计完整的饮品点餐数据采集、处理、建模与可视化分析流程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384048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Apriori 算法在小规模饮品零售场景中的适用性与有效性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384048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71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712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L1–L4 四级规则分级体系，提升规则可解释性与业务针对性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384048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93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93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Flask + 微信小程序 +  Chart.js </a:t>
            </a:r>
            <a:r>
              <a:rPr lang="zh-CN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（关联网络图为自定义 </a:t>
            </a:r>
            <a:r>
              <a:rPr lang="en-US" altLang="zh-CN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r>
              <a:rPr lang="zh-CN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完整系统，具备工程可用性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960120"/>
            <a:ext cx="3931920" cy="3950208"/>
          </a:xfrm>
          <a:prstGeom prst="rect">
            <a:avLst/>
          </a:prstGeom>
          <a:solidFill>
            <a:srgbClr val="1A4A7A"/>
          </a:solidFill>
          <a:ln w="127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后续展望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02352" y="1508760"/>
            <a:ext cx="3703320" cy="676656"/>
          </a:xfrm>
          <a:prstGeom prst="rect">
            <a:avLst/>
          </a:prstGeom>
          <a:solidFill>
            <a:srgbClr val="0D1F3C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508760"/>
            <a:ext cx="64008" cy="6766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真实数据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178308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引入实际门店订单数据，验证规则稳定性与迁移性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02352" y="2304288"/>
            <a:ext cx="3703320" cy="676656"/>
          </a:xfrm>
          <a:prstGeom prst="rect">
            <a:avLst/>
          </a:prstGeom>
          <a:solidFill>
            <a:srgbClr val="0D1F3C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2352" y="2304288"/>
            <a:ext cx="64008" cy="6766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算法优化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257860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FP-Growth，支持增量更新与在线挖掘机制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02352" y="3099816"/>
            <a:ext cx="3703320" cy="676656"/>
          </a:xfrm>
          <a:prstGeom prst="rect">
            <a:avLst/>
          </a:prstGeom>
          <a:solidFill>
            <a:srgbClr val="0D1F3C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2352" y="3099816"/>
            <a:ext cx="64008" cy="6766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个性化推荐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337413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结合用户画像与协同过滤构建融合推荐模型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02352" y="3895344"/>
            <a:ext cx="3703320" cy="676656"/>
          </a:xfrm>
          <a:prstGeom prst="rect">
            <a:avLst/>
          </a:prstGeom>
          <a:solidFill>
            <a:srgbClr val="0D1F3C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3895344"/>
            <a:ext cx="64008" cy="6766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922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交互升级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41696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增加时间筛选、门店对比、规则钻取分析功能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感谢各位老师莅临指导！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809</Words>
  <Application>Microsoft Office PowerPoint</Application>
  <PresentationFormat>On-screen Show (16:9)</PresentationFormat>
  <Paragraphs>212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基于关联规则算法的饮品点餐小程序系统设计与实现</dc:title>
  <dc:subject>PptxGenJS Presentation</dc:subject>
  <dc:creator>叶彩莹 YAP CHAI YING</dc:creator>
  <cp:lastModifiedBy>Yap ChaiYing</cp:lastModifiedBy>
  <cp:revision>2</cp:revision>
  <dcterms:created xsi:type="dcterms:W3CDTF">2026-04-11T06:42:59Z</dcterms:created>
  <dcterms:modified xsi:type="dcterms:W3CDTF">2026-04-11T10:02:15Z</dcterms:modified>
</cp:coreProperties>
</file>